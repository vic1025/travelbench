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9601200" y="457200"/>
            <a:ext cx="2286000" cy="822960"/>
          </a:xfrm>
          <a:prstGeom prst="rect">
            <a:avLst/>
          </a:prstGeom>
          <a:noFill/>
        </p:spPr>
        <p:txBody>
          <a:bodyPr wrap="square" lIns="0" tIns="0" rIns="0" bIns="0" anchor="t">
            <a:spAutoFit/>
          </a:bodyPr>
          <a:lstStyle/>
          <a:p>
            <a:pPr algn="r"/>
            <a:r>
              <a:rPr sz="1000" b="0" i="0">
                <a:solidFill>
                  <a:srgbClr val="2A2A3A"/>
                </a:solidFill>
                <a:latin typeface="Consolas"/>
              </a:rPr>
              <a:t>TravelBench</a:t>
            </a:r>
            <a:endParaRPr sz="1000" b="0" i="0">
              <a:solidFill>
                <a:srgbClr val="2A2A3A"/>
              </a:solidFill>
              <a:latin typeface="Consolas"/>
            </a:endParaRPr>
          </a:p>
          <a:p>
            <a:pPr algn="r"/>
            <a:r>
              <a:rPr sz="1000" b="0" i="0">
                <a:solidFill>
                  <a:srgbClr val="2A2A3A"/>
                </a:solidFill>
                <a:latin typeface="Consolas"/>
              </a:rPr>
              <a:t>Research Presentation</a:t>
            </a:r>
            <a:endParaRPr sz="1000" b="0" i="0">
              <a:solidFill>
                <a:srgbClr val="2A2A3A"/>
              </a:solidFill>
              <a:latin typeface="Consolas"/>
            </a:endParaRPr>
          </a:p>
          <a:p>
            <a:pPr algn="r"/>
            <a:r>
              <a:rPr sz="1000" b="0" i="0">
                <a:solidFill>
                  <a:srgbClr val="2A2A3A"/>
                </a:solidFill>
                <a:latin typeface="Consolas"/>
              </a:rPr>
              <a:t>May 2026</a:t>
            </a:r>
            <a:endParaRPr sz="1000" b="0" i="0">
              <a:solidFill>
                <a:srgbClr val="2A2A3A"/>
              </a:solidFill>
              <a:latin typeface="Consolas"/>
            </a:endParaRPr>
          </a:p>
        </p:txBody>
      </p:sp>
      <p:sp>
        <p:nvSpPr>
          <p:cNvPr id="3" name="TextBox 2"/>
          <p:cNvSpPr txBox="1"/>
          <p:nvPr/>
        </p:nvSpPr>
        <p:spPr>
          <a:xfrm>
            <a:off x="685800" y="2377440"/>
            <a:ext cx="7315200" cy="274320"/>
          </a:xfrm>
          <a:prstGeom prst="rect">
            <a:avLst/>
          </a:prstGeom>
          <a:noFill/>
        </p:spPr>
        <p:txBody>
          <a:bodyPr wrap="square" lIns="0" tIns="0" rIns="0" bIns="0" anchor="t">
            <a:spAutoFit/>
          </a:bodyPr>
          <a:lstStyle/>
          <a:p>
            <a:pPr algn="l"/>
            <a:r>
              <a:rPr sz="1100" b="0" i="0">
                <a:solidFill>
                  <a:srgbClr val="7878A0"/>
                </a:solidFill>
                <a:latin typeface="Consolas"/>
              </a:rPr>
              <a:t>—  BENCHMARK  ·  LLM EVALUATION  ·  TRAVEL PLANNING</a:t>
            </a:r>
            <a:endParaRPr sz="1100" b="0" i="0">
              <a:solidFill>
                <a:srgbClr val="7878A0"/>
              </a:solidFill>
              <a:latin typeface="Consolas"/>
            </a:endParaRPr>
          </a:p>
        </p:txBody>
      </p:sp>
      <p:sp>
        <p:nvSpPr>
          <p:cNvPr id="4" name="TextBox 3"/>
          <p:cNvSpPr txBox="1"/>
          <p:nvPr/>
        </p:nvSpPr>
        <p:spPr>
          <a:xfrm>
            <a:off x="685800" y="2697480"/>
            <a:ext cx="10058400" cy="1463040"/>
          </a:xfrm>
          <a:prstGeom prst="rect">
            <a:avLst/>
          </a:prstGeom>
          <a:noFill/>
        </p:spPr>
        <p:txBody>
          <a:bodyPr wrap="square" lIns="0" tIns="0" rIns="0" bIns="0" anchor="t">
            <a:spAutoFit/>
          </a:bodyPr>
          <a:lstStyle/>
          <a:p>
            <a:pPr algn="l"/>
            <a:r>
              <a:rPr sz="8000" b="0" i="0">
                <a:solidFill>
                  <a:srgbClr val="E8E8F0"/>
                </a:solidFill>
                <a:latin typeface="Georgia" panose="02040502050405090303"/>
              </a:rPr>
              <a:t>Travel</a:t>
            </a:r>
            <a:r>
              <a:rPr sz="8000" b="0" i="0">
                <a:solidFill>
                  <a:srgbClr val="6C8EFF"/>
                </a:solidFill>
                <a:latin typeface="Georgia" panose="02040502050405090303"/>
              </a:rPr>
              <a:t>Bench</a:t>
            </a:r>
            <a:endParaRPr sz="8000" b="0" i="0">
              <a:solidFill>
                <a:srgbClr val="6C8EFF"/>
              </a:solidFill>
              <a:latin typeface="Georgia" panose="02040502050405090303"/>
            </a:endParaRPr>
          </a:p>
        </p:txBody>
      </p:sp>
      <p:sp>
        <p:nvSpPr>
          <p:cNvPr id="5" name="TextBox 4"/>
          <p:cNvSpPr txBox="1"/>
          <p:nvPr/>
        </p:nvSpPr>
        <p:spPr>
          <a:xfrm>
            <a:off x="685800" y="4206240"/>
            <a:ext cx="7772400" cy="1097280"/>
          </a:xfrm>
          <a:prstGeom prst="rect">
            <a:avLst/>
          </a:prstGeom>
          <a:noFill/>
        </p:spPr>
        <p:txBody>
          <a:bodyPr wrap="square" lIns="0" tIns="0" rIns="0" bIns="0" anchor="t">
            <a:spAutoFit/>
          </a:bodyPr>
          <a:lstStyle/>
          <a:p>
            <a:pPr algn="l"/>
            <a:r>
              <a:rPr sz="1600" b="0" i="0">
                <a:solidFill>
                  <a:srgbClr val="7878A0"/>
                </a:solidFill>
                <a:latin typeface="Calibri"/>
              </a:rPr>
              <a:t>A pipeline for automatically generating and evaluating travel planning tasks — measuring whether LLM agents reason, or just comply.</a:t>
            </a:r>
            <a:endParaRPr sz="1600" b="0" i="0">
              <a:solidFill>
                <a:srgbClr val="7878A0"/>
              </a:solidFill>
              <a:latin typeface="Calibri"/>
            </a:endParaRPr>
          </a:p>
        </p:txBody>
      </p:sp>
      <p:sp>
        <p:nvSpPr>
          <p:cNvPr id="6" name="TextBox 5"/>
          <p:cNvSpPr txBox="1"/>
          <p:nvPr/>
        </p:nvSpPr>
        <p:spPr>
          <a:xfrm>
            <a:off x="685800" y="5943600"/>
            <a:ext cx="10972800" cy="365760"/>
          </a:xfrm>
          <a:prstGeom prst="rect">
            <a:avLst/>
          </a:prstGeom>
          <a:noFill/>
        </p:spPr>
        <p:txBody>
          <a:bodyPr wrap="square" lIns="0" tIns="0" rIns="0" bIns="0" anchor="t">
            <a:spAutoFit/>
          </a:bodyPr>
          <a:lstStyle/>
          <a:p>
            <a:pPr algn="l"/>
            <a:r>
              <a:rPr sz="1000" b="0" i="0">
                <a:solidFill>
                  <a:srgbClr val="7878A0"/>
                </a:solidFill>
                <a:latin typeface="Consolas"/>
              </a:rPr>
              <a:t>London · 50-venue pool · 23 tasks · 6 models</a:t>
            </a:r>
            <a:r>
              <a:rPr sz="1000" b="0" i="0">
                <a:solidFill>
                  <a:srgbClr val="2A2A3A"/>
                </a:solidFill>
                <a:latin typeface="Consolas"/>
              </a:rPr>
              <a:t>    |    </a:t>
            </a:r>
            <a:r>
              <a:rPr sz="1000" b="0" i="0">
                <a:solidFill>
                  <a:srgbClr val="7878A0"/>
                </a:solidFill>
                <a:latin typeface="Consolas"/>
              </a:rPr>
              <a:t>Phase 5 — Benchmark Analysis</a:t>
            </a:r>
            <a:r>
              <a:rPr sz="1000" b="0" i="0">
                <a:solidFill>
                  <a:srgbClr val="2A2A3A"/>
                </a:solidFill>
                <a:latin typeface="Consolas"/>
              </a:rPr>
              <a:t>    |    </a:t>
            </a:r>
            <a:r>
              <a:rPr sz="1000" b="0" i="0">
                <a:solidFill>
                  <a:srgbClr val="6C8EFF"/>
                </a:solidFill>
                <a:latin typeface="Consolas"/>
              </a:rPr>
              <a:t>Active</a:t>
            </a:r>
            <a:endParaRPr sz="1000" b="0" i="0">
              <a:solidFill>
                <a:srgbClr val="6C8EFF"/>
              </a:solidFill>
              <a:latin typeface="Consola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lIns="0" tIns="0" rIns="0" bIns="0" anchor="t">
            <a:spAutoFit/>
          </a:bodyPr>
          <a:lstStyle/>
          <a:p>
            <a:pPr algn="l"/>
            <a:r>
              <a:rPr sz="1000" b="0" i="0">
                <a:solidFill>
                  <a:srgbClr val="6C8EFF"/>
                </a:solidFill>
                <a:latin typeface="Consolas"/>
              </a:rPr>
              <a:t>—  01  —  OVERVIEW</a:t>
            </a:r>
            <a:endParaRPr sz="1000" b="0" i="0">
              <a:solidFill>
                <a:srgbClr val="6C8EFF"/>
              </a:solidFill>
              <a:latin typeface="Consolas"/>
            </a:endParaRPr>
          </a:p>
        </p:txBody>
      </p:sp>
      <p:sp>
        <p:nvSpPr>
          <p:cNvPr id="3" name="TextBox 2"/>
          <p:cNvSpPr txBox="1"/>
          <p:nvPr/>
        </p:nvSpPr>
        <p:spPr>
          <a:xfrm>
            <a:off x="548640" y="777240"/>
            <a:ext cx="10972800" cy="822960"/>
          </a:xfrm>
          <a:prstGeom prst="rect">
            <a:avLst/>
          </a:prstGeom>
          <a:noFill/>
        </p:spPr>
        <p:txBody>
          <a:bodyPr wrap="square" lIns="0" tIns="0" rIns="0" bIns="0" anchor="t">
            <a:spAutoFit/>
          </a:bodyPr>
          <a:lstStyle/>
          <a:p>
            <a:pPr algn="l"/>
            <a:r>
              <a:rPr sz="3400" b="0" i="0">
                <a:solidFill>
                  <a:srgbClr val="E8E8F0"/>
                </a:solidFill>
                <a:latin typeface="Georgia" panose="02040502050405090303"/>
              </a:rPr>
              <a:t>What is TravelBench?</a:t>
            </a:r>
            <a:endParaRPr sz="3400" b="0" i="0">
              <a:solidFill>
                <a:srgbClr val="E8E8F0"/>
              </a:solidFill>
              <a:latin typeface="Georgia" panose="02040502050405090303"/>
            </a:endParaRPr>
          </a:p>
        </p:txBody>
      </p:sp>
      <p:sp>
        <p:nvSpPr>
          <p:cNvPr id="4" name="TextBox 3"/>
          <p:cNvSpPr txBox="1"/>
          <p:nvPr/>
        </p:nvSpPr>
        <p:spPr>
          <a:xfrm>
            <a:off x="548640" y="1417320"/>
            <a:ext cx="10972800" cy="822960"/>
          </a:xfrm>
          <a:prstGeom prst="rect">
            <a:avLst/>
          </a:prstGeom>
          <a:noFill/>
        </p:spPr>
        <p:txBody>
          <a:bodyPr wrap="square" lIns="0" tIns="0" rIns="0" bIns="0" anchor="t">
            <a:spAutoFit/>
          </a:bodyPr>
          <a:lstStyle/>
          <a:p>
            <a:pPr algn="l"/>
            <a:r>
              <a:rPr sz="1200" b="0" i="0">
                <a:solidFill>
                  <a:srgbClr val="7878A0"/>
                </a:solidFill>
                <a:latin typeface="Calibri"/>
              </a:rPr>
              <a:t>A benchmark that gives LLM agents a natural-language trip request, four mock research tools, and asks them to produce a structured day-by-day itinerary. Scoring measures: did they find the right venues, build a feasible schedule, and satisfy the traveller's personal constraints?</a:t>
            </a:r>
            <a:endParaRPr sz="1200" b="0" i="0">
              <a:solidFill>
                <a:srgbClr val="7878A0"/>
              </a:solidFill>
              <a:latin typeface="Calibri"/>
            </a:endParaRPr>
          </a:p>
        </p:txBody>
      </p:sp>
      <p:sp>
        <p:nvSpPr>
          <p:cNvPr id="5" name="Rounded Rectangle 4"/>
          <p:cNvSpPr/>
          <p:nvPr/>
        </p:nvSpPr>
        <p:spPr>
          <a:xfrm>
            <a:off x="548640" y="2468880"/>
            <a:ext cx="2468880" cy="86868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560320"/>
            <a:ext cx="2468880" cy="274320"/>
          </a:xfrm>
          <a:prstGeom prst="rect">
            <a:avLst/>
          </a:prstGeom>
          <a:noFill/>
        </p:spPr>
        <p:txBody>
          <a:bodyPr wrap="square" lIns="0" tIns="0" rIns="0" bIns="0" anchor="t">
            <a:spAutoFit/>
          </a:bodyPr>
          <a:lstStyle/>
          <a:p>
            <a:pPr algn="ctr"/>
            <a:r>
              <a:rPr sz="1200" b="1" i="0">
                <a:solidFill>
                  <a:srgbClr val="E8E8F0"/>
                </a:solidFill>
                <a:latin typeface="Calibri"/>
              </a:rPr>
              <a:t>City Dataset</a:t>
            </a:r>
            <a:endParaRPr sz="1200" b="1" i="0">
              <a:solidFill>
                <a:srgbClr val="E8E8F0"/>
              </a:solidFill>
              <a:latin typeface="Calibri"/>
            </a:endParaRPr>
          </a:p>
        </p:txBody>
      </p:sp>
      <p:sp>
        <p:nvSpPr>
          <p:cNvPr id="7" name="TextBox 6"/>
          <p:cNvSpPr txBox="1"/>
          <p:nvPr/>
        </p:nvSpPr>
        <p:spPr>
          <a:xfrm>
            <a:off x="548640" y="2834640"/>
            <a:ext cx="2468880" cy="502920"/>
          </a:xfrm>
          <a:prstGeom prst="rect">
            <a:avLst/>
          </a:prstGeom>
          <a:noFill/>
        </p:spPr>
        <p:txBody>
          <a:bodyPr wrap="square" lIns="0" tIns="0" rIns="0" bIns="0" anchor="t">
            <a:spAutoFit/>
          </a:bodyPr>
          <a:lstStyle/>
          <a:p>
            <a:pPr algn="ctr"/>
            <a:r>
              <a:rPr sz="850" b="0" i="0">
                <a:solidFill>
                  <a:srgbClr val="7878A0"/>
                </a:solidFill>
                <a:latin typeface="Consolas"/>
              </a:rPr>
              <a:t>71 venues · source docs
events · travel matrix</a:t>
            </a:r>
            <a:endParaRPr sz="850" b="0" i="0">
              <a:solidFill>
                <a:srgbClr val="7878A0"/>
              </a:solidFill>
              <a:latin typeface="Consolas"/>
            </a:endParaRPr>
          </a:p>
        </p:txBody>
      </p:sp>
      <p:sp>
        <p:nvSpPr>
          <p:cNvPr id="8" name="TextBox 7"/>
          <p:cNvSpPr txBox="1"/>
          <p:nvPr/>
        </p:nvSpPr>
        <p:spPr>
          <a:xfrm>
            <a:off x="3017520" y="2743200"/>
            <a:ext cx="396240" cy="365760"/>
          </a:xfrm>
          <a:prstGeom prst="rect">
            <a:avLst/>
          </a:prstGeom>
          <a:noFill/>
        </p:spPr>
        <p:txBody>
          <a:bodyPr wrap="square" lIns="0" tIns="0" rIns="0" bIns="0" anchor="t">
            <a:spAutoFit/>
          </a:bodyPr>
          <a:lstStyle/>
          <a:p>
            <a:pPr algn="ctr"/>
            <a:r>
              <a:rPr sz="1800" b="0" i="0">
                <a:solidFill>
                  <a:srgbClr val="2A2A3A"/>
                </a:solidFill>
                <a:latin typeface="Calibri"/>
              </a:rPr>
              <a:t>→</a:t>
            </a:r>
            <a:endParaRPr sz="1800" b="0" i="0">
              <a:solidFill>
                <a:srgbClr val="2A2A3A"/>
              </a:solidFill>
              <a:latin typeface="Calibri"/>
            </a:endParaRPr>
          </a:p>
        </p:txBody>
      </p:sp>
      <p:sp>
        <p:nvSpPr>
          <p:cNvPr id="9" name="Rounded Rectangle 8"/>
          <p:cNvSpPr/>
          <p:nvPr/>
        </p:nvSpPr>
        <p:spPr>
          <a:xfrm>
            <a:off x="3413760" y="2468880"/>
            <a:ext cx="2468880" cy="86868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3760" y="2560320"/>
            <a:ext cx="2468880" cy="274320"/>
          </a:xfrm>
          <a:prstGeom prst="rect">
            <a:avLst/>
          </a:prstGeom>
          <a:noFill/>
        </p:spPr>
        <p:txBody>
          <a:bodyPr wrap="square" lIns="0" tIns="0" rIns="0" bIns="0" anchor="t">
            <a:spAutoFit/>
          </a:bodyPr>
          <a:lstStyle/>
          <a:p>
            <a:pPr algn="ctr"/>
            <a:r>
              <a:rPr sz="1200" b="1" i="0">
                <a:solidFill>
                  <a:srgbClr val="E8E8F0"/>
                </a:solidFill>
                <a:latin typeface="Calibri"/>
              </a:rPr>
              <a:t>Benchmark Tasks</a:t>
            </a:r>
            <a:endParaRPr sz="1200" b="1" i="0">
              <a:solidFill>
                <a:srgbClr val="E8E8F0"/>
              </a:solidFill>
              <a:latin typeface="Calibri"/>
            </a:endParaRPr>
          </a:p>
        </p:txBody>
      </p:sp>
      <p:sp>
        <p:nvSpPr>
          <p:cNvPr id="11" name="TextBox 10"/>
          <p:cNvSpPr txBox="1"/>
          <p:nvPr/>
        </p:nvSpPr>
        <p:spPr>
          <a:xfrm>
            <a:off x="3413760" y="2834640"/>
            <a:ext cx="2468880" cy="502920"/>
          </a:xfrm>
          <a:prstGeom prst="rect">
            <a:avLst/>
          </a:prstGeom>
          <a:noFill/>
        </p:spPr>
        <p:txBody>
          <a:bodyPr wrap="square" lIns="0" tIns="0" rIns="0" bIns="0" anchor="t">
            <a:spAutoFit/>
          </a:bodyPr>
          <a:lstStyle/>
          <a:p>
            <a:pPr algn="ctr"/>
            <a:r>
              <a:rPr sz="850" b="0" i="0">
                <a:solidFill>
                  <a:srgbClr val="7878A0"/>
                </a:solidFill>
                <a:latin typeface="Consolas"/>
              </a:rPr>
              <a:t>6 structural types
natural-language queries</a:t>
            </a:r>
            <a:endParaRPr sz="850" b="0" i="0">
              <a:solidFill>
                <a:srgbClr val="7878A0"/>
              </a:solidFill>
              <a:latin typeface="Consolas"/>
            </a:endParaRPr>
          </a:p>
        </p:txBody>
      </p:sp>
      <p:sp>
        <p:nvSpPr>
          <p:cNvPr id="12" name="TextBox 11"/>
          <p:cNvSpPr txBox="1"/>
          <p:nvPr/>
        </p:nvSpPr>
        <p:spPr>
          <a:xfrm>
            <a:off x="5882640" y="2743200"/>
            <a:ext cx="396240" cy="365760"/>
          </a:xfrm>
          <a:prstGeom prst="rect">
            <a:avLst/>
          </a:prstGeom>
          <a:noFill/>
        </p:spPr>
        <p:txBody>
          <a:bodyPr wrap="square" lIns="0" tIns="0" rIns="0" bIns="0" anchor="t">
            <a:spAutoFit/>
          </a:bodyPr>
          <a:lstStyle/>
          <a:p>
            <a:pPr algn="ctr"/>
            <a:r>
              <a:rPr sz="1800" b="0" i="0">
                <a:solidFill>
                  <a:srgbClr val="2A2A3A"/>
                </a:solidFill>
                <a:latin typeface="Calibri"/>
              </a:rPr>
              <a:t>→</a:t>
            </a:r>
            <a:endParaRPr sz="1800" b="0" i="0">
              <a:solidFill>
                <a:srgbClr val="2A2A3A"/>
              </a:solidFill>
              <a:latin typeface="Calibri"/>
            </a:endParaRPr>
          </a:p>
        </p:txBody>
      </p:sp>
      <p:sp>
        <p:nvSpPr>
          <p:cNvPr id="13" name="Rounded Rectangle 12"/>
          <p:cNvSpPr/>
          <p:nvPr/>
        </p:nvSpPr>
        <p:spPr>
          <a:xfrm>
            <a:off x="6278880" y="2468880"/>
            <a:ext cx="2468880" cy="86868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8880" y="2560320"/>
            <a:ext cx="2468880" cy="274320"/>
          </a:xfrm>
          <a:prstGeom prst="rect">
            <a:avLst/>
          </a:prstGeom>
          <a:noFill/>
        </p:spPr>
        <p:txBody>
          <a:bodyPr wrap="square" lIns="0" tIns="0" rIns="0" bIns="0" anchor="t">
            <a:spAutoFit/>
          </a:bodyPr>
          <a:lstStyle/>
          <a:p>
            <a:pPr algn="ctr"/>
            <a:r>
              <a:rPr sz="1200" b="1" i="0">
                <a:solidFill>
                  <a:srgbClr val="E8E8F0"/>
                </a:solidFill>
                <a:latin typeface="Calibri"/>
              </a:rPr>
              <a:t>LLM Agent</a:t>
            </a:r>
            <a:endParaRPr sz="1200" b="1" i="0">
              <a:solidFill>
                <a:srgbClr val="E8E8F0"/>
              </a:solidFill>
              <a:latin typeface="Calibri"/>
            </a:endParaRPr>
          </a:p>
        </p:txBody>
      </p:sp>
      <p:sp>
        <p:nvSpPr>
          <p:cNvPr id="15" name="TextBox 14"/>
          <p:cNvSpPr txBox="1"/>
          <p:nvPr/>
        </p:nvSpPr>
        <p:spPr>
          <a:xfrm>
            <a:off x="6278880" y="2834640"/>
            <a:ext cx="2468880" cy="502920"/>
          </a:xfrm>
          <a:prstGeom prst="rect">
            <a:avLst/>
          </a:prstGeom>
          <a:noFill/>
        </p:spPr>
        <p:txBody>
          <a:bodyPr wrap="square" lIns="0" tIns="0" rIns="0" bIns="0" anchor="t">
            <a:spAutoFit/>
          </a:bodyPr>
          <a:lstStyle/>
          <a:p>
            <a:pPr algn="ctr"/>
            <a:r>
              <a:rPr sz="850" b="0" i="0">
                <a:solidFill>
                  <a:srgbClr val="7878A0"/>
                </a:solidFill>
                <a:latin typeface="Consolas"/>
              </a:rPr>
              <a:t>4 tools: search, blogs
official site, travel time</a:t>
            </a:r>
            <a:endParaRPr sz="850" b="0" i="0">
              <a:solidFill>
                <a:srgbClr val="7878A0"/>
              </a:solidFill>
              <a:latin typeface="Consolas"/>
            </a:endParaRPr>
          </a:p>
        </p:txBody>
      </p:sp>
      <p:sp>
        <p:nvSpPr>
          <p:cNvPr id="16" name="TextBox 15"/>
          <p:cNvSpPr txBox="1"/>
          <p:nvPr/>
        </p:nvSpPr>
        <p:spPr>
          <a:xfrm>
            <a:off x="8747760" y="2743200"/>
            <a:ext cx="396240" cy="365760"/>
          </a:xfrm>
          <a:prstGeom prst="rect">
            <a:avLst/>
          </a:prstGeom>
          <a:noFill/>
        </p:spPr>
        <p:txBody>
          <a:bodyPr wrap="square" lIns="0" tIns="0" rIns="0" bIns="0" anchor="t">
            <a:spAutoFit/>
          </a:bodyPr>
          <a:lstStyle/>
          <a:p>
            <a:pPr algn="ctr"/>
            <a:r>
              <a:rPr sz="1800" b="0" i="0">
                <a:solidFill>
                  <a:srgbClr val="2A2A3A"/>
                </a:solidFill>
                <a:latin typeface="Calibri"/>
              </a:rPr>
              <a:t>→</a:t>
            </a:r>
            <a:endParaRPr sz="1800" b="0" i="0">
              <a:solidFill>
                <a:srgbClr val="2A2A3A"/>
              </a:solidFill>
              <a:latin typeface="Calibri"/>
            </a:endParaRPr>
          </a:p>
        </p:txBody>
      </p:sp>
      <p:sp>
        <p:nvSpPr>
          <p:cNvPr id="17" name="Rounded Rectangle 16"/>
          <p:cNvSpPr/>
          <p:nvPr/>
        </p:nvSpPr>
        <p:spPr>
          <a:xfrm>
            <a:off x="9144000" y="2468880"/>
            <a:ext cx="2468880" cy="86868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2560320"/>
            <a:ext cx="2468880" cy="274320"/>
          </a:xfrm>
          <a:prstGeom prst="rect">
            <a:avLst/>
          </a:prstGeom>
          <a:noFill/>
        </p:spPr>
        <p:txBody>
          <a:bodyPr wrap="square" lIns="0" tIns="0" rIns="0" bIns="0" anchor="t">
            <a:spAutoFit/>
          </a:bodyPr>
          <a:lstStyle/>
          <a:p>
            <a:pPr algn="ctr"/>
            <a:r>
              <a:rPr sz="1200" b="1" i="0">
                <a:solidFill>
                  <a:srgbClr val="E8E8F0"/>
                </a:solidFill>
                <a:latin typeface="Calibri"/>
              </a:rPr>
              <a:t>Evaluator</a:t>
            </a:r>
            <a:endParaRPr sz="1200" b="1" i="0">
              <a:solidFill>
                <a:srgbClr val="E8E8F0"/>
              </a:solidFill>
              <a:latin typeface="Calibri"/>
            </a:endParaRPr>
          </a:p>
        </p:txBody>
      </p:sp>
      <p:sp>
        <p:nvSpPr>
          <p:cNvPr id="19" name="TextBox 18"/>
          <p:cNvSpPr txBox="1"/>
          <p:nvPr/>
        </p:nvSpPr>
        <p:spPr>
          <a:xfrm>
            <a:off x="9144000" y="2834640"/>
            <a:ext cx="2468880" cy="502920"/>
          </a:xfrm>
          <a:prstGeom prst="rect">
            <a:avLst/>
          </a:prstGeom>
          <a:noFill/>
        </p:spPr>
        <p:txBody>
          <a:bodyPr wrap="square" lIns="0" tIns="0" rIns="0" bIns="0" anchor="t">
            <a:spAutoFit/>
          </a:bodyPr>
          <a:lstStyle/>
          <a:p>
            <a:pPr algn="ctr"/>
            <a:r>
              <a:rPr sz="850" b="0" i="0">
                <a:solidFill>
                  <a:srgbClr val="7878A0"/>
                </a:solidFill>
                <a:latin typeface="Consolas"/>
              </a:rPr>
              <a:t>C / F / P scores
cascading gate structure</a:t>
            </a:r>
            <a:endParaRPr sz="850" b="0" i="0">
              <a:solidFill>
                <a:srgbClr val="7878A0"/>
              </a:solidFill>
              <a:latin typeface="Consolas"/>
            </a:endParaRPr>
          </a:p>
        </p:txBody>
      </p:sp>
      <p:sp>
        <p:nvSpPr>
          <p:cNvPr id="20" name="Rounded Rectangle 19"/>
          <p:cNvSpPr/>
          <p:nvPr/>
        </p:nvSpPr>
        <p:spPr>
          <a:xfrm>
            <a:off x="548640" y="3291840"/>
            <a:ext cx="5486400" cy="11430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401568"/>
            <a:ext cx="5212080" cy="274320"/>
          </a:xfrm>
          <a:prstGeom prst="rect">
            <a:avLst/>
          </a:prstGeom>
          <a:noFill/>
        </p:spPr>
        <p:txBody>
          <a:bodyPr wrap="square" lIns="0" tIns="0" rIns="0" bIns="0" anchor="t">
            <a:spAutoFit/>
          </a:bodyPr>
          <a:lstStyle/>
          <a:p>
            <a:pPr algn="l"/>
            <a:r>
              <a:rPr sz="1200" b="1" i="0">
                <a:solidFill>
                  <a:srgbClr val="E8E8F0"/>
                </a:solidFill>
                <a:latin typeface="Calibri"/>
              </a:rPr>
              <a:t>Hidden ground truth</a:t>
            </a:r>
            <a:endParaRPr sz="1200" b="1" i="0">
              <a:solidFill>
                <a:srgbClr val="E8E8F0"/>
              </a:solidFill>
              <a:latin typeface="Calibri"/>
            </a:endParaRPr>
          </a:p>
        </p:txBody>
      </p:sp>
      <p:sp>
        <p:nvSpPr>
          <p:cNvPr id="22" name="TextBox 21"/>
          <p:cNvSpPr txBox="1"/>
          <p:nvPr/>
        </p:nvSpPr>
        <p:spPr>
          <a:xfrm>
            <a:off x="685800" y="3703320"/>
            <a:ext cx="5212080" cy="640080"/>
          </a:xfrm>
          <a:prstGeom prst="rect">
            <a:avLst/>
          </a:prstGeom>
          <a:noFill/>
        </p:spPr>
        <p:txBody>
          <a:bodyPr wrap="square" lIns="0" tIns="0" rIns="0" bIns="0" anchor="t">
            <a:spAutoFit/>
          </a:bodyPr>
          <a:lstStyle/>
          <a:p>
            <a:pPr algn="l"/>
            <a:r>
              <a:rPr sz="900" b="0" i="0">
                <a:solidFill>
                  <a:srgbClr val="7878A0"/>
                </a:solidFill>
                <a:latin typeface="Calibri"/>
              </a:rPr>
              <a:t>The database is never exposed. Agents navigate four source types — directory listings, community guides, forum threads, and official pages — each with different reliability. Getting it right requires active cross-referencing, not reading one source.</a:t>
            </a:r>
            <a:endParaRPr sz="900" b="0" i="0">
              <a:solidFill>
                <a:srgbClr val="7878A0"/>
              </a:solidFill>
              <a:latin typeface="Calibri"/>
            </a:endParaRPr>
          </a:p>
        </p:txBody>
      </p:sp>
      <p:sp>
        <p:nvSpPr>
          <p:cNvPr id="23" name="Rounded Rectangle 22"/>
          <p:cNvSpPr/>
          <p:nvPr/>
        </p:nvSpPr>
        <p:spPr>
          <a:xfrm>
            <a:off x="6108192" y="3291840"/>
            <a:ext cx="5486400" cy="11430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2" y="3401568"/>
            <a:ext cx="5212080" cy="274320"/>
          </a:xfrm>
          <a:prstGeom prst="rect">
            <a:avLst/>
          </a:prstGeom>
          <a:noFill/>
        </p:spPr>
        <p:txBody>
          <a:bodyPr wrap="square" lIns="0" tIns="0" rIns="0" bIns="0" anchor="t">
            <a:spAutoFit/>
          </a:bodyPr>
          <a:lstStyle/>
          <a:p>
            <a:pPr algn="l"/>
            <a:r>
              <a:rPr sz="1200" b="1" i="0">
                <a:solidFill>
                  <a:srgbClr val="E8E8F0"/>
                </a:solidFill>
                <a:latin typeface="Calibri"/>
              </a:rPr>
              <a:t>Signal filtering under volume</a:t>
            </a:r>
            <a:endParaRPr sz="1200" b="1" i="0">
              <a:solidFill>
                <a:srgbClr val="E8E8F0"/>
              </a:solidFill>
              <a:latin typeface="Calibri"/>
            </a:endParaRPr>
          </a:p>
        </p:txBody>
      </p:sp>
      <p:sp>
        <p:nvSpPr>
          <p:cNvPr id="25" name="TextBox 24"/>
          <p:cNvSpPr txBox="1"/>
          <p:nvPr/>
        </p:nvSpPr>
        <p:spPr>
          <a:xfrm>
            <a:off x="6245352" y="3703320"/>
            <a:ext cx="5212080" cy="640080"/>
          </a:xfrm>
          <a:prstGeom prst="rect">
            <a:avLst/>
          </a:prstGeom>
          <a:noFill/>
        </p:spPr>
        <p:txBody>
          <a:bodyPr wrap="square" lIns="0" tIns="0" rIns="0" bIns="0" anchor="t">
            <a:spAutoFit/>
          </a:bodyPr>
          <a:lstStyle/>
          <a:p>
            <a:pPr algn="l"/>
            <a:r>
              <a:rPr sz="900" b="0" i="0">
                <a:solidFill>
                  <a:srgbClr val="7878A0"/>
                </a:solidFill>
                <a:latin typeface="Calibri"/>
              </a:rPr>
              <a:t>The source corpus spans hundreds of documents across 71 venues. A model that reads everything indiscriminately exhausts its tool budget. Good models develop a research strategy — knowing when to verify, when to trust, when to move on.</a:t>
            </a:r>
            <a:endParaRPr sz="900" b="0" i="0">
              <a:solidFill>
                <a:srgbClr val="7878A0"/>
              </a:solidFill>
              <a:latin typeface="Calibri"/>
            </a:endParaRPr>
          </a:p>
        </p:txBody>
      </p:sp>
      <p:sp>
        <p:nvSpPr>
          <p:cNvPr id="26" name="Rounded Rectangle 25"/>
          <p:cNvSpPr/>
          <p:nvPr/>
        </p:nvSpPr>
        <p:spPr>
          <a:xfrm>
            <a:off x="548640" y="4507992"/>
            <a:ext cx="5486400" cy="11430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617720"/>
            <a:ext cx="5212080" cy="274320"/>
          </a:xfrm>
          <a:prstGeom prst="rect">
            <a:avLst/>
          </a:prstGeom>
          <a:noFill/>
        </p:spPr>
        <p:txBody>
          <a:bodyPr wrap="square" lIns="0" tIns="0" rIns="0" bIns="0" anchor="t">
            <a:spAutoFit/>
          </a:bodyPr>
          <a:lstStyle/>
          <a:p>
            <a:pPr algn="l"/>
            <a:r>
              <a:rPr sz="1200" b="1" i="0">
                <a:solidFill>
                  <a:srgbClr val="E8E8F0"/>
                </a:solidFill>
                <a:latin typeface="Calibri"/>
              </a:rPr>
              <a:t>Realistic requirements, no mechanical solution</a:t>
            </a:r>
            <a:endParaRPr sz="1200" b="1" i="0">
              <a:solidFill>
                <a:srgbClr val="E8E8F0"/>
              </a:solidFill>
              <a:latin typeface="Calibri"/>
            </a:endParaRPr>
          </a:p>
        </p:txBody>
      </p:sp>
      <p:sp>
        <p:nvSpPr>
          <p:cNvPr id="28" name="TextBox 27"/>
          <p:cNvSpPr txBox="1"/>
          <p:nvPr/>
        </p:nvSpPr>
        <p:spPr>
          <a:xfrm>
            <a:off x="685800" y="4919472"/>
            <a:ext cx="5212080" cy="640080"/>
          </a:xfrm>
          <a:prstGeom prst="rect">
            <a:avLst/>
          </a:prstGeom>
          <a:noFill/>
        </p:spPr>
        <p:txBody>
          <a:bodyPr wrap="square" lIns="0" tIns="0" rIns="0" bIns="0" anchor="t">
            <a:spAutoFit/>
          </a:bodyPr>
          <a:lstStyle/>
          <a:p>
            <a:pPr algn="l"/>
            <a:r>
              <a:rPr sz="900" b="0" i="0">
                <a:solidFill>
                  <a:srgbClr val="7878A0"/>
                </a:solidFill>
                <a:latin typeface="Calibri"/>
              </a:rPr>
              <a:t>Tasks built around real travel personas with layered, sometimes competing constraints. There's no keyword match that produces the answer — the model must reason about what combination of venues, timing, and trade-offs works.</a:t>
            </a:r>
            <a:endParaRPr sz="900" b="0" i="0">
              <a:solidFill>
                <a:srgbClr val="7878A0"/>
              </a:solidFill>
              <a:latin typeface="Calibri"/>
            </a:endParaRPr>
          </a:p>
        </p:txBody>
      </p:sp>
      <p:sp>
        <p:nvSpPr>
          <p:cNvPr id="29" name="Rounded Rectangle 28"/>
          <p:cNvSpPr/>
          <p:nvPr/>
        </p:nvSpPr>
        <p:spPr>
          <a:xfrm>
            <a:off x="6108192" y="4507992"/>
            <a:ext cx="5486400" cy="11430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45352" y="4617720"/>
            <a:ext cx="5212080" cy="274320"/>
          </a:xfrm>
          <a:prstGeom prst="rect">
            <a:avLst/>
          </a:prstGeom>
          <a:noFill/>
        </p:spPr>
        <p:txBody>
          <a:bodyPr wrap="square" lIns="0" tIns="0" rIns="0" bIns="0" anchor="t">
            <a:spAutoFit/>
          </a:bodyPr>
          <a:lstStyle/>
          <a:p>
            <a:pPr algn="l"/>
            <a:r>
              <a:rPr sz="1200" b="1" i="0">
                <a:solidFill>
                  <a:srgbClr val="E8E8F0"/>
                </a:solidFill>
                <a:latin typeface="Calibri"/>
              </a:rPr>
              <a:t>Solution space, not a single answer</a:t>
            </a:r>
            <a:endParaRPr sz="1200" b="1" i="0">
              <a:solidFill>
                <a:srgbClr val="E8E8F0"/>
              </a:solidFill>
              <a:latin typeface="Calibri"/>
            </a:endParaRPr>
          </a:p>
        </p:txBody>
      </p:sp>
      <p:sp>
        <p:nvSpPr>
          <p:cNvPr id="31" name="TextBox 30"/>
          <p:cNvSpPr txBox="1"/>
          <p:nvPr/>
        </p:nvSpPr>
        <p:spPr>
          <a:xfrm>
            <a:off x="6245352" y="4919472"/>
            <a:ext cx="5212080" cy="640080"/>
          </a:xfrm>
          <a:prstGeom prst="rect">
            <a:avLst/>
          </a:prstGeom>
          <a:noFill/>
        </p:spPr>
        <p:txBody>
          <a:bodyPr wrap="square" lIns="0" tIns="0" rIns="0" bIns="0" anchor="t">
            <a:spAutoFit/>
          </a:bodyPr>
          <a:lstStyle/>
          <a:p>
            <a:pPr algn="l"/>
            <a:r>
              <a:rPr sz="900" b="0" i="0">
                <a:solidFill>
                  <a:srgbClr val="7878A0"/>
                </a:solidFill>
                <a:latin typeface="Calibri"/>
              </a:rPr>
              <a:t>Every task is verified to have at least one valid plan — typically many. Evaluation checks whether a submitted plan falls within the valid solution space. Different itineraries satisfying the same constraints all receive credit.</a:t>
            </a:r>
            <a:endParaRPr sz="900" b="0" i="0">
              <a:solidFill>
                <a:srgbClr val="7878A0"/>
              </a:solidFill>
              <a:latin typeface="Calibri"/>
            </a:endParaRPr>
          </a:p>
        </p:txBody>
      </p:sp>
      <p:sp>
        <p:nvSpPr>
          <p:cNvPr id="32" name="Rounded Rectangle 31"/>
          <p:cNvSpPr/>
          <p:nvPr/>
        </p:nvSpPr>
        <p:spPr>
          <a:xfrm>
            <a:off x="548640" y="5724144"/>
            <a:ext cx="11045952" cy="777240"/>
          </a:xfrm>
          <a:prstGeom prst="roundRect">
            <a:avLst>
              <a:gd name="adj" fmla="val 6000"/>
            </a:avLst>
          </a:prstGeom>
          <a:solidFill>
            <a:srgbClr val="13131A"/>
          </a:solidFill>
          <a:ln w="9525">
            <a:solidFill>
              <a:srgbClr val="405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797296"/>
            <a:ext cx="10771632" cy="274320"/>
          </a:xfrm>
          <a:prstGeom prst="rect">
            <a:avLst/>
          </a:prstGeom>
          <a:noFill/>
        </p:spPr>
        <p:txBody>
          <a:bodyPr wrap="square" lIns="0" tIns="0" rIns="0" bIns="0" anchor="t">
            <a:spAutoFit/>
          </a:bodyPr>
          <a:lstStyle/>
          <a:p>
            <a:pPr algn="l"/>
            <a:r>
              <a:rPr sz="1200" b="1" i="0">
                <a:solidFill>
                  <a:srgbClr val="E8E8F0"/>
                </a:solidFill>
                <a:latin typeface="Calibri"/>
              </a:rPr>
              <a:t>Explainable three-tier evaluation</a:t>
            </a:r>
            <a:endParaRPr sz="1200" b="1" i="0">
              <a:solidFill>
                <a:srgbClr val="E8E8F0"/>
              </a:solidFill>
              <a:latin typeface="Calibri"/>
            </a:endParaRPr>
          </a:p>
        </p:txBody>
      </p:sp>
      <p:sp>
        <p:nvSpPr>
          <p:cNvPr id="34" name="TextBox 33"/>
          <p:cNvSpPr txBox="1"/>
          <p:nvPr/>
        </p:nvSpPr>
        <p:spPr>
          <a:xfrm>
            <a:off x="685800" y="6044184"/>
            <a:ext cx="10771632" cy="457200"/>
          </a:xfrm>
          <a:prstGeom prst="rect">
            <a:avLst/>
          </a:prstGeom>
          <a:noFill/>
        </p:spPr>
        <p:txBody>
          <a:bodyPr wrap="square" lIns="0" tIns="0" rIns="0" bIns="0" anchor="t">
            <a:spAutoFit/>
          </a:bodyPr>
          <a:lstStyle/>
          <a:p>
            <a:pPr algn="l"/>
            <a:r>
              <a:rPr sz="900" b="0" i="0">
                <a:solidFill>
                  <a:srgbClr val="7878A0"/>
                </a:solidFill>
                <a:latin typeface="Calibri"/>
              </a:rPr>
              <a:t>Cascading scoring — </a:t>
            </a:r>
            <a:r>
              <a:rPr sz="900" b="0" i="0">
                <a:solidFill>
                  <a:srgbClr val="6C8EFF"/>
                </a:solidFill>
                <a:latin typeface="Calibri"/>
              </a:rPr>
              <a:t>process integrity (C)</a:t>
            </a:r>
            <a:r>
              <a:rPr sz="900" b="0" i="0">
                <a:solidFill>
                  <a:srgbClr val="7878A0"/>
                </a:solidFill>
                <a:latin typeface="Calibri"/>
              </a:rPr>
              <a:t>, </a:t>
            </a:r>
            <a:r>
              <a:rPr sz="900" b="0" i="0">
                <a:solidFill>
                  <a:srgbClr val="6CFFC8"/>
                </a:solidFill>
                <a:latin typeface="Calibri"/>
              </a:rPr>
              <a:t>schedule feasibility (F)</a:t>
            </a:r>
            <a:r>
              <a:rPr sz="900" b="0" i="0">
                <a:solidFill>
                  <a:srgbClr val="7878A0"/>
                </a:solidFill>
                <a:latin typeface="Calibri"/>
              </a:rPr>
              <a:t>, </a:t>
            </a:r>
            <a:r>
              <a:rPr sz="900" b="0" i="0">
                <a:solidFill>
                  <a:srgbClr val="FFA84A"/>
                </a:solidFill>
                <a:latin typeface="Calibri"/>
              </a:rPr>
              <a:t>preference satisfaction (P)</a:t>
            </a:r>
            <a:r>
              <a:rPr sz="900" b="0" i="0">
                <a:solidFill>
                  <a:srgbClr val="7878A0"/>
                </a:solidFill>
                <a:latin typeface="Calibri"/>
              </a:rPr>
              <a:t> — each evaluated programmatically. Every deduction traceable to a specific constraint, venue, or tool call.</a:t>
            </a:r>
            <a:endParaRPr sz="900" b="0" i="0">
              <a:solidFill>
                <a:srgbClr val="7878A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02  —  VENUE / CITY RESOURCES</a:t>
            </a:r>
            <a:endParaRPr sz="1000" b="0" i="0">
              <a:solidFill>
                <a:srgbClr val="6C8EFF"/>
              </a:solidFill>
              <a:latin typeface="Consolas"/>
            </a:endParaRPr>
          </a:p>
        </p:txBody>
      </p:sp>
      <p:sp>
        <p:nvSpPr>
          <p:cNvPr id="3" name="TextBox 2"/>
          <p:cNvSpPr txBox="1"/>
          <p:nvPr/>
        </p:nvSpPr>
        <p:spPr>
          <a:xfrm>
            <a:off x="548640" y="685800"/>
            <a:ext cx="10972800" cy="822960"/>
          </a:xfrm>
          <a:prstGeom prst="rect">
            <a:avLst/>
          </a:prstGeom>
          <a:noFill/>
        </p:spPr>
        <p:txBody>
          <a:bodyPr wrap="square" lIns="0" tIns="0" rIns="0" bIns="0" anchor="t">
            <a:spAutoFit/>
          </a:bodyPr>
          <a:lstStyle/>
          <a:p>
            <a:pPr algn="l"/>
            <a:r>
              <a:rPr sz="3000" b="0" i="0">
                <a:solidFill>
                  <a:srgbClr val="E8E8F0"/>
                </a:solidFill>
                <a:latin typeface="Georgia" panose="02040502050405090303"/>
              </a:rPr>
              <a:t>How a City Is Built</a:t>
            </a:r>
            <a:endParaRPr sz="3000" b="0" i="0">
              <a:solidFill>
                <a:srgbClr val="E8E8F0"/>
              </a:solidFill>
              <a:latin typeface="Georgia" panose="02040502050405090303"/>
            </a:endParaRPr>
          </a:p>
        </p:txBody>
      </p:sp>
      <p:sp>
        <p:nvSpPr>
          <p:cNvPr id="4" name="TextBox 3"/>
          <p:cNvSpPr txBox="1"/>
          <p:nvPr/>
        </p:nvSpPr>
        <p:spPr>
          <a:xfrm>
            <a:off x="548640" y="1280160"/>
            <a:ext cx="10972800" cy="365760"/>
          </a:xfrm>
          <a:prstGeom prst="rect">
            <a:avLst/>
          </a:prstGeom>
          <a:noFill/>
        </p:spPr>
        <p:txBody>
          <a:bodyPr wrap="square" lIns="0" tIns="0" rIns="0" bIns="0" anchor="t">
            <a:spAutoFit/>
          </a:bodyPr>
          <a:lstStyle/>
          <a:p>
            <a:pPr algn="l"/>
            <a:r>
              <a:rPr sz="1200" b="0" i="0">
                <a:solidFill>
                  <a:srgbClr val="7878A0"/>
                </a:solidFill>
                <a:latin typeface="Calibri"/>
              </a:rPr>
              <a:t>Fully automated end-to-end: Anthropic plans the pool · per-venue DeepSeek agents produce yelp listings, source docs, official site pages · Overpass + Nominatim ground the geography.</a:t>
            </a:r>
            <a:endParaRPr sz="1200" b="0" i="0">
              <a:solidFill>
                <a:srgbClr val="7878A0"/>
              </a:solidFill>
              <a:latin typeface="Calibri"/>
            </a:endParaRPr>
          </a:p>
        </p:txBody>
      </p:sp>
      <p:sp>
        <p:nvSpPr>
          <p:cNvPr id="5" name="Rounded Rectangle 4"/>
          <p:cNvSpPr/>
          <p:nvPr/>
        </p:nvSpPr>
        <p:spPr>
          <a:xfrm>
            <a:off x="548640" y="1828800"/>
            <a:ext cx="2697480" cy="14630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38528"/>
            <a:ext cx="2423160" cy="228600"/>
          </a:xfrm>
          <a:prstGeom prst="rect">
            <a:avLst/>
          </a:prstGeom>
          <a:noFill/>
        </p:spPr>
        <p:txBody>
          <a:bodyPr wrap="square" lIns="0" tIns="0" rIns="0" bIns="0" anchor="t">
            <a:spAutoFit/>
          </a:bodyPr>
          <a:lstStyle/>
          <a:p>
            <a:pPr algn="l"/>
            <a:r>
              <a:rPr sz="900" b="0" i="0">
                <a:solidFill>
                  <a:srgbClr val="7878A0"/>
                </a:solidFill>
                <a:latin typeface="Consolas"/>
              </a:rPr>
              <a:t>Step 1–2</a:t>
            </a:r>
            <a:endParaRPr sz="900" b="0" i="0">
              <a:solidFill>
                <a:srgbClr val="7878A0"/>
              </a:solidFill>
              <a:latin typeface="Consolas"/>
            </a:endParaRPr>
          </a:p>
        </p:txBody>
      </p:sp>
      <p:sp>
        <p:nvSpPr>
          <p:cNvPr id="7" name="TextBox 6"/>
          <p:cNvSpPr txBox="1"/>
          <p:nvPr/>
        </p:nvSpPr>
        <p:spPr>
          <a:xfrm>
            <a:off x="685800" y="2176272"/>
            <a:ext cx="2423160" cy="274320"/>
          </a:xfrm>
          <a:prstGeom prst="rect">
            <a:avLst/>
          </a:prstGeom>
          <a:noFill/>
        </p:spPr>
        <p:txBody>
          <a:bodyPr wrap="square" lIns="0" tIns="0" rIns="0" bIns="0" anchor="t">
            <a:spAutoFit/>
          </a:bodyPr>
          <a:lstStyle/>
          <a:p>
            <a:pPr algn="l"/>
            <a:r>
              <a:rPr sz="1200" b="1" i="0">
                <a:solidFill>
                  <a:srgbClr val="E8E8F0"/>
                </a:solidFill>
                <a:latin typeface="Calibri"/>
              </a:rPr>
              <a:t>Research + Windows</a:t>
            </a:r>
            <a:endParaRPr sz="1200" b="1" i="0">
              <a:solidFill>
                <a:srgbClr val="E8E8F0"/>
              </a:solidFill>
              <a:latin typeface="Calibri"/>
            </a:endParaRPr>
          </a:p>
        </p:txBody>
      </p:sp>
      <p:sp>
        <p:nvSpPr>
          <p:cNvPr id="8" name="TextBox 7"/>
          <p:cNvSpPr txBox="1"/>
          <p:nvPr/>
        </p:nvSpPr>
        <p:spPr>
          <a:xfrm>
            <a:off x="685800" y="2468880"/>
            <a:ext cx="2423160" cy="777240"/>
          </a:xfrm>
          <a:prstGeom prst="rect">
            <a:avLst/>
          </a:prstGeom>
          <a:noFill/>
        </p:spPr>
        <p:txBody>
          <a:bodyPr wrap="square" lIns="0" tIns="0" rIns="0" bIns="0" anchor="t">
            <a:spAutoFit/>
          </a:bodyPr>
          <a:lstStyle/>
          <a:p>
            <a:pPr algn="l"/>
            <a:r>
              <a:rPr sz="950" b="0" i="0">
                <a:solidFill>
                  <a:srgbClr val="7878A0"/>
                </a:solidFill>
                <a:latin typeface="Calibri"/>
              </a:rPr>
              <a:t>Nominatim coords · Overpass districts · 4 seasonal windows (NYE, St Pat's, July 4, Thanksgiving)</a:t>
            </a:r>
            <a:endParaRPr sz="950" b="0" i="0">
              <a:solidFill>
                <a:srgbClr val="7878A0"/>
              </a:solidFill>
              <a:latin typeface="Calibri"/>
            </a:endParaRPr>
          </a:p>
        </p:txBody>
      </p:sp>
      <p:sp>
        <p:nvSpPr>
          <p:cNvPr id="9" name="Rounded Rectangle 8"/>
          <p:cNvSpPr/>
          <p:nvPr/>
        </p:nvSpPr>
        <p:spPr>
          <a:xfrm>
            <a:off x="3383280" y="1828800"/>
            <a:ext cx="2697480" cy="14630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938528"/>
            <a:ext cx="2423160" cy="228600"/>
          </a:xfrm>
          <a:prstGeom prst="rect">
            <a:avLst/>
          </a:prstGeom>
          <a:noFill/>
        </p:spPr>
        <p:txBody>
          <a:bodyPr wrap="square" lIns="0" tIns="0" rIns="0" bIns="0" anchor="t">
            <a:spAutoFit/>
          </a:bodyPr>
          <a:lstStyle/>
          <a:p>
            <a:pPr algn="l"/>
            <a:r>
              <a:rPr sz="900" b="0" i="0">
                <a:solidFill>
                  <a:srgbClr val="7878A0"/>
                </a:solidFill>
                <a:latin typeface="Consolas"/>
              </a:rPr>
              <a:t>Step 3</a:t>
            </a:r>
            <a:endParaRPr sz="900" b="0" i="0">
              <a:solidFill>
                <a:srgbClr val="7878A0"/>
              </a:solidFill>
              <a:latin typeface="Consolas"/>
            </a:endParaRPr>
          </a:p>
        </p:txBody>
      </p:sp>
      <p:sp>
        <p:nvSpPr>
          <p:cNvPr id="11" name="TextBox 10"/>
          <p:cNvSpPr txBox="1"/>
          <p:nvPr/>
        </p:nvSpPr>
        <p:spPr>
          <a:xfrm>
            <a:off x="3520440" y="2176272"/>
            <a:ext cx="2423160" cy="274320"/>
          </a:xfrm>
          <a:prstGeom prst="rect">
            <a:avLst/>
          </a:prstGeom>
          <a:noFill/>
        </p:spPr>
        <p:txBody>
          <a:bodyPr wrap="square" lIns="0" tIns="0" rIns="0" bIns="0" anchor="t">
            <a:spAutoFit/>
          </a:bodyPr>
          <a:lstStyle/>
          <a:p>
            <a:pPr algn="l"/>
            <a:r>
              <a:rPr sz="1200" b="1" i="0">
                <a:solidFill>
                  <a:srgbClr val="E8E8F0"/>
                </a:solidFill>
                <a:latin typeface="Calibri"/>
              </a:rPr>
              <a:t>Plan Venues</a:t>
            </a:r>
            <a:endParaRPr sz="1200" b="1" i="0">
              <a:solidFill>
                <a:srgbClr val="E8E8F0"/>
              </a:solidFill>
              <a:latin typeface="Calibri"/>
            </a:endParaRPr>
          </a:p>
        </p:txBody>
      </p:sp>
      <p:sp>
        <p:nvSpPr>
          <p:cNvPr id="12" name="TextBox 11"/>
          <p:cNvSpPr txBox="1"/>
          <p:nvPr/>
        </p:nvSpPr>
        <p:spPr>
          <a:xfrm>
            <a:off x="3520440" y="2468880"/>
            <a:ext cx="2423160" cy="777240"/>
          </a:xfrm>
          <a:prstGeom prst="rect">
            <a:avLst/>
          </a:prstGeom>
          <a:noFill/>
        </p:spPr>
        <p:txBody>
          <a:bodyPr wrap="square" lIns="0" tIns="0" rIns="0" bIns="0" anchor="t">
            <a:spAutoFit/>
          </a:bodyPr>
          <a:lstStyle/>
          <a:p>
            <a:pPr algn="l"/>
            <a:r>
              <a:rPr sz="950" b="0" i="0">
                <a:solidFill>
                  <a:srgbClr val="7878A0"/>
                </a:solidFill>
                <a:latin typeface="Calibri"/>
              </a:rPr>
              <a:t>One Anthropic call → ~50 venue briefs with tier targets across traffic levels and categories</a:t>
            </a:r>
            <a:endParaRPr sz="950" b="0" i="0">
              <a:solidFill>
                <a:srgbClr val="7878A0"/>
              </a:solidFill>
              <a:latin typeface="Calibri"/>
            </a:endParaRPr>
          </a:p>
        </p:txBody>
      </p:sp>
      <p:sp>
        <p:nvSpPr>
          <p:cNvPr id="13" name="Rounded Rectangle 12"/>
          <p:cNvSpPr/>
          <p:nvPr/>
        </p:nvSpPr>
        <p:spPr>
          <a:xfrm>
            <a:off x="6217920" y="1828800"/>
            <a:ext cx="2697480" cy="146304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938528"/>
            <a:ext cx="2423160" cy="228600"/>
          </a:xfrm>
          <a:prstGeom prst="rect">
            <a:avLst/>
          </a:prstGeom>
          <a:noFill/>
        </p:spPr>
        <p:txBody>
          <a:bodyPr wrap="square" lIns="0" tIns="0" rIns="0" bIns="0" anchor="t">
            <a:spAutoFit/>
          </a:bodyPr>
          <a:lstStyle/>
          <a:p>
            <a:pPr algn="l"/>
            <a:r>
              <a:rPr sz="900" b="0" i="0">
                <a:solidFill>
                  <a:srgbClr val="7878A0"/>
                </a:solidFill>
                <a:latin typeface="Consolas"/>
              </a:rPr>
              <a:t>Step 5 — core</a:t>
            </a:r>
            <a:endParaRPr sz="900" b="0" i="0">
              <a:solidFill>
                <a:srgbClr val="7878A0"/>
              </a:solidFill>
              <a:latin typeface="Consolas"/>
            </a:endParaRPr>
          </a:p>
        </p:txBody>
      </p:sp>
      <p:sp>
        <p:nvSpPr>
          <p:cNvPr id="15" name="TextBox 14"/>
          <p:cNvSpPr txBox="1"/>
          <p:nvPr/>
        </p:nvSpPr>
        <p:spPr>
          <a:xfrm>
            <a:off x="6355080" y="2176272"/>
            <a:ext cx="2423160" cy="274320"/>
          </a:xfrm>
          <a:prstGeom prst="rect">
            <a:avLst/>
          </a:prstGeom>
          <a:noFill/>
        </p:spPr>
        <p:txBody>
          <a:bodyPr wrap="square" lIns="0" tIns="0" rIns="0" bIns="0" anchor="t">
            <a:spAutoFit/>
          </a:bodyPr>
          <a:lstStyle/>
          <a:p>
            <a:pPr algn="l"/>
            <a:r>
              <a:rPr sz="1200" b="1" i="0">
                <a:solidFill>
                  <a:srgbClr val="E8E8F0"/>
                </a:solidFill>
                <a:latin typeface="Calibri"/>
              </a:rPr>
              <a:t>Per-Venue Agent</a:t>
            </a:r>
            <a:endParaRPr sz="1200" b="1" i="0">
              <a:solidFill>
                <a:srgbClr val="E8E8F0"/>
              </a:solidFill>
              <a:latin typeface="Calibri"/>
            </a:endParaRPr>
          </a:p>
        </p:txBody>
      </p:sp>
      <p:sp>
        <p:nvSpPr>
          <p:cNvPr id="16" name="TextBox 15"/>
          <p:cNvSpPr txBox="1"/>
          <p:nvPr/>
        </p:nvSpPr>
        <p:spPr>
          <a:xfrm>
            <a:off x="6355080" y="2468880"/>
            <a:ext cx="2423160" cy="777240"/>
          </a:xfrm>
          <a:prstGeom prst="rect">
            <a:avLst/>
          </a:prstGeom>
          <a:noFill/>
        </p:spPr>
        <p:txBody>
          <a:bodyPr wrap="square" lIns="0" tIns="0" rIns="0" bIns="0" anchor="t">
            <a:spAutoFit/>
          </a:bodyPr>
          <a:lstStyle/>
          <a:p>
            <a:pPr algn="l"/>
            <a:r>
              <a:rPr sz="950" b="0" i="0">
                <a:solidFill>
                  <a:srgbClr val="7878A0"/>
                </a:solidFill>
                <a:latin typeface="Calibri"/>
              </a:rPr>
              <a:t>DeepSeek agent per venue. 11 tools: CREATE_PAGE, FILL, COMMIT, ADD_WRONG_INFO, REGISTER_DOC_REFS, VERIFY. Parallel workers.</a:t>
            </a:r>
            <a:endParaRPr sz="950" b="0" i="0">
              <a:solidFill>
                <a:srgbClr val="7878A0"/>
              </a:solidFill>
              <a:latin typeface="Calibri"/>
            </a:endParaRPr>
          </a:p>
        </p:txBody>
      </p:sp>
      <p:sp>
        <p:nvSpPr>
          <p:cNvPr id="17" name="Rounded Rectangle 16"/>
          <p:cNvSpPr/>
          <p:nvPr/>
        </p:nvSpPr>
        <p:spPr>
          <a:xfrm>
            <a:off x="9052560" y="1828800"/>
            <a:ext cx="2697480" cy="14630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20" y="1938528"/>
            <a:ext cx="2423160" cy="228600"/>
          </a:xfrm>
          <a:prstGeom prst="rect">
            <a:avLst/>
          </a:prstGeom>
          <a:noFill/>
        </p:spPr>
        <p:txBody>
          <a:bodyPr wrap="square" lIns="0" tIns="0" rIns="0" bIns="0" anchor="t">
            <a:spAutoFit/>
          </a:bodyPr>
          <a:lstStyle/>
          <a:p>
            <a:pPr algn="l"/>
            <a:r>
              <a:rPr sz="900" b="0" i="0">
                <a:solidFill>
                  <a:srgbClr val="7878A0"/>
                </a:solidFill>
                <a:latin typeface="Consolas"/>
              </a:rPr>
              <a:t>Steps 6–12</a:t>
            </a:r>
            <a:endParaRPr sz="900" b="0" i="0">
              <a:solidFill>
                <a:srgbClr val="7878A0"/>
              </a:solidFill>
              <a:latin typeface="Consolas"/>
            </a:endParaRPr>
          </a:p>
        </p:txBody>
      </p:sp>
      <p:sp>
        <p:nvSpPr>
          <p:cNvPr id="19" name="TextBox 18"/>
          <p:cNvSpPr txBox="1"/>
          <p:nvPr/>
        </p:nvSpPr>
        <p:spPr>
          <a:xfrm>
            <a:off x="9189720" y="2176272"/>
            <a:ext cx="2423160" cy="274320"/>
          </a:xfrm>
          <a:prstGeom prst="rect">
            <a:avLst/>
          </a:prstGeom>
          <a:noFill/>
        </p:spPr>
        <p:txBody>
          <a:bodyPr wrap="square" lIns="0" tIns="0" rIns="0" bIns="0" anchor="t">
            <a:spAutoFit/>
          </a:bodyPr>
          <a:lstStyle/>
          <a:p>
            <a:pPr algn="l"/>
            <a:r>
              <a:rPr sz="1200" b="1" i="0">
                <a:solidFill>
                  <a:srgbClr val="E8E8F0"/>
                </a:solidFill>
                <a:latin typeface="Calibri"/>
              </a:rPr>
              <a:t>Validate &amp; Enrich</a:t>
            </a:r>
            <a:endParaRPr sz="1200" b="1" i="0">
              <a:solidFill>
                <a:srgbClr val="E8E8F0"/>
              </a:solidFill>
              <a:latin typeface="Calibri"/>
            </a:endParaRPr>
          </a:p>
        </p:txBody>
      </p:sp>
      <p:sp>
        <p:nvSpPr>
          <p:cNvPr id="20" name="TextBox 19"/>
          <p:cNvSpPr txBox="1"/>
          <p:nvPr/>
        </p:nvSpPr>
        <p:spPr>
          <a:xfrm>
            <a:off x="9189720" y="2468880"/>
            <a:ext cx="2423160" cy="777240"/>
          </a:xfrm>
          <a:prstGeom prst="rect">
            <a:avLst/>
          </a:prstGeom>
          <a:noFill/>
        </p:spPr>
        <p:txBody>
          <a:bodyPr wrap="square" lIns="0" tIns="0" rIns="0" bIns="0" anchor="t">
            <a:spAutoFit/>
          </a:bodyPr>
          <a:lstStyle/>
          <a:p>
            <a:pPr algn="l"/>
            <a:r>
              <a:rPr sz="950" b="0" i="0">
                <a:solidFill>
                  <a:srgbClr val="7878A0"/>
                </a:solidFill>
                <a:latin typeface="Calibri"/>
              </a:rPr>
              <a:t>Validate pool · Travel matrix · Ticket availability · Events · Window flags</a:t>
            </a:r>
            <a:endParaRPr sz="950" b="0" i="0">
              <a:solidFill>
                <a:srgbClr val="7878A0"/>
              </a:solidFill>
              <a:latin typeface="Calibri"/>
            </a:endParaRPr>
          </a:p>
        </p:txBody>
      </p:sp>
      <p:sp>
        <p:nvSpPr>
          <p:cNvPr id="21" name="TextBox 20"/>
          <p:cNvSpPr txBox="1"/>
          <p:nvPr/>
        </p:nvSpPr>
        <p:spPr>
          <a:xfrm>
            <a:off x="548640" y="3520440"/>
            <a:ext cx="10972800" cy="274320"/>
          </a:xfrm>
          <a:prstGeom prst="rect">
            <a:avLst/>
          </a:prstGeom>
          <a:noFill/>
        </p:spPr>
        <p:txBody>
          <a:bodyPr wrap="square" lIns="0" tIns="0" rIns="0" bIns="0" anchor="t">
            <a:spAutoFit/>
          </a:bodyPr>
          <a:lstStyle/>
          <a:p>
            <a:pPr algn="l"/>
            <a:r>
              <a:rPr sz="1100" b="0" i="0">
                <a:solidFill>
                  <a:srgbClr val="7878A0"/>
                </a:solidFill>
                <a:latin typeface="Calibri"/>
              </a:rPr>
              <a:t>Current NYC corpus  ·  test_70  ·  July 4 2026 window:</a:t>
            </a:r>
            <a:endParaRPr sz="1100" b="0" i="0">
              <a:solidFill>
                <a:srgbClr val="7878A0"/>
              </a:solidFill>
              <a:latin typeface="Calibri"/>
            </a:endParaRPr>
          </a:p>
        </p:txBody>
      </p:sp>
      <p:sp>
        <p:nvSpPr>
          <p:cNvPr id="22" name="Rounded Rectangle 21"/>
          <p:cNvSpPr/>
          <p:nvPr/>
        </p:nvSpPr>
        <p:spPr>
          <a:xfrm>
            <a:off x="548640" y="3840480"/>
            <a:ext cx="1018641"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877056"/>
            <a:ext cx="1018641" cy="292608"/>
          </a:xfrm>
          <a:prstGeom prst="rect">
            <a:avLst/>
          </a:prstGeom>
          <a:noFill/>
        </p:spPr>
        <p:txBody>
          <a:bodyPr wrap="square" lIns="0" tIns="0" rIns="0" bIns="0" anchor="t">
            <a:spAutoFit/>
          </a:bodyPr>
          <a:lstStyle/>
          <a:p>
            <a:pPr algn="l"/>
            <a:r>
              <a:rPr sz="1000" b="1" i="0">
                <a:solidFill>
                  <a:srgbClr val="E8E8F0"/>
                </a:solidFill>
                <a:latin typeface="Consolas"/>
              </a:rPr>
              <a:t> 70 </a:t>
            </a:r>
            <a:r>
              <a:rPr sz="1000" b="0" i="0">
                <a:solidFill>
                  <a:srgbClr val="7878A0"/>
                </a:solidFill>
                <a:latin typeface="Consolas"/>
              </a:rPr>
              <a:t> venues</a:t>
            </a:r>
            <a:endParaRPr sz="1000" b="0" i="0">
              <a:solidFill>
                <a:srgbClr val="7878A0"/>
              </a:solidFill>
              <a:latin typeface="Consolas"/>
            </a:endParaRPr>
          </a:p>
        </p:txBody>
      </p:sp>
      <p:sp>
        <p:nvSpPr>
          <p:cNvPr id="24" name="Rounded Rectangle 23"/>
          <p:cNvSpPr/>
          <p:nvPr/>
        </p:nvSpPr>
        <p:spPr>
          <a:xfrm>
            <a:off x="1640433" y="3840480"/>
            <a:ext cx="1393545"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40433" y="3877056"/>
            <a:ext cx="1393545" cy="292608"/>
          </a:xfrm>
          <a:prstGeom prst="rect">
            <a:avLst/>
          </a:prstGeom>
          <a:noFill/>
        </p:spPr>
        <p:txBody>
          <a:bodyPr wrap="square" lIns="0" tIns="0" rIns="0" bIns="0" anchor="t">
            <a:spAutoFit/>
          </a:bodyPr>
          <a:lstStyle/>
          <a:p>
            <a:pPr algn="l"/>
            <a:r>
              <a:rPr sz="1000" b="1" i="0">
                <a:solidFill>
                  <a:srgbClr val="E8E8F0"/>
                </a:solidFill>
                <a:latin typeface="Consolas"/>
              </a:rPr>
              <a:t> 20 </a:t>
            </a:r>
            <a:r>
              <a:rPr sz="1000" b="0" i="0">
                <a:solidFill>
                  <a:srgbClr val="7878A0"/>
                </a:solidFill>
                <a:latin typeface="Consolas"/>
              </a:rPr>
              <a:t> restaurants</a:t>
            </a:r>
            <a:endParaRPr sz="1000" b="0" i="0">
              <a:solidFill>
                <a:srgbClr val="7878A0"/>
              </a:solidFill>
              <a:latin typeface="Consolas"/>
            </a:endParaRPr>
          </a:p>
        </p:txBody>
      </p:sp>
      <p:sp>
        <p:nvSpPr>
          <p:cNvPr id="26" name="Rounded Rectangle 25"/>
          <p:cNvSpPr/>
          <p:nvPr/>
        </p:nvSpPr>
        <p:spPr>
          <a:xfrm>
            <a:off x="3107130" y="3840480"/>
            <a:ext cx="1093622"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7130" y="3877056"/>
            <a:ext cx="1093622" cy="292608"/>
          </a:xfrm>
          <a:prstGeom prst="rect">
            <a:avLst/>
          </a:prstGeom>
          <a:noFill/>
        </p:spPr>
        <p:txBody>
          <a:bodyPr wrap="square" lIns="0" tIns="0" rIns="0" bIns="0" anchor="t">
            <a:spAutoFit/>
          </a:bodyPr>
          <a:lstStyle/>
          <a:p>
            <a:pPr algn="l"/>
            <a:r>
              <a:rPr sz="1000" b="1" i="0">
                <a:solidFill>
                  <a:srgbClr val="E8E8F0"/>
                </a:solidFill>
                <a:latin typeface="Consolas"/>
              </a:rPr>
              <a:t> 16 </a:t>
            </a:r>
            <a:r>
              <a:rPr sz="1000" b="0" i="0">
                <a:solidFill>
                  <a:srgbClr val="7878A0"/>
                </a:solidFill>
                <a:latin typeface="Consolas"/>
              </a:rPr>
              <a:t> museums</a:t>
            </a:r>
            <a:endParaRPr sz="1000" b="0" i="0">
              <a:solidFill>
                <a:srgbClr val="7878A0"/>
              </a:solidFill>
              <a:latin typeface="Consolas"/>
            </a:endParaRPr>
          </a:p>
        </p:txBody>
      </p:sp>
      <p:sp>
        <p:nvSpPr>
          <p:cNvPr id="28" name="Rounded Rectangle 27"/>
          <p:cNvSpPr/>
          <p:nvPr/>
        </p:nvSpPr>
        <p:spPr>
          <a:xfrm>
            <a:off x="4273904" y="3840480"/>
            <a:ext cx="868680"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73904" y="3877056"/>
            <a:ext cx="868680" cy="292608"/>
          </a:xfrm>
          <a:prstGeom prst="rect">
            <a:avLst/>
          </a:prstGeom>
          <a:noFill/>
        </p:spPr>
        <p:txBody>
          <a:bodyPr wrap="square" lIns="0" tIns="0" rIns="0" bIns="0" anchor="t">
            <a:spAutoFit/>
          </a:bodyPr>
          <a:lstStyle/>
          <a:p>
            <a:pPr algn="l"/>
            <a:r>
              <a:rPr sz="1000" b="1" i="0">
                <a:solidFill>
                  <a:srgbClr val="E8E8F0"/>
                </a:solidFill>
                <a:latin typeface="Consolas"/>
              </a:rPr>
              <a:t> 13 </a:t>
            </a:r>
            <a:r>
              <a:rPr sz="1000" b="0" i="0">
                <a:solidFill>
                  <a:srgbClr val="7878A0"/>
                </a:solidFill>
                <a:latin typeface="Consolas"/>
              </a:rPr>
              <a:t> bars</a:t>
            </a:r>
            <a:endParaRPr sz="1000" b="0" i="0">
              <a:solidFill>
                <a:srgbClr val="7878A0"/>
              </a:solidFill>
              <a:latin typeface="Consolas"/>
            </a:endParaRPr>
          </a:p>
        </p:txBody>
      </p:sp>
      <p:sp>
        <p:nvSpPr>
          <p:cNvPr id="30" name="Rounded Rectangle 29"/>
          <p:cNvSpPr/>
          <p:nvPr/>
        </p:nvSpPr>
        <p:spPr>
          <a:xfrm>
            <a:off x="5215736" y="3840480"/>
            <a:ext cx="1318564"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5736" y="3877056"/>
            <a:ext cx="1318564" cy="292608"/>
          </a:xfrm>
          <a:prstGeom prst="rect">
            <a:avLst/>
          </a:prstGeom>
          <a:noFill/>
        </p:spPr>
        <p:txBody>
          <a:bodyPr wrap="square" lIns="0" tIns="0" rIns="0" bIns="0" anchor="t">
            <a:spAutoFit/>
          </a:bodyPr>
          <a:lstStyle/>
          <a:p>
            <a:pPr algn="l"/>
            <a:r>
              <a:rPr sz="1000" b="1" i="0">
                <a:solidFill>
                  <a:srgbClr val="E8E8F0"/>
                </a:solidFill>
                <a:latin typeface="Consolas"/>
              </a:rPr>
              <a:t> 9 </a:t>
            </a:r>
            <a:r>
              <a:rPr sz="1000" b="0" i="0">
                <a:solidFill>
                  <a:srgbClr val="7878A0"/>
                </a:solidFill>
                <a:latin typeface="Consolas"/>
              </a:rPr>
              <a:t> attractions</a:t>
            </a:r>
            <a:endParaRPr sz="1000" b="0" i="0">
              <a:solidFill>
                <a:srgbClr val="7878A0"/>
              </a:solidFill>
              <a:latin typeface="Consolas"/>
            </a:endParaRPr>
          </a:p>
        </p:txBody>
      </p:sp>
      <p:sp>
        <p:nvSpPr>
          <p:cNvPr id="32" name="Rounded Rectangle 31"/>
          <p:cNvSpPr/>
          <p:nvPr/>
        </p:nvSpPr>
        <p:spPr>
          <a:xfrm>
            <a:off x="6607452" y="3840480"/>
            <a:ext cx="868680"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07452" y="3877056"/>
            <a:ext cx="868680" cy="292608"/>
          </a:xfrm>
          <a:prstGeom prst="rect">
            <a:avLst/>
          </a:prstGeom>
          <a:noFill/>
        </p:spPr>
        <p:txBody>
          <a:bodyPr wrap="square" lIns="0" tIns="0" rIns="0" bIns="0" anchor="t">
            <a:spAutoFit/>
          </a:bodyPr>
          <a:lstStyle/>
          <a:p>
            <a:pPr algn="l"/>
            <a:r>
              <a:rPr sz="1000" b="1" i="0">
                <a:solidFill>
                  <a:srgbClr val="E8E8F0"/>
                </a:solidFill>
                <a:latin typeface="Consolas"/>
              </a:rPr>
              <a:t> 8 </a:t>
            </a:r>
            <a:r>
              <a:rPr sz="1000" b="0" i="0">
                <a:solidFill>
                  <a:srgbClr val="7878A0"/>
                </a:solidFill>
                <a:latin typeface="Consolas"/>
              </a:rPr>
              <a:t> parks</a:t>
            </a:r>
            <a:endParaRPr sz="1000" b="0" i="0">
              <a:solidFill>
                <a:srgbClr val="7878A0"/>
              </a:solidFill>
              <a:latin typeface="Consolas"/>
            </a:endParaRPr>
          </a:p>
        </p:txBody>
      </p:sp>
      <p:sp>
        <p:nvSpPr>
          <p:cNvPr id="34" name="Rounded Rectangle 33"/>
          <p:cNvSpPr/>
          <p:nvPr/>
        </p:nvSpPr>
        <p:spPr>
          <a:xfrm>
            <a:off x="7549284" y="3840480"/>
            <a:ext cx="1243584"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49284" y="3877056"/>
            <a:ext cx="1243584" cy="292608"/>
          </a:xfrm>
          <a:prstGeom prst="rect">
            <a:avLst/>
          </a:prstGeom>
          <a:noFill/>
        </p:spPr>
        <p:txBody>
          <a:bodyPr wrap="square" lIns="0" tIns="0" rIns="0" bIns="0" anchor="t">
            <a:spAutoFit/>
          </a:bodyPr>
          <a:lstStyle/>
          <a:p>
            <a:pPr algn="l"/>
            <a:r>
              <a:rPr sz="1000" b="1" i="0">
                <a:solidFill>
                  <a:srgbClr val="E8E8F0"/>
                </a:solidFill>
                <a:latin typeface="Consolas"/>
              </a:rPr>
              <a:t> 24 </a:t>
            </a:r>
            <a:r>
              <a:rPr sz="1000" b="0" i="0">
                <a:solidFill>
                  <a:srgbClr val="7878A0"/>
                </a:solidFill>
                <a:latin typeface="Consolas"/>
              </a:rPr>
              <a:t> districts</a:t>
            </a:r>
            <a:endParaRPr sz="1000" b="0" i="0">
              <a:solidFill>
                <a:srgbClr val="7878A0"/>
              </a:solidFill>
              <a:latin typeface="Consolas"/>
            </a:endParaRPr>
          </a:p>
        </p:txBody>
      </p:sp>
      <p:sp>
        <p:nvSpPr>
          <p:cNvPr id="36" name="Rounded Rectangle 35"/>
          <p:cNvSpPr/>
          <p:nvPr/>
        </p:nvSpPr>
        <p:spPr>
          <a:xfrm>
            <a:off x="8866020" y="3840480"/>
            <a:ext cx="1468526"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66020" y="3877056"/>
            <a:ext cx="1468526" cy="292608"/>
          </a:xfrm>
          <a:prstGeom prst="rect">
            <a:avLst/>
          </a:prstGeom>
          <a:noFill/>
        </p:spPr>
        <p:txBody>
          <a:bodyPr wrap="square" lIns="0" tIns="0" rIns="0" bIns="0" anchor="t">
            <a:spAutoFit/>
          </a:bodyPr>
          <a:lstStyle/>
          <a:p>
            <a:pPr algn="l"/>
            <a:r>
              <a:rPr sz="1000" b="1" i="0">
                <a:solidFill>
                  <a:srgbClr val="E8E8F0"/>
                </a:solidFill>
                <a:latin typeface="Consolas"/>
              </a:rPr>
              <a:t> 263 </a:t>
            </a:r>
            <a:r>
              <a:rPr sz="1000" b="0" i="0">
                <a:solidFill>
                  <a:srgbClr val="7878A0"/>
                </a:solidFill>
                <a:latin typeface="Consolas"/>
              </a:rPr>
              <a:t> source docs</a:t>
            </a:r>
            <a:endParaRPr sz="1000" b="0" i="0">
              <a:solidFill>
                <a:srgbClr val="7878A0"/>
              </a:solidFill>
              <a:latin typeface="Consolas"/>
            </a:endParaRPr>
          </a:p>
        </p:txBody>
      </p:sp>
      <p:sp>
        <p:nvSpPr>
          <p:cNvPr id="38" name="Rounded Rectangle 37"/>
          <p:cNvSpPr/>
          <p:nvPr/>
        </p:nvSpPr>
        <p:spPr>
          <a:xfrm>
            <a:off x="548640" y="4206240"/>
            <a:ext cx="1993392"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242816"/>
            <a:ext cx="1993392" cy="292608"/>
          </a:xfrm>
          <a:prstGeom prst="rect">
            <a:avLst/>
          </a:prstGeom>
          <a:noFill/>
        </p:spPr>
        <p:txBody>
          <a:bodyPr wrap="square" lIns="0" tIns="0" rIns="0" bIns="0" anchor="t">
            <a:spAutoFit/>
          </a:bodyPr>
          <a:lstStyle/>
          <a:p>
            <a:pPr algn="l"/>
            <a:r>
              <a:rPr sz="1000" b="1" i="0">
                <a:solidFill>
                  <a:srgbClr val="E8E8F0"/>
                </a:solidFill>
                <a:latin typeface="Consolas"/>
              </a:rPr>
              <a:t> 50 </a:t>
            </a:r>
            <a:r>
              <a:rPr sz="1000" b="0" i="0">
                <a:solidFill>
                  <a:srgbClr val="7878A0"/>
                </a:solidFill>
                <a:latin typeface="Consolas"/>
              </a:rPr>
              <a:t> official-site pages</a:t>
            </a:r>
            <a:endParaRPr sz="1000" b="0" i="0">
              <a:solidFill>
                <a:srgbClr val="7878A0"/>
              </a:solidFill>
              <a:latin typeface="Consolas"/>
            </a:endParaRPr>
          </a:p>
        </p:txBody>
      </p:sp>
      <p:sp>
        <p:nvSpPr>
          <p:cNvPr id="40" name="Rounded Rectangle 39"/>
          <p:cNvSpPr/>
          <p:nvPr/>
        </p:nvSpPr>
        <p:spPr>
          <a:xfrm>
            <a:off x="2615184" y="4206240"/>
            <a:ext cx="1768449"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15184" y="4242816"/>
            <a:ext cx="1768449" cy="292608"/>
          </a:xfrm>
          <a:prstGeom prst="rect">
            <a:avLst/>
          </a:prstGeom>
          <a:noFill/>
        </p:spPr>
        <p:txBody>
          <a:bodyPr wrap="square" lIns="0" tIns="0" rIns="0" bIns="0" anchor="t">
            <a:spAutoFit/>
          </a:bodyPr>
          <a:lstStyle/>
          <a:p>
            <a:pPr algn="l"/>
            <a:r>
              <a:rPr sz="1000" b="1" i="0">
                <a:solidFill>
                  <a:srgbClr val="E8E8F0"/>
                </a:solidFill>
                <a:latin typeface="Consolas"/>
              </a:rPr>
              <a:t> 29 </a:t>
            </a:r>
            <a:r>
              <a:rPr sz="1000" b="0" i="0">
                <a:solidFill>
                  <a:srgbClr val="7878A0"/>
                </a:solidFill>
                <a:latin typeface="Consolas"/>
              </a:rPr>
              <a:t> wrong-info pairs</a:t>
            </a:r>
            <a:endParaRPr sz="1000" b="0" i="0">
              <a:solidFill>
                <a:srgbClr val="7878A0"/>
              </a:solidFill>
              <a:latin typeface="Consolas"/>
            </a:endParaRPr>
          </a:p>
        </p:txBody>
      </p:sp>
      <p:sp>
        <p:nvSpPr>
          <p:cNvPr id="42" name="Rounded Rectangle 41"/>
          <p:cNvSpPr/>
          <p:nvPr/>
        </p:nvSpPr>
        <p:spPr>
          <a:xfrm>
            <a:off x="4456785" y="4206240"/>
            <a:ext cx="1843430"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56785" y="4242816"/>
            <a:ext cx="1843430" cy="292608"/>
          </a:xfrm>
          <a:prstGeom prst="rect">
            <a:avLst/>
          </a:prstGeom>
          <a:noFill/>
        </p:spPr>
        <p:txBody>
          <a:bodyPr wrap="square" lIns="0" tIns="0" rIns="0" bIns="0" anchor="t">
            <a:spAutoFit/>
          </a:bodyPr>
          <a:lstStyle/>
          <a:p>
            <a:pPr algn="l"/>
            <a:r>
              <a:rPr sz="1000" b="1" i="0">
                <a:solidFill>
                  <a:srgbClr val="E8E8F0"/>
                </a:solidFill>
                <a:latin typeface="Consolas"/>
              </a:rPr>
              <a:t> 22 </a:t>
            </a:r>
            <a:r>
              <a:rPr sz="1000" b="0" i="0">
                <a:solidFill>
                  <a:srgbClr val="7878A0"/>
                </a:solidFill>
                <a:latin typeface="Consolas"/>
              </a:rPr>
              <a:t> wheelchair venues</a:t>
            </a:r>
            <a:endParaRPr sz="1000" b="0" i="0">
              <a:solidFill>
                <a:srgbClr val="7878A0"/>
              </a:solidFill>
              <a:latin typeface="Consolas"/>
            </a:endParaRPr>
          </a:p>
        </p:txBody>
      </p:sp>
      <p:sp>
        <p:nvSpPr>
          <p:cNvPr id="44" name="Rounded Rectangle 43"/>
          <p:cNvSpPr/>
          <p:nvPr/>
        </p:nvSpPr>
        <p:spPr>
          <a:xfrm>
            <a:off x="6373367" y="4206240"/>
            <a:ext cx="1468526"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7" y="4242816"/>
            <a:ext cx="1468526" cy="292608"/>
          </a:xfrm>
          <a:prstGeom prst="rect">
            <a:avLst/>
          </a:prstGeom>
          <a:noFill/>
        </p:spPr>
        <p:txBody>
          <a:bodyPr wrap="square" lIns="0" tIns="0" rIns="0" bIns="0" anchor="t">
            <a:spAutoFit/>
          </a:bodyPr>
          <a:lstStyle/>
          <a:p>
            <a:pPr algn="l"/>
            <a:r>
              <a:rPr sz="1000" b="1" i="0">
                <a:solidFill>
                  <a:srgbClr val="E8E8F0"/>
                </a:solidFill>
                <a:latin typeface="Consolas"/>
              </a:rPr>
              <a:t> 50 </a:t>
            </a:r>
            <a:r>
              <a:rPr sz="1000" b="0" i="0">
                <a:solidFill>
                  <a:srgbClr val="7878A0"/>
                </a:solidFill>
                <a:latin typeface="Consolas"/>
              </a:rPr>
              <a:t> pet-friendly</a:t>
            </a:r>
            <a:endParaRPr sz="1000" b="0" i="0">
              <a:solidFill>
                <a:srgbClr val="7878A0"/>
              </a:solidFill>
              <a:latin typeface="Consolas"/>
            </a:endParaRPr>
          </a:p>
        </p:txBody>
      </p:sp>
      <p:sp>
        <p:nvSpPr>
          <p:cNvPr id="46" name="Rounded Rectangle 45"/>
          <p:cNvSpPr/>
          <p:nvPr/>
        </p:nvSpPr>
        <p:spPr>
          <a:xfrm>
            <a:off x="7915045" y="4206240"/>
            <a:ext cx="1018641"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15045" y="4242816"/>
            <a:ext cx="1018641" cy="292608"/>
          </a:xfrm>
          <a:prstGeom prst="rect">
            <a:avLst/>
          </a:prstGeom>
          <a:noFill/>
        </p:spPr>
        <p:txBody>
          <a:bodyPr wrap="square" lIns="0" tIns="0" rIns="0" bIns="0" anchor="t">
            <a:spAutoFit/>
          </a:bodyPr>
          <a:lstStyle/>
          <a:p>
            <a:pPr algn="l"/>
            <a:r>
              <a:rPr sz="1000" b="1" i="0">
                <a:solidFill>
                  <a:srgbClr val="E8E8F0"/>
                </a:solidFill>
                <a:latin typeface="Consolas"/>
              </a:rPr>
              <a:t> 94 </a:t>
            </a:r>
            <a:r>
              <a:rPr sz="1000" b="0" i="0">
                <a:solidFill>
                  <a:srgbClr val="7878A0"/>
                </a:solidFill>
                <a:latin typeface="Consolas"/>
              </a:rPr>
              <a:t> events</a:t>
            </a:r>
            <a:endParaRPr sz="1000" b="0" i="0">
              <a:solidFill>
                <a:srgbClr val="7878A0"/>
              </a:solidFill>
              <a:latin typeface="Consolas"/>
            </a:endParaRPr>
          </a:p>
        </p:txBody>
      </p:sp>
      <p:sp>
        <p:nvSpPr>
          <p:cNvPr id="48" name="Rounded Rectangle 47"/>
          <p:cNvSpPr/>
          <p:nvPr/>
        </p:nvSpPr>
        <p:spPr>
          <a:xfrm>
            <a:off x="9006838" y="4206240"/>
            <a:ext cx="2218334" cy="292608"/>
          </a:xfrm>
          <a:prstGeom prst="roundRect">
            <a:avLst>
              <a:gd name="adj" fmla="val 6000"/>
            </a:avLst>
          </a:prstGeom>
          <a:solidFill>
            <a:srgbClr val="1A1A24"/>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006838" y="4242816"/>
            <a:ext cx="2218334" cy="292608"/>
          </a:xfrm>
          <a:prstGeom prst="rect">
            <a:avLst/>
          </a:prstGeom>
          <a:noFill/>
        </p:spPr>
        <p:txBody>
          <a:bodyPr wrap="square" lIns="0" tIns="0" rIns="0" bIns="0" anchor="t">
            <a:spAutoFit/>
          </a:bodyPr>
          <a:lstStyle/>
          <a:p>
            <a:pPr algn="l"/>
            <a:r>
              <a:rPr sz="1000" b="1" i="0">
                <a:solidFill>
                  <a:srgbClr val="E8E8F0"/>
                </a:solidFill>
                <a:latin typeface="Consolas"/>
              </a:rPr>
              <a:t> 2,415 </a:t>
            </a:r>
            <a:r>
              <a:rPr sz="1000" b="0" i="0">
                <a:solidFill>
                  <a:srgbClr val="7878A0"/>
                </a:solidFill>
                <a:latin typeface="Consolas"/>
              </a:rPr>
              <a:t> travel-matrix pairs</a:t>
            </a:r>
            <a:endParaRPr sz="1000" b="0" i="0">
              <a:solidFill>
                <a:srgbClr val="7878A0"/>
              </a:solidFill>
              <a:latin typeface="Consolas"/>
            </a:endParaRPr>
          </a:p>
        </p:txBody>
      </p:sp>
      <p:sp>
        <p:nvSpPr>
          <p:cNvPr id="50" name="Rounded Rectangle 49"/>
          <p:cNvSpPr/>
          <p:nvPr/>
        </p:nvSpPr>
        <p:spPr>
          <a:xfrm>
            <a:off x="548640" y="5074920"/>
            <a:ext cx="11064240" cy="1417320"/>
          </a:xfrm>
          <a:prstGeom prst="roundRect">
            <a:avLst>
              <a:gd name="adj" fmla="val 6000"/>
            </a:avLst>
          </a:prstGeom>
          <a:solidFill>
            <a:srgbClr val="2A2012"/>
          </a:solidFill>
          <a:ln w="9525">
            <a:solidFill>
              <a:srgbClr val="664E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 y="5212080"/>
            <a:ext cx="10789920" cy="1143000"/>
          </a:xfrm>
          <a:prstGeom prst="rect">
            <a:avLst/>
          </a:prstGeom>
          <a:noFill/>
        </p:spPr>
        <p:txBody>
          <a:bodyPr wrap="square" lIns="0" tIns="0" rIns="0" bIns="0" anchor="t">
            <a:spAutoFit/>
          </a:bodyPr>
          <a:lstStyle/>
          <a:p>
            <a:pPr algn="l"/>
            <a:r>
              <a:rPr sz="1100" b="0" i="0">
                <a:solidFill>
                  <a:srgbClr val="C8B08A"/>
                </a:solidFill>
                <a:latin typeface="Calibri"/>
              </a:rPr>
              <a:t>Every venue ships with: </a:t>
            </a:r>
            <a:r>
              <a:rPr sz="1100" b="0" i="0">
                <a:solidFill>
                  <a:srgbClr val="E8E8F0"/>
                </a:solidFill>
                <a:latin typeface="Calibri"/>
              </a:rPr>
              <a:t>a Yelp-style listing + 3–5 source docs (blogs + forum threads) + one official-site page</a:t>
            </a:r>
            <a:r>
              <a:rPr sz="1100" b="0" i="0">
                <a:solidFill>
                  <a:srgbClr val="C8B08A"/>
                </a:solidFill>
                <a:latin typeface="Calibri"/>
              </a:rPr>
              <a:t>.  29 venues carry </a:t>
            </a:r>
            <a:r>
              <a:rPr sz="1100" b="1" i="0">
                <a:solidFill>
                  <a:srgbClr val="E8E8F0"/>
                </a:solidFill>
                <a:latin typeface="Calibri"/>
              </a:rPr>
              <a:t>wrong-info pairs</a:t>
            </a:r>
            <a:r>
              <a:rPr sz="1100" b="0" i="0">
                <a:solidFill>
                  <a:srgbClr val="C8B08A"/>
                </a:solidFill>
                <a:latin typeface="Calibri"/>
              </a:rPr>
              <a:t> — a factual error (stale hours, wrong price, missing rule) lives in one source while the correction lives in another. Each pair is registered atomically with both </a:t>
            </a:r>
            <a:r>
              <a:rPr sz="1000" b="1" i="0">
                <a:solidFill>
                  <a:srgbClr val="FF6C8E"/>
                </a:solidFill>
                <a:latin typeface="Consolas"/>
              </a:rPr>
              <a:t>incorrect_source</a:t>
            </a:r>
            <a:r>
              <a:rPr sz="1100" b="0" i="0">
                <a:solidFill>
                  <a:srgbClr val="C8B08A"/>
                </a:solidFill>
                <a:latin typeface="Calibri"/>
              </a:rPr>
              <a:t> and </a:t>
            </a:r>
            <a:r>
              <a:rPr sz="1000" b="1" i="0">
                <a:solidFill>
                  <a:srgbClr val="6CFFC8"/>
                </a:solidFill>
                <a:latin typeface="Consolas"/>
              </a:rPr>
              <a:t>truth_carrier</a:t>
            </a:r>
            <a:r>
              <a:rPr sz="1100" b="0" i="0">
                <a:solidFill>
                  <a:srgbClr val="C8B08A"/>
                </a:solidFill>
                <a:latin typeface="Calibri"/>
              </a:rPr>
              <a:t> doc IDs (P6-T22). The agent's job is to find both.</a:t>
            </a:r>
            <a:endParaRPr sz="1100" b="0" i="0">
              <a:solidFill>
                <a:srgbClr val="C8B08A"/>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03  —  ONE VENUE IN THE CORPUS</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What the solving agent actually sees</a:t>
            </a:r>
            <a:endParaRPr sz="2200" b="0" i="0">
              <a:solidFill>
                <a:srgbClr val="E8E8F0"/>
              </a:solidFill>
              <a:latin typeface="Georgia" panose="02040502050405090303"/>
            </a:endParaRPr>
          </a:p>
        </p:txBody>
      </p:sp>
      <p:sp>
        <p:nvSpPr>
          <p:cNvPr id="4" name="TextBox 3"/>
          <p:cNvSpPr txBox="1"/>
          <p:nvPr/>
        </p:nvSpPr>
        <p:spPr>
          <a:xfrm>
            <a:off x="548640" y="960120"/>
            <a:ext cx="10972800" cy="228600"/>
          </a:xfrm>
          <a:prstGeom prst="rect">
            <a:avLst/>
          </a:prstGeom>
          <a:noFill/>
        </p:spPr>
        <p:txBody>
          <a:bodyPr wrap="square" lIns="0" tIns="0" rIns="0" bIns="0" anchor="t">
            <a:spAutoFit/>
          </a:bodyPr>
          <a:lstStyle/>
          <a:p>
            <a:pPr algn="l"/>
            <a:r>
              <a:rPr sz="1000" b="0" i="0">
                <a:solidFill>
                  <a:srgbClr val="7878A0"/>
                </a:solidFill>
                <a:latin typeface="Consolas"/>
              </a:rPr>
              <a:t>VENUE:  Corkbuzz Chelsea Market  ·  wine bar  ·  Chelsea / Meatpacking District</a:t>
            </a:r>
            <a:endParaRPr sz="1000" b="0" i="0">
              <a:solidFill>
                <a:srgbClr val="7878A0"/>
              </a:solidFill>
              <a:latin typeface="Consolas"/>
            </a:endParaRPr>
          </a:p>
        </p:txBody>
      </p:sp>
      <p:sp>
        <p:nvSpPr>
          <p:cNvPr id="5" name="Rounded Rectangle 4"/>
          <p:cNvSpPr/>
          <p:nvPr/>
        </p:nvSpPr>
        <p:spPr>
          <a:xfrm>
            <a:off x="548640" y="1325880"/>
            <a:ext cx="3703320" cy="4937760"/>
          </a:xfrm>
          <a:prstGeom prst="roundRect">
            <a:avLst>
              <a:gd name="adj" fmla="val 6000"/>
            </a:avLst>
          </a:prstGeom>
          <a:solidFill>
            <a:srgbClr val="13131A"/>
          </a:solidFill>
          <a:ln w="9525">
            <a:solidFill>
              <a:srgbClr val="FF6C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17320"/>
            <a:ext cx="3429000" cy="228600"/>
          </a:xfrm>
          <a:prstGeom prst="rect">
            <a:avLst/>
          </a:prstGeom>
          <a:noFill/>
        </p:spPr>
        <p:txBody>
          <a:bodyPr wrap="square" lIns="0" tIns="0" rIns="0" bIns="0" anchor="t">
            <a:spAutoFit/>
          </a:bodyPr>
          <a:lstStyle/>
          <a:p>
            <a:pPr algn="l"/>
            <a:r>
              <a:rPr sz="900" b="1" i="0">
                <a:solidFill>
                  <a:srgbClr val="FF6C8E"/>
                </a:solidFill>
                <a:latin typeface="Consolas"/>
              </a:rPr>
              <a:t>▸  search_yelp() result</a:t>
            </a:r>
            <a:endParaRPr sz="900" b="1" i="0">
              <a:solidFill>
                <a:srgbClr val="FF6C8E"/>
              </a:solidFill>
              <a:latin typeface="Consolas"/>
            </a:endParaRPr>
          </a:p>
        </p:txBody>
      </p:sp>
      <p:sp>
        <p:nvSpPr>
          <p:cNvPr id="7" name="TextBox 6"/>
          <p:cNvSpPr txBox="1"/>
          <p:nvPr/>
        </p:nvSpPr>
        <p:spPr>
          <a:xfrm>
            <a:off x="685800" y="1691640"/>
            <a:ext cx="3429000" cy="274320"/>
          </a:xfrm>
          <a:prstGeom prst="rect">
            <a:avLst/>
          </a:prstGeom>
          <a:noFill/>
        </p:spPr>
        <p:txBody>
          <a:bodyPr wrap="square" lIns="0" tIns="0" rIns="0" bIns="0" anchor="t">
            <a:spAutoFit/>
          </a:bodyPr>
          <a:lstStyle/>
          <a:p>
            <a:pPr algn="l"/>
            <a:r>
              <a:rPr sz="1300" b="1" i="0">
                <a:solidFill>
                  <a:srgbClr val="E8E8F0"/>
                </a:solidFill>
                <a:latin typeface="Calibri"/>
              </a:rPr>
              <a:t>Corkbuzz Chelsea Market</a:t>
            </a:r>
            <a:endParaRPr sz="1300" b="1" i="0">
              <a:solidFill>
                <a:srgbClr val="E8E8F0"/>
              </a:solidFill>
              <a:latin typeface="Calibri"/>
            </a:endParaRPr>
          </a:p>
        </p:txBody>
      </p:sp>
      <p:sp>
        <p:nvSpPr>
          <p:cNvPr id="8" name="TextBox 7"/>
          <p:cNvSpPr txBox="1"/>
          <p:nvPr/>
        </p:nvSpPr>
        <p:spPr>
          <a:xfrm>
            <a:off x="685800" y="1965960"/>
            <a:ext cx="3429000" cy="228600"/>
          </a:xfrm>
          <a:prstGeom prst="rect">
            <a:avLst/>
          </a:prstGeom>
          <a:noFill/>
        </p:spPr>
        <p:txBody>
          <a:bodyPr wrap="square" lIns="0" tIns="0" rIns="0" bIns="0" anchor="t">
            <a:spAutoFit/>
          </a:bodyPr>
          <a:lstStyle/>
          <a:p>
            <a:pPr algn="l"/>
            <a:r>
              <a:rPr sz="1000" b="0" i="0">
                <a:solidFill>
                  <a:srgbClr val="FFA84A"/>
                </a:solidFill>
                <a:latin typeface="Consolas"/>
              </a:rPr>
              <a:t>★★★★☆  4.0  ·  47 reviews  ·  $$</a:t>
            </a:r>
            <a:endParaRPr sz="1000" b="0" i="0">
              <a:solidFill>
                <a:srgbClr val="FFA84A"/>
              </a:solidFill>
              <a:latin typeface="Consolas"/>
            </a:endParaRPr>
          </a:p>
        </p:txBody>
      </p:sp>
      <p:sp>
        <p:nvSpPr>
          <p:cNvPr id="9" name="TextBox 8"/>
          <p:cNvSpPr txBox="1"/>
          <p:nvPr/>
        </p:nvSpPr>
        <p:spPr>
          <a:xfrm>
            <a:off x="685800" y="2194560"/>
            <a:ext cx="3429000" cy="228600"/>
          </a:xfrm>
          <a:prstGeom prst="rect">
            <a:avLst/>
          </a:prstGeom>
          <a:noFill/>
        </p:spPr>
        <p:txBody>
          <a:bodyPr wrap="square" lIns="0" tIns="0" rIns="0" bIns="0" anchor="t">
            <a:spAutoFit/>
          </a:bodyPr>
          <a:lstStyle/>
          <a:p>
            <a:pPr algn="l"/>
            <a:r>
              <a:rPr sz="900" b="0" i="0">
                <a:solidFill>
                  <a:srgbClr val="7878A0"/>
                </a:solidFill>
                <a:latin typeface="Calibri"/>
              </a:rPr>
              <a:t>wine bar  ·  Chelsea  ·  75 9th Ave</a:t>
            </a:r>
            <a:endParaRPr sz="900" b="0" i="0">
              <a:solidFill>
                <a:srgbClr val="7878A0"/>
              </a:solidFill>
              <a:latin typeface="Calibri"/>
            </a:endParaRPr>
          </a:p>
        </p:txBody>
      </p:sp>
      <p:sp>
        <p:nvSpPr>
          <p:cNvPr id="10" name="TextBox 9"/>
          <p:cNvSpPr txBox="1"/>
          <p:nvPr/>
        </p:nvSpPr>
        <p:spPr>
          <a:xfrm>
            <a:off x="685800" y="2514600"/>
            <a:ext cx="3429000" cy="201168"/>
          </a:xfrm>
          <a:prstGeom prst="rect">
            <a:avLst/>
          </a:prstGeom>
          <a:noFill/>
        </p:spPr>
        <p:txBody>
          <a:bodyPr wrap="square" lIns="0" tIns="0" rIns="0" bIns="0" anchor="t">
            <a:spAutoFit/>
          </a:bodyPr>
          <a:lstStyle/>
          <a:p>
            <a:pPr algn="l"/>
            <a:r>
              <a:rPr sz="900" b="0" i="0">
                <a:solidFill>
                  <a:srgbClr val="7878A0"/>
                </a:solidFill>
                <a:latin typeface="Consolas"/>
              </a:rPr>
              <a:t>HOURS</a:t>
            </a:r>
            <a:endParaRPr sz="900" b="0" i="0">
              <a:solidFill>
                <a:srgbClr val="7878A0"/>
              </a:solidFill>
              <a:latin typeface="Consolas"/>
            </a:endParaRPr>
          </a:p>
        </p:txBody>
      </p:sp>
      <p:sp>
        <p:nvSpPr>
          <p:cNvPr id="11" name="TextBox 10"/>
          <p:cNvSpPr txBox="1"/>
          <p:nvPr/>
        </p:nvSpPr>
        <p:spPr>
          <a:xfrm>
            <a:off x="777240" y="2743200"/>
            <a:ext cx="822960" cy="201168"/>
          </a:xfrm>
          <a:prstGeom prst="rect">
            <a:avLst/>
          </a:prstGeom>
          <a:noFill/>
        </p:spPr>
        <p:txBody>
          <a:bodyPr wrap="square" lIns="0" tIns="0" rIns="0" bIns="0" anchor="t">
            <a:spAutoFit/>
          </a:bodyPr>
          <a:lstStyle/>
          <a:p>
            <a:pPr algn="l"/>
            <a:r>
              <a:rPr sz="1000" b="0" i="0">
                <a:solidFill>
                  <a:srgbClr val="7878A0"/>
                </a:solidFill>
                <a:latin typeface="Consolas"/>
              </a:rPr>
              <a:t>Mon–Thu</a:t>
            </a:r>
            <a:endParaRPr sz="1000" b="0" i="0">
              <a:solidFill>
                <a:srgbClr val="7878A0"/>
              </a:solidFill>
              <a:latin typeface="Consolas"/>
            </a:endParaRPr>
          </a:p>
        </p:txBody>
      </p:sp>
      <p:sp>
        <p:nvSpPr>
          <p:cNvPr id="12" name="TextBox 11"/>
          <p:cNvSpPr txBox="1"/>
          <p:nvPr/>
        </p:nvSpPr>
        <p:spPr>
          <a:xfrm>
            <a:off x="1600200" y="2743200"/>
            <a:ext cx="1645920" cy="201168"/>
          </a:xfrm>
          <a:prstGeom prst="rect">
            <a:avLst/>
          </a:prstGeom>
          <a:noFill/>
        </p:spPr>
        <p:txBody>
          <a:bodyPr wrap="square" lIns="0" tIns="0" rIns="0" bIns="0" anchor="t">
            <a:spAutoFit/>
          </a:bodyPr>
          <a:lstStyle/>
          <a:p>
            <a:pPr algn="l"/>
            <a:r>
              <a:rPr sz="1000" b="0" i="0">
                <a:solidFill>
                  <a:srgbClr val="E8E8F0"/>
                </a:solidFill>
                <a:latin typeface="Consolas"/>
              </a:rPr>
              <a:t>12:00 – 22:00</a:t>
            </a:r>
            <a:endParaRPr sz="1000" b="0" i="0">
              <a:solidFill>
                <a:srgbClr val="E8E8F0"/>
              </a:solidFill>
              <a:latin typeface="Consolas"/>
            </a:endParaRPr>
          </a:p>
        </p:txBody>
      </p:sp>
      <p:sp>
        <p:nvSpPr>
          <p:cNvPr id="13" name="TextBox 12"/>
          <p:cNvSpPr txBox="1"/>
          <p:nvPr/>
        </p:nvSpPr>
        <p:spPr>
          <a:xfrm>
            <a:off x="777240" y="2944368"/>
            <a:ext cx="822960" cy="201168"/>
          </a:xfrm>
          <a:prstGeom prst="rect">
            <a:avLst/>
          </a:prstGeom>
          <a:noFill/>
        </p:spPr>
        <p:txBody>
          <a:bodyPr wrap="square" lIns="0" tIns="0" rIns="0" bIns="0" anchor="t">
            <a:spAutoFit/>
          </a:bodyPr>
          <a:lstStyle/>
          <a:p>
            <a:pPr algn="l"/>
            <a:r>
              <a:rPr sz="1000" b="0" i="0">
                <a:solidFill>
                  <a:srgbClr val="7878A0"/>
                </a:solidFill>
                <a:latin typeface="Consolas"/>
              </a:rPr>
              <a:t>Fri</a:t>
            </a:r>
            <a:endParaRPr sz="1000" b="0" i="0">
              <a:solidFill>
                <a:srgbClr val="7878A0"/>
              </a:solidFill>
              <a:latin typeface="Consolas"/>
            </a:endParaRPr>
          </a:p>
        </p:txBody>
      </p:sp>
      <p:sp>
        <p:nvSpPr>
          <p:cNvPr id="14" name="TextBox 13"/>
          <p:cNvSpPr txBox="1"/>
          <p:nvPr/>
        </p:nvSpPr>
        <p:spPr>
          <a:xfrm>
            <a:off x="1600200" y="2944368"/>
            <a:ext cx="1645920" cy="201168"/>
          </a:xfrm>
          <a:prstGeom prst="rect">
            <a:avLst/>
          </a:prstGeom>
          <a:noFill/>
        </p:spPr>
        <p:txBody>
          <a:bodyPr wrap="square" lIns="0" tIns="0" rIns="0" bIns="0" anchor="t">
            <a:spAutoFit/>
          </a:bodyPr>
          <a:lstStyle/>
          <a:p>
            <a:pPr algn="l"/>
            <a:r>
              <a:rPr sz="1000" b="1" i="0">
                <a:solidFill>
                  <a:srgbClr val="FF6C8E"/>
                </a:solidFill>
                <a:latin typeface="Consolas"/>
              </a:rPr>
              <a:t>12:00 – 00:00</a:t>
            </a:r>
            <a:endParaRPr sz="1000" b="1" i="0">
              <a:solidFill>
                <a:srgbClr val="FF6C8E"/>
              </a:solidFill>
              <a:latin typeface="Consolas"/>
            </a:endParaRPr>
          </a:p>
        </p:txBody>
      </p:sp>
      <p:sp>
        <p:nvSpPr>
          <p:cNvPr id="15" name="TextBox 14"/>
          <p:cNvSpPr txBox="1"/>
          <p:nvPr/>
        </p:nvSpPr>
        <p:spPr>
          <a:xfrm>
            <a:off x="3246120" y="2944368"/>
            <a:ext cx="822960" cy="201168"/>
          </a:xfrm>
          <a:prstGeom prst="rect">
            <a:avLst/>
          </a:prstGeom>
          <a:noFill/>
        </p:spPr>
        <p:txBody>
          <a:bodyPr wrap="square" lIns="0" tIns="0" rIns="0" bIns="0" anchor="t">
            <a:spAutoFit/>
          </a:bodyPr>
          <a:lstStyle/>
          <a:p>
            <a:pPr algn="l"/>
            <a:r>
              <a:rPr sz="900" b="0" i="1">
                <a:solidFill>
                  <a:srgbClr val="FF6C8E"/>
                </a:solidFill>
                <a:latin typeface="Consolas"/>
              </a:rPr>
              <a:t>← stale</a:t>
            </a:r>
            <a:endParaRPr sz="900" b="0" i="1">
              <a:solidFill>
                <a:srgbClr val="FF6C8E"/>
              </a:solidFill>
              <a:latin typeface="Consolas"/>
            </a:endParaRPr>
          </a:p>
        </p:txBody>
      </p:sp>
      <p:sp>
        <p:nvSpPr>
          <p:cNvPr id="16" name="TextBox 15"/>
          <p:cNvSpPr txBox="1"/>
          <p:nvPr/>
        </p:nvSpPr>
        <p:spPr>
          <a:xfrm>
            <a:off x="777240" y="3145536"/>
            <a:ext cx="822960" cy="201168"/>
          </a:xfrm>
          <a:prstGeom prst="rect">
            <a:avLst/>
          </a:prstGeom>
          <a:noFill/>
        </p:spPr>
        <p:txBody>
          <a:bodyPr wrap="square" lIns="0" tIns="0" rIns="0" bIns="0" anchor="t">
            <a:spAutoFit/>
          </a:bodyPr>
          <a:lstStyle/>
          <a:p>
            <a:pPr algn="l"/>
            <a:r>
              <a:rPr sz="1000" b="0" i="0">
                <a:solidFill>
                  <a:srgbClr val="7878A0"/>
                </a:solidFill>
                <a:latin typeface="Consolas"/>
              </a:rPr>
              <a:t>Sat</a:t>
            </a:r>
            <a:endParaRPr sz="1000" b="0" i="0">
              <a:solidFill>
                <a:srgbClr val="7878A0"/>
              </a:solidFill>
              <a:latin typeface="Consolas"/>
            </a:endParaRPr>
          </a:p>
        </p:txBody>
      </p:sp>
      <p:sp>
        <p:nvSpPr>
          <p:cNvPr id="17" name="TextBox 16"/>
          <p:cNvSpPr txBox="1"/>
          <p:nvPr/>
        </p:nvSpPr>
        <p:spPr>
          <a:xfrm>
            <a:off x="1600200" y="3145536"/>
            <a:ext cx="1645920" cy="201168"/>
          </a:xfrm>
          <a:prstGeom prst="rect">
            <a:avLst/>
          </a:prstGeom>
          <a:noFill/>
        </p:spPr>
        <p:txBody>
          <a:bodyPr wrap="square" lIns="0" tIns="0" rIns="0" bIns="0" anchor="t">
            <a:spAutoFit/>
          </a:bodyPr>
          <a:lstStyle/>
          <a:p>
            <a:pPr algn="l"/>
            <a:r>
              <a:rPr sz="1000" b="0" i="0">
                <a:solidFill>
                  <a:srgbClr val="E8E8F0"/>
                </a:solidFill>
                <a:latin typeface="Consolas"/>
              </a:rPr>
              <a:t>11:00 – 22:00</a:t>
            </a:r>
            <a:endParaRPr sz="1000" b="0" i="0">
              <a:solidFill>
                <a:srgbClr val="E8E8F0"/>
              </a:solidFill>
              <a:latin typeface="Consolas"/>
            </a:endParaRPr>
          </a:p>
        </p:txBody>
      </p:sp>
      <p:sp>
        <p:nvSpPr>
          <p:cNvPr id="18" name="TextBox 17"/>
          <p:cNvSpPr txBox="1"/>
          <p:nvPr/>
        </p:nvSpPr>
        <p:spPr>
          <a:xfrm>
            <a:off x="777240" y="3346704"/>
            <a:ext cx="822960" cy="201168"/>
          </a:xfrm>
          <a:prstGeom prst="rect">
            <a:avLst/>
          </a:prstGeom>
          <a:noFill/>
        </p:spPr>
        <p:txBody>
          <a:bodyPr wrap="square" lIns="0" tIns="0" rIns="0" bIns="0" anchor="t">
            <a:spAutoFit/>
          </a:bodyPr>
          <a:lstStyle/>
          <a:p>
            <a:pPr algn="l"/>
            <a:r>
              <a:rPr sz="1000" b="0" i="0">
                <a:solidFill>
                  <a:srgbClr val="7878A0"/>
                </a:solidFill>
                <a:latin typeface="Consolas"/>
              </a:rPr>
              <a:t>Sun</a:t>
            </a:r>
            <a:endParaRPr sz="1000" b="0" i="0">
              <a:solidFill>
                <a:srgbClr val="7878A0"/>
              </a:solidFill>
              <a:latin typeface="Consolas"/>
            </a:endParaRPr>
          </a:p>
        </p:txBody>
      </p:sp>
      <p:sp>
        <p:nvSpPr>
          <p:cNvPr id="19" name="TextBox 18"/>
          <p:cNvSpPr txBox="1"/>
          <p:nvPr/>
        </p:nvSpPr>
        <p:spPr>
          <a:xfrm>
            <a:off x="1600200" y="3346704"/>
            <a:ext cx="1645920" cy="201168"/>
          </a:xfrm>
          <a:prstGeom prst="rect">
            <a:avLst/>
          </a:prstGeom>
          <a:noFill/>
        </p:spPr>
        <p:txBody>
          <a:bodyPr wrap="square" lIns="0" tIns="0" rIns="0" bIns="0" anchor="t">
            <a:spAutoFit/>
          </a:bodyPr>
          <a:lstStyle/>
          <a:p>
            <a:pPr algn="l"/>
            <a:r>
              <a:rPr sz="1000" b="0" i="0">
                <a:solidFill>
                  <a:srgbClr val="E8E8F0"/>
                </a:solidFill>
                <a:latin typeface="Consolas"/>
              </a:rPr>
              <a:t>11:00 – 21:00</a:t>
            </a:r>
            <a:endParaRPr sz="1000" b="0" i="0">
              <a:solidFill>
                <a:srgbClr val="E8E8F0"/>
              </a:solidFill>
              <a:latin typeface="Consolas"/>
            </a:endParaRPr>
          </a:p>
        </p:txBody>
      </p:sp>
      <p:sp>
        <p:nvSpPr>
          <p:cNvPr id="20" name="TextBox 19"/>
          <p:cNvSpPr txBox="1"/>
          <p:nvPr/>
        </p:nvSpPr>
        <p:spPr>
          <a:xfrm>
            <a:off x="685800" y="3703320"/>
            <a:ext cx="3429000" cy="201168"/>
          </a:xfrm>
          <a:prstGeom prst="rect">
            <a:avLst/>
          </a:prstGeom>
          <a:noFill/>
        </p:spPr>
        <p:txBody>
          <a:bodyPr wrap="square" lIns="0" tIns="0" rIns="0" bIns="0" anchor="t">
            <a:spAutoFit/>
          </a:bodyPr>
          <a:lstStyle/>
          <a:p>
            <a:pPr algn="l"/>
            <a:r>
              <a:rPr sz="900" b="0" i="0">
                <a:solidFill>
                  <a:srgbClr val="7878A0"/>
                </a:solidFill>
                <a:latin typeface="Consolas"/>
              </a:rPr>
              <a:t>TOP REVIEW</a:t>
            </a:r>
            <a:endParaRPr sz="900" b="0" i="0">
              <a:solidFill>
                <a:srgbClr val="7878A0"/>
              </a:solidFill>
              <a:latin typeface="Consolas"/>
            </a:endParaRPr>
          </a:p>
        </p:txBody>
      </p:sp>
      <p:sp>
        <p:nvSpPr>
          <p:cNvPr id="21" name="Rounded Rectangle 20"/>
          <p:cNvSpPr/>
          <p:nvPr/>
        </p:nvSpPr>
        <p:spPr>
          <a:xfrm>
            <a:off x="685800" y="3931920"/>
            <a:ext cx="3429000" cy="64008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995928"/>
            <a:ext cx="3246120" cy="548640"/>
          </a:xfrm>
          <a:prstGeom prst="rect">
            <a:avLst/>
          </a:prstGeom>
          <a:noFill/>
        </p:spPr>
        <p:txBody>
          <a:bodyPr wrap="square" lIns="0" tIns="0" rIns="0" bIns="0" anchor="t">
            <a:spAutoFit/>
          </a:bodyPr>
          <a:lstStyle/>
          <a:p>
            <a:pPr algn="l"/>
            <a:r>
              <a:rPr sz="950" b="0" i="1">
                <a:solidFill>
                  <a:srgbClr val="E8E8F0"/>
                </a:solidFill>
                <a:latin typeface="Calibri"/>
              </a:rPr>
              <a:t>“Great selection of wines by the glass — perfect for a relaxed evening in Chelsea Market.”</a:t>
            </a:r>
            <a:endParaRPr sz="950" b="0" i="1">
              <a:solidFill>
                <a:srgbClr val="E8E8F0"/>
              </a:solidFill>
              <a:latin typeface="Calibri"/>
            </a:endParaRPr>
          </a:p>
        </p:txBody>
      </p:sp>
      <p:sp>
        <p:nvSpPr>
          <p:cNvPr id="23" name="TextBox 22"/>
          <p:cNvSpPr txBox="1"/>
          <p:nvPr/>
        </p:nvSpPr>
        <p:spPr>
          <a:xfrm>
            <a:off x="685800" y="4663440"/>
            <a:ext cx="3429000" cy="201168"/>
          </a:xfrm>
          <a:prstGeom prst="rect">
            <a:avLst/>
          </a:prstGeom>
          <a:noFill/>
        </p:spPr>
        <p:txBody>
          <a:bodyPr wrap="square" lIns="0" tIns="0" rIns="0" bIns="0" anchor="t">
            <a:spAutoFit/>
          </a:bodyPr>
          <a:lstStyle/>
          <a:p>
            <a:pPr algn="l"/>
            <a:r>
              <a:rPr sz="900" b="0" i="0">
                <a:solidFill>
                  <a:srgbClr val="7878A0"/>
                </a:solidFill>
                <a:latin typeface="Consolas"/>
              </a:rPr>
              <a:t>Listing last edited:  2021-03-15  (4 years ago)</a:t>
            </a:r>
            <a:endParaRPr sz="900" b="0" i="0">
              <a:solidFill>
                <a:srgbClr val="7878A0"/>
              </a:solidFill>
              <a:latin typeface="Consolas"/>
            </a:endParaRPr>
          </a:p>
        </p:txBody>
      </p:sp>
      <p:sp>
        <p:nvSpPr>
          <p:cNvPr id="24" name="Rounded Rectangle 23"/>
          <p:cNvSpPr/>
          <p:nvPr/>
        </p:nvSpPr>
        <p:spPr>
          <a:xfrm>
            <a:off x="685800" y="5486400"/>
            <a:ext cx="3429000" cy="640080"/>
          </a:xfrm>
          <a:prstGeom prst="roundRect">
            <a:avLst>
              <a:gd name="adj" fmla="val 6000"/>
            </a:avLst>
          </a:prstGeom>
          <a:solidFill>
            <a:srgbClr val="28141C"/>
          </a:solidFill>
          <a:ln w="9525">
            <a:solidFill>
              <a:srgbClr val="FF6C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577840"/>
            <a:ext cx="3246120" cy="457200"/>
          </a:xfrm>
          <a:prstGeom prst="rect">
            <a:avLst/>
          </a:prstGeom>
          <a:noFill/>
        </p:spPr>
        <p:txBody>
          <a:bodyPr wrap="square" lIns="0" tIns="0" rIns="0" bIns="0" anchor="t">
            <a:spAutoFit/>
          </a:bodyPr>
          <a:lstStyle/>
          <a:p>
            <a:pPr algn="ctr"/>
            <a:r>
              <a:rPr sz="900" b="1" i="0">
                <a:solidFill>
                  <a:srgbClr val="FF6C8E"/>
                </a:solidFill>
                <a:latin typeface="Calibri"/>
              </a:rPr>
              <a:t>⚠  Friday hours stale.  Pandemic-era listing never updated.  ← THE TRAP</a:t>
            </a:r>
            <a:endParaRPr sz="900" b="1" i="0">
              <a:solidFill>
                <a:srgbClr val="FF6C8E"/>
              </a:solidFill>
              <a:latin typeface="Calibri"/>
            </a:endParaRPr>
          </a:p>
        </p:txBody>
      </p:sp>
      <p:sp>
        <p:nvSpPr>
          <p:cNvPr id="26" name="Rounded Rectangle 25"/>
          <p:cNvSpPr/>
          <p:nvPr/>
        </p:nvSpPr>
        <p:spPr>
          <a:xfrm>
            <a:off x="4343400" y="1325880"/>
            <a:ext cx="3703320" cy="493776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1417320"/>
            <a:ext cx="3429000" cy="228600"/>
          </a:xfrm>
          <a:prstGeom prst="rect">
            <a:avLst/>
          </a:prstGeom>
          <a:noFill/>
        </p:spPr>
        <p:txBody>
          <a:bodyPr wrap="square" lIns="0" tIns="0" rIns="0" bIns="0" anchor="t">
            <a:spAutoFit/>
          </a:bodyPr>
          <a:lstStyle/>
          <a:p>
            <a:pPr algn="l"/>
            <a:r>
              <a:rPr sz="900" b="1" i="0">
                <a:solidFill>
                  <a:srgbClr val="6CFFC8"/>
                </a:solidFill>
                <a:latin typeface="Consolas"/>
              </a:rPr>
              <a:t>▸  search_blogs_and_forums() result</a:t>
            </a:r>
            <a:endParaRPr sz="900" b="1" i="0">
              <a:solidFill>
                <a:srgbClr val="6CFFC8"/>
              </a:solidFill>
              <a:latin typeface="Consolas"/>
            </a:endParaRPr>
          </a:p>
        </p:txBody>
      </p:sp>
      <p:sp>
        <p:nvSpPr>
          <p:cNvPr id="28" name="TextBox 27"/>
          <p:cNvSpPr txBox="1"/>
          <p:nvPr/>
        </p:nvSpPr>
        <p:spPr>
          <a:xfrm>
            <a:off x="4480560" y="1691640"/>
            <a:ext cx="3429000" cy="457200"/>
          </a:xfrm>
          <a:prstGeom prst="rect">
            <a:avLst/>
          </a:prstGeom>
          <a:noFill/>
        </p:spPr>
        <p:txBody>
          <a:bodyPr wrap="square" lIns="0" tIns="0" rIns="0" bIns="0" anchor="t">
            <a:spAutoFit/>
          </a:bodyPr>
          <a:lstStyle/>
          <a:p>
            <a:pPr algn="l"/>
            <a:r>
              <a:rPr sz="1100" b="1" i="0">
                <a:solidFill>
                  <a:srgbClr val="E8E8F0"/>
                </a:solidFill>
                <a:latin typeface="Calibri"/>
              </a:rPr>
              <a:t>Corkbuzz Chelsea Market — still good for a Friday hang?</a:t>
            </a:r>
            <a:endParaRPr sz="1100" b="1" i="0">
              <a:solidFill>
                <a:srgbClr val="E8E8F0"/>
              </a:solidFill>
              <a:latin typeface="Calibri"/>
            </a:endParaRPr>
          </a:p>
        </p:txBody>
      </p:sp>
      <p:sp>
        <p:nvSpPr>
          <p:cNvPr id="29" name="TextBox 28"/>
          <p:cNvSpPr txBox="1"/>
          <p:nvPr/>
        </p:nvSpPr>
        <p:spPr>
          <a:xfrm>
            <a:off x="4480560" y="2194560"/>
            <a:ext cx="3429000" cy="201168"/>
          </a:xfrm>
          <a:prstGeom prst="rect">
            <a:avLst/>
          </a:prstGeom>
          <a:noFill/>
        </p:spPr>
        <p:txBody>
          <a:bodyPr wrap="square" lIns="0" tIns="0" rIns="0" bIns="0" anchor="t">
            <a:spAutoFit/>
          </a:bodyPr>
          <a:lstStyle/>
          <a:p>
            <a:pPr algn="l"/>
            <a:r>
              <a:rPr sz="900" b="0" i="0">
                <a:solidFill>
                  <a:srgbClr val="7878A0"/>
                </a:solidFill>
                <a:latin typeface="Consolas"/>
              </a:rPr>
              <a:t>forum · 2025-02-18 · 18 ↑</a:t>
            </a:r>
            <a:endParaRPr sz="900" b="0" i="0">
              <a:solidFill>
                <a:srgbClr val="7878A0"/>
              </a:solidFill>
              <a:latin typeface="Consolas"/>
            </a:endParaRPr>
          </a:p>
        </p:txBody>
      </p:sp>
      <p:sp>
        <p:nvSpPr>
          <p:cNvPr id="30" name="TextBox 29"/>
          <p:cNvSpPr txBox="1"/>
          <p:nvPr/>
        </p:nvSpPr>
        <p:spPr>
          <a:xfrm>
            <a:off x="4480560" y="2514600"/>
            <a:ext cx="3429000" cy="201168"/>
          </a:xfrm>
          <a:prstGeom prst="rect">
            <a:avLst/>
          </a:prstGeom>
          <a:noFill/>
        </p:spPr>
        <p:txBody>
          <a:bodyPr wrap="square" lIns="0" tIns="0" rIns="0" bIns="0" anchor="t">
            <a:spAutoFit/>
          </a:bodyPr>
          <a:lstStyle/>
          <a:p>
            <a:pPr algn="l"/>
            <a:r>
              <a:rPr sz="950" b="1" i="0">
                <a:solidFill>
                  <a:srgbClr val="7878A0"/>
                </a:solidFill>
                <a:latin typeface="Consolas"/>
              </a:rPr>
              <a:t>Chelsea_Mike :</a:t>
            </a:r>
            <a:endParaRPr sz="950" b="1" i="0">
              <a:solidFill>
                <a:srgbClr val="7878A0"/>
              </a:solidFill>
              <a:latin typeface="Consolas"/>
            </a:endParaRPr>
          </a:p>
        </p:txBody>
      </p:sp>
      <p:sp>
        <p:nvSpPr>
          <p:cNvPr id="31" name="TextBox 30"/>
          <p:cNvSpPr txBox="1"/>
          <p:nvPr/>
        </p:nvSpPr>
        <p:spPr>
          <a:xfrm>
            <a:off x="4572000" y="2715768"/>
            <a:ext cx="3337560" cy="667512"/>
          </a:xfrm>
          <a:prstGeom prst="rect">
            <a:avLst/>
          </a:prstGeom>
          <a:noFill/>
        </p:spPr>
        <p:txBody>
          <a:bodyPr wrap="square" lIns="0" tIns="0" rIns="0" bIns="0" anchor="t">
            <a:spAutoFit/>
          </a:bodyPr>
          <a:lstStyle/>
          <a:p>
            <a:pPr algn="l"/>
            <a:r>
              <a:rPr sz="900" b="0" i="0">
                <a:solidFill>
                  <a:srgbClr val="E8E8F0"/>
                </a:solidFill>
                <a:latin typeface="Calibri"/>
              </a:rPr>
              <a:t>Thinking of taking some friends to Corkbuzz this Friday after work. How late do they stay open these days?</a:t>
            </a:r>
            <a:endParaRPr sz="900" b="0" i="0">
              <a:solidFill>
                <a:srgbClr val="E8E8F0"/>
              </a:solidFill>
              <a:latin typeface="Calibri"/>
            </a:endParaRPr>
          </a:p>
        </p:txBody>
      </p:sp>
      <p:sp>
        <p:nvSpPr>
          <p:cNvPr id="32" name="TextBox 31"/>
          <p:cNvSpPr txBox="1"/>
          <p:nvPr/>
        </p:nvSpPr>
        <p:spPr>
          <a:xfrm>
            <a:off x="4480560" y="3456432"/>
            <a:ext cx="3429000" cy="201168"/>
          </a:xfrm>
          <a:prstGeom prst="rect">
            <a:avLst/>
          </a:prstGeom>
          <a:noFill/>
        </p:spPr>
        <p:txBody>
          <a:bodyPr wrap="square" lIns="0" tIns="0" rIns="0" bIns="0" anchor="t">
            <a:spAutoFit/>
          </a:bodyPr>
          <a:lstStyle/>
          <a:p>
            <a:pPr algn="l"/>
            <a:r>
              <a:rPr sz="950" b="1" i="0">
                <a:solidFill>
                  <a:srgbClr val="6CFFC8"/>
                </a:solidFill>
                <a:latin typeface="Consolas"/>
              </a:rPr>
              <a:t>NYC_Emily84 :</a:t>
            </a:r>
            <a:endParaRPr sz="950" b="1" i="0">
              <a:solidFill>
                <a:srgbClr val="6CFFC8"/>
              </a:solidFill>
              <a:latin typeface="Consolas"/>
            </a:endParaRPr>
          </a:p>
        </p:txBody>
      </p:sp>
      <p:sp>
        <p:nvSpPr>
          <p:cNvPr id="33" name="TextBox 32"/>
          <p:cNvSpPr txBox="1"/>
          <p:nvPr/>
        </p:nvSpPr>
        <p:spPr>
          <a:xfrm>
            <a:off x="4572000" y="3657600"/>
            <a:ext cx="3337560" cy="1252728"/>
          </a:xfrm>
          <a:prstGeom prst="rect">
            <a:avLst/>
          </a:prstGeom>
          <a:noFill/>
        </p:spPr>
        <p:txBody>
          <a:bodyPr wrap="square" lIns="0" tIns="0" rIns="0" bIns="0" anchor="t">
            <a:spAutoFit/>
          </a:bodyPr>
          <a:lstStyle/>
          <a:p>
            <a:pPr algn="l"/>
            <a:r>
              <a:rPr sz="900" b="0" i="0">
                <a:solidFill>
                  <a:srgbClr val="E8E8F0"/>
                </a:solidFill>
                <a:latin typeface="Calibri"/>
              </a:rPr>
              <a:t>Yeah they're still solid. Last time I was there on a Friday we rolled in around 8:30 and got a table no problem. But heads up — they close at 10pm now, not midnight like it used to be. Some old blog posts and the Yelp listing still say later but they tightened up after the pandemic. So don't plan a late one there.</a:t>
            </a:r>
            <a:endParaRPr sz="900" b="0" i="0">
              <a:solidFill>
                <a:srgbClr val="E8E8F0"/>
              </a:solidFill>
              <a:latin typeface="Calibri"/>
            </a:endParaRPr>
          </a:p>
        </p:txBody>
      </p:sp>
      <p:sp>
        <p:nvSpPr>
          <p:cNvPr id="34" name="TextBox 33"/>
          <p:cNvSpPr txBox="1"/>
          <p:nvPr/>
        </p:nvSpPr>
        <p:spPr>
          <a:xfrm>
            <a:off x="4480560" y="4983480"/>
            <a:ext cx="3429000" cy="201168"/>
          </a:xfrm>
          <a:prstGeom prst="rect">
            <a:avLst/>
          </a:prstGeom>
          <a:noFill/>
        </p:spPr>
        <p:txBody>
          <a:bodyPr wrap="square" lIns="0" tIns="0" rIns="0" bIns="0" anchor="t">
            <a:spAutoFit/>
          </a:bodyPr>
          <a:lstStyle/>
          <a:p>
            <a:pPr algn="l"/>
            <a:r>
              <a:rPr sz="950" b="1" i="0">
                <a:solidFill>
                  <a:srgbClr val="7878A0"/>
                </a:solidFill>
                <a:latin typeface="Consolas"/>
              </a:rPr>
              <a:t>Chelsea_Mike :</a:t>
            </a:r>
            <a:endParaRPr sz="950" b="1" i="0">
              <a:solidFill>
                <a:srgbClr val="7878A0"/>
              </a:solidFill>
              <a:latin typeface="Consolas"/>
            </a:endParaRPr>
          </a:p>
        </p:txBody>
      </p:sp>
      <p:sp>
        <p:nvSpPr>
          <p:cNvPr id="35" name="TextBox 34"/>
          <p:cNvSpPr txBox="1"/>
          <p:nvPr/>
        </p:nvSpPr>
        <p:spPr>
          <a:xfrm>
            <a:off x="4572000" y="5184648"/>
            <a:ext cx="3337560" cy="374904"/>
          </a:xfrm>
          <a:prstGeom prst="rect">
            <a:avLst/>
          </a:prstGeom>
          <a:noFill/>
        </p:spPr>
        <p:txBody>
          <a:bodyPr wrap="square" lIns="0" tIns="0" rIns="0" bIns="0" anchor="t">
            <a:spAutoFit/>
          </a:bodyPr>
          <a:lstStyle/>
          <a:p>
            <a:pPr algn="l"/>
            <a:r>
              <a:rPr sz="900" b="0" i="0">
                <a:solidFill>
                  <a:srgbClr val="E8E8F0"/>
                </a:solidFill>
                <a:latin typeface="Calibri"/>
              </a:rPr>
              <a:t>Oh good to know! 10pm is early.</a:t>
            </a:r>
            <a:endParaRPr sz="900" b="0" i="0">
              <a:solidFill>
                <a:srgbClr val="E8E8F0"/>
              </a:solidFill>
              <a:latin typeface="Calibri"/>
            </a:endParaRPr>
          </a:p>
        </p:txBody>
      </p:sp>
      <p:sp>
        <p:nvSpPr>
          <p:cNvPr id="36" name="Rounded Rectangle 35"/>
          <p:cNvSpPr/>
          <p:nvPr/>
        </p:nvSpPr>
        <p:spPr>
          <a:xfrm>
            <a:off x="4480560" y="5486400"/>
            <a:ext cx="3429000" cy="640080"/>
          </a:xfrm>
          <a:prstGeom prst="roundRect">
            <a:avLst>
              <a:gd name="adj" fmla="val 6000"/>
            </a:avLst>
          </a:prstGeom>
          <a:solidFill>
            <a:srgbClr val="122A22"/>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5577840"/>
            <a:ext cx="3246120" cy="457200"/>
          </a:xfrm>
          <a:prstGeom prst="rect">
            <a:avLst/>
          </a:prstGeom>
          <a:noFill/>
        </p:spPr>
        <p:txBody>
          <a:bodyPr wrap="square" lIns="0" tIns="0" rIns="0" bIns="0" anchor="t">
            <a:spAutoFit/>
          </a:bodyPr>
          <a:lstStyle/>
          <a:p>
            <a:pPr algn="ctr"/>
            <a:r>
              <a:rPr sz="900" b="1" i="0">
                <a:solidFill>
                  <a:srgbClr val="6CFFC8"/>
                </a:solidFill>
                <a:latin typeface="Calibri"/>
              </a:rPr>
              <a:t>✓  Correction embedded in lived experience.  ← THE TRUTH CARRIER</a:t>
            </a:r>
            <a:endParaRPr sz="900" b="1" i="0">
              <a:solidFill>
                <a:srgbClr val="6CFFC8"/>
              </a:solidFill>
              <a:latin typeface="Calibri"/>
            </a:endParaRPr>
          </a:p>
        </p:txBody>
      </p:sp>
      <p:sp>
        <p:nvSpPr>
          <p:cNvPr id="38" name="Rounded Rectangle 37"/>
          <p:cNvSpPr/>
          <p:nvPr/>
        </p:nvSpPr>
        <p:spPr>
          <a:xfrm>
            <a:off x="8138160" y="1325880"/>
            <a:ext cx="3703320" cy="493776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75320" y="1417320"/>
            <a:ext cx="3429000" cy="228600"/>
          </a:xfrm>
          <a:prstGeom prst="rect">
            <a:avLst/>
          </a:prstGeom>
          <a:noFill/>
        </p:spPr>
        <p:txBody>
          <a:bodyPr wrap="square" lIns="0" tIns="0" rIns="0" bIns="0" anchor="t">
            <a:spAutoFit/>
          </a:bodyPr>
          <a:lstStyle/>
          <a:p>
            <a:pPr algn="l"/>
            <a:r>
              <a:rPr sz="900" b="1" i="0">
                <a:solidFill>
                  <a:srgbClr val="6C8EFF"/>
                </a:solidFill>
                <a:latin typeface="Consolas"/>
              </a:rPr>
              <a:t>▸  get_official_site() result</a:t>
            </a:r>
            <a:endParaRPr sz="900" b="1" i="0">
              <a:solidFill>
                <a:srgbClr val="6C8EFF"/>
              </a:solidFill>
              <a:latin typeface="Consolas"/>
            </a:endParaRPr>
          </a:p>
        </p:txBody>
      </p:sp>
      <p:sp>
        <p:nvSpPr>
          <p:cNvPr id="40" name="TextBox 39"/>
          <p:cNvSpPr txBox="1"/>
          <p:nvPr/>
        </p:nvSpPr>
        <p:spPr>
          <a:xfrm>
            <a:off x="8275320" y="1691640"/>
            <a:ext cx="3429000" cy="274320"/>
          </a:xfrm>
          <a:prstGeom prst="rect">
            <a:avLst/>
          </a:prstGeom>
          <a:noFill/>
        </p:spPr>
        <p:txBody>
          <a:bodyPr wrap="square" lIns="0" tIns="0" rIns="0" bIns="0" anchor="t">
            <a:spAutoFit/>
          </a:bodyPr>
          <a:lstStyle/>
          <a:p>
            <a:pPr algn="l"/>
            <a:r>
              <a:rPr sz="1100" b="1" i="0">
                <a:solidFill>
                  <a:srgbClr val="6C8EFF"/>
                </a:solidFill>
                <a:latin typeface="Consolas"/>
              </a:rPr>
              <a:t>corkbuzz.com/chelsea-market</a:t>
            </a:r>
            <a:endParaRPr sz="1100" b="1" i="0">
              <a:solidFill>
                <a:srgbClr val="6C8EFF"/>
              </a:solidFill>
              <a:latin typeface="Consolas"/>
            </a:endParaRPr>
          </a:p>
        </p:txBody>
      </p:sp>
      <p:sp>
        <p:nvSpPr>
          <p:cNvPr id="41" name="TextBox 40"/>
          <p:cNvSpPr txBox="1"/>
          <p:nvPr/>
        </p:nvSpPr>
        <p:spPr>
          <a:xfrm>
            <a:off x="8275320" y="2057400"/>
            <a:ext cx="3429000" cy="201168"/>
          </a:xfrm>
          <a:prstGeom prst="rect">
            <a:avLst/>
          </a:prstGeom>
          <a:noFill/>
        </p:spPr>
        <p:txBody>
          <a:bodyPr wrap="square" lIns="0" tIns="0" rIns="0" bIns="0" anchor="t">
            <a:spAutoFit/>
          </a:bodyPr>
          <a:lstStyle/>
          <a:p>
            <a:pPr algn="l"/>
            <a:r>
              <a:rPr sz="900" b="0" i="0">
                <a:solidFill>
                  <a:srgbClr val="7878A0"/>
                </a:solidFill>
                <a:latin typeface="Consolas"/>
              </a:rPr>
              <a:t>HOURS</a:t>
            </a:r>
            <a:endParaRPr sz="900" b="0" i="0">
              <a:solidFill>
                <a:srgbClr val="7878A0"/>
              </a:solidFill>
              <a:latin typeface="Consolas"/>
            </a:endParaRPr>
          </a:p>
        </p:txBody>
      </p:sp>
      <p:sp>
        <p:nvSpPr>
          <p:cNvPr id="42" name="TextBox 41"/>
          <p:cNvSpPr txBox="1"/>
          <p:nvPr/>
        </p:nvSpPr>
        <p:spPr>
          <a:xfrm>
            <a:off x="8366760" y="2286000"/>
            <a:ext cx="822960" cy="201168"/>
          </a:xfrm>
          <a:prstGeom prst="rect">
            <a:avLst/>
          </a:prstGeom>
          <a:noFill/>
        </p:spPr>
        <p:txBody>
          <a:bodyPr wrap="square" lIns="0" tIns="0" rIns="0" bIns="0" anchor="t">
            <a:spAutoFit/>
          </a:bodyPr>
          <a:lstStyle/>
          <a:p>
            <a:pPr algn="l"/>
            <a:r>
              <a:rPr sz="1000" b="0" i="0">
                <a:solidFill>
                  <a:srgbClr val="7878A0"/>
                </a:solidFill>
                <a:latin typeface="Consolas"/>
              </a:rPr>
              <a:t>Mon–Thu</a:t>
            </a:r>
            <a:endParaRPr sz="1000" b="0" i="0">
              <a:solidFill>
                <a:srgbClr val="7878A0"/>
              </a:solidFill>
              <a:latin typeface="Consolas"/>
            </a:endParaRPr>
          </a:p>
        </p:txBody>
      </p:sp>
      <p:sp>
        <p:nvSpPr>
          <p:cNvPr id="43" name="TextBox 42"/>
          <p:cNvSpPr txBox="1"/>
          <p:nvPr/>
        </p:nvSpPr>
        <p:spPr>
          <a:xfrm>
            <a:off x="9189720" y="2286000"/>
            <a:ext cx="2286000" cy="201168"/>
          </a:xfrm>
          <a:prstGeom prst="rect">
            <a:avLst/>
          </a:prstGeom>
          <a:noFill/>
        </p:spPr>
        <p:txBody>
          <a:bodyPr wrap="square" lIns="0" tIns="0" rIns="0" bIns="0" anchor="t">
            <a:spAutoFit/>
          </a:bodyPr>
          <a:lstStyle/>
          <a:p>
            <a:pPr algn="l"/>
            <a:r>
              <a:rPr sz="1000" b="0" i="0">
                <a:solidFill>
                  <a:srgbClr val="E8E8F0"/>
                </a:solidFill>
                <a:latin typeface="Consolas"/>
              </a:rPr>
              <a:t>12:00 PM – 10:00 PM</a:t>
            </a:r>
            <a:endParaRPr sz="1000" b="0" i="0">
              <a:solidFill>
                <a:srgbClr val="E8E8F0"/>
              </a:solidFill>
              <a:latin typeface="Consolas"/>
            </a:endParaRPr>
          </a:p>
        </p:txBody>
      </p:sp>
      <p:sp>
        <p:nvSpPr>
          <p:cNvPr id="44" name="TextBox 43"/>
          <p:cNvSpPr txBox="1"/>
          <p:nvPr/>
        </p:nvSpPr>
        <p:spPr>
          <a:xfrm>
            <a:off x="8366760" y="2487168"/>
            <a:ext cx="822960" cy="201168"/>
          </a:xfrm>
          <a:prstGeom prst="rect">
            <a:avLst/>
          </a:prstGeom>
          <a:noFill/>
        </p:spPr>
        <p:txBody>
          <a:bodyPr wrap="square" lIns="0" tIns="0" rIns="0" bIns="0" anchor="t">
            <a:spAutoFit/>
          </a:bodyPr>
          <a:lstStyle/>
          <a:p>
            <a:pPr algn="l"/>
            <a:r>
              <a:rPr sz="1000" b="0" i="0">
                <a:solidFill>
                  <a:srgbClr val="7878A0"/>
                </a:solidFill>
                <a:latin typeface="Consolas"/>
              </a:rPr>
              <a:t>Fri</a:t>
            </a:r>
            <a:endParaRPr sz="1000" b="0" i="0">
              <a:solidFill>
                <a:srgbClr val="7878A0"/>
              </a:solidFill>
              <a:latin typeface="Consolas"/>
            </a:endParaRPr>
          </a:p>
        </p:txBody>
      </p:sp>
      <p:sp>
        <p:nvSpPr>
          <p:cNvPr id="45" name="TextBox 44"/>
          <p:cNvSpPr txBox="1"/>
          <p:nvPr/>
        </p:nvSpPr>
        <p:spPr>
          <a:xfrm>
            <a:off x="9189720" y="2487168"/>
            <a:ext cx="2286000" cy="201168"/>
          </a:xfrm>
          <a:prstGeom prst="rect">
            <a:avLst/>
          </a:prstGeom>
          <a:noFill/>
        </p:spPr>
        <p:txBody>
          <a:bodyPr wrap="square" lIns="0" tIns="0" rIns="0" bIns="0" anchor="t">
            <a:spAutoFit/>
          </a:bodyPr>
          <a:lstStyle/>
          <a:p>
            <a:pPr algn="l"/>
            <a:r>
              <a:rPr sz="1000" b="1" i="0">
                <a:solidFill>
                  <a:srgbClr val="6CFFC8"/>
                </a:solidFill>
                <a:latin typeface="Consolas"/>
              </a:rPr>
              <a:t>12:00 PM – 10:00 PM</a:t>
            </a:r>
            <a:endParaRPr sz="1000" b="1" i="0">
              <a:solidFill>
                <a:srgbClr val="6CFFC8"/>
              </a:solidFill>
              <a:latin typeface="Consolas"/>
            </a:endParaRPr>
          </a:p>
        </p:txBody>
      </p:sp>
      <p:sp>
        <p:nvSpPr>
          <p:cNvPr id="46" name="TextBox 45"/>
          <p:cNvSpPr txBox="1"/>
          <p:nvPr/>
        </p:nvSpPr>
        <p:spPr>
          <a:xfrm>
            <a:off x="8366760" y="2688336"/>
            <a:ext cx="822960" cy="201168"/>
          </a:xfrm>
          <a:prstGeom prst="rect">
            <a:avLst/>
          </a:prstGeom>
          <a:noFill/>
        </p:spPr>
        <p:txBody>
          <a:bodyPr wrap="square" lIns="0" tIns="0" rIns="0" bIns="0" anchor="t">
            <a:spAutoFit/>
          </a:bodyPr>
          <a:lstStyle/>
          <a:p>
            <a:pPr algn="l"/>
            <a:r>
              <a:rPr sz="1000" b="0" i="0">
                <a:solidFill>
                  <a:srgbClr val="7878A0"/>
                </a:solidFill>
                <a:latin typeface="Consolas"/>
              </a:rPr>
              <a:t>Sat</a:t>
            </a:r>
            <a:endParaRPr sz="1000" b="0" i="0">
              <a:solidFill>
                <a:srgbClr val="7878A0"/>
              </a:solidFill>
              <a:latin typeface="Consolas"/>
            </a:endParaRPr>
          </a:p>
        </p:txBody>
      </p:sp>
      <p:sp>
        <p:nvSpPr>
          <p:cNvPr id="47" name="TextBox 46"/>
          <p:cNvSpPr txBox="1"/>
          <p:nvPr/>
        </p:nvSpPr>
        <p:spPr>
          <a:xfrm>
            <a:off x="9189720" y="2688336"/>
            <a:ext cx="2286000" cy="201168"/>
          </a:xfrm>
          <a:prstGeom prst="rect">
            <a:avLst/>
          </a:prstGeom>
          <a:noFill/>
        </p:spPr>
        <p:txBody>
          <a:bodyPr wrap="square" lIns="0" tIns="0" rIns="0" bIns="0" anchor="t">
            <a:spAutoFit/>
          </a:bodyPr>
          <a:lstStyle/>
          <a:p>
            <a:pPr algn="l"/>
            <a:r>
              <a:rPr sz="1000" b="0" i="0">
                <a:solidFill>
                  <a:srgbClr val="E8E8F0"/>
                </a:solidFill>
                <a:latin typeface="Consolas"/>
              </a:rPr>
              <a:t>11:00 AM – 10:00 PM</a:t>
            </a:r>
            <a:endParaRPr sz="1000" b="0" i="0">
              <a:solidFill>
                <a:srgbClr val="E8E8F0"/>
              </a:solidFill>
              <a:latin typeface="Consolas"/>
            </a:endParaRPr>
          </a:p>
        </p:txBody>
      </p:sp>
      <p:sp>
        <p:nvSpPr>
          <p:cNvPr id="48" name="TextBox 47"/>
          <p:cNvSpPr txBox="1"/>
          <p:nvPr/>
        </p:nvSpPr>
        <p:spPr>
          <a:xfrm>
            <a:off x="8366760" y="2889504"/>
            <a:ext cx="822960" cy="201168"/>
          </a:xfrm>
          <a:prstGeom prst="rect">
            <a:avLst/>
          </a:prstGeom>
          <a:noFill/>
        </p:spPr>
        <p:txBody>
          <a:bodyPr wrap="square" lIns="0" tIns="0" rIns="0" bIns="0" anchor="t">
            <a:spAutoFit/>
          </a:bodyPr>
          <a:lstStyle/>
          <a:p>
            <a:pPr algn="l"/>
            <a:r>
              <a:rPr sz="1000" b="0" i="0">
                <a:solidFill>
                  <a:srgbClr val="7878A0"/>
                </a:solidFill>
                <a:latin typeface="Consolas"/>
              </a:rPr>
              <a:t>Sun</a:t>
            </a:r>
            <a:endParaRPr sz="1000" b="0" i="0">
              <a:solidFill>
                <a:srgbClr val="7878A0"/>
              </a:solidFill>
              <a:latin typeface="Consolas"/>
            </a:endParaRPr>
          </a:p>
        </p:txBody>
      </p:sp>
      <p:sp>
        <p:nvSpPr>
          <p:cNvPr id="49" name="TextBox 48"/>
          <p:cNvSpPr txBox="1"/>
          <p:nvPr/>
        </p:nvSpPr>
        <p:spPr>
          <a:xfrm>
            <a:off x="9189720" y="2889504"/>
            <a:ext cx="2286000" cy="201168"/>
          </a:xfrm>
          <a:prstGeom prst="rect">
            <a:avLst/>
          </a:prstGeom>
          <a:noFill/>
        </p:spPr>
        <p:txBody>
          <a:bodyPr wrap="square" lIns="0" tIns="0" rIns="0" bIns="0" anchor="t">
            <a:spAutoFit/>
          </a:bodyPr>
          <a:lstStyle/>
          <a:p>
            <a:pPr algn="l"/>
            <a:r>
              <a:rPr sz="1000" b="0" i="0">
                <a:solidFill>
                  <a:srgbClr val="E8E8F0"/>
                </a:solidFill>
                <a:latin typeface="Consolas"/>
              </a:rPr>
              <a:t>11:00 AM – 9:00 PM</a:t>
            </a:r>
            <a:endParaRPr sz="1000" b="0" i="0">
              <a:solidFill>
                <a:srgbClr val="E8E8F0"/>
              </a:solidFill>
              <a:latin typeface="Consolas"/>
            </a:endParaRPr>
          </a:p>
        </p:txBody>
      </p:sp>
      <p:sp>
        <p:nvSpPr>
          <p:cNvPr id="50" name="TextBox 49"/>
          <p:cNvSpPr txBox="1"/>
          <p:nvPr/>
        </p:nvSpPr>
        <p:spPr>
          <a:xfrm>
            <a:off x="8275320" y="3246120"/>
            <a:ext cx="3429000" cy="201168"/>
          </a:xfrm>
          <a:prstGeom prst="rect">
            <a:avLst/>
          </a:prstGeom>
          <a:noFill/>
        </p:spPr>
        <p:txBody>
          <a:bodyPr wrap="square" lIns="0" tIns="0" rIns="0" bIns="0" anchor="t">
            <a:spAutoFit/>
          </a:bodyPr>
          <a:lstStyle/>
          <a:p>
            <a:pPr algn="l"/>
            <a:r>
              <a:rPr sz="900" b="0" i="0">
                <a:solidFill>
                  <a:srgbClr val="7878A0"/>
                </a:solidFill>
                <a:latin typeface="Consolas"/>
              </a:rPr>
              <a:t>ABOUT</a:t>
            </a:r>
            <a:endParaRPr sz="900" b="0" i="0">
              <a:solidFill>
                <a:srgbClr val="7878A0"/>
              </a:solidFill>
              <a:latin typeface="Consolas"/>
            </a:endParaRPr>
          </a:p>
        </p:txBody>
      </p:sp>
      <p:sp>
        <p:nvSpPr>
          <p:cNvPr id="51" name="TextBox 50"/>
          <p:cNvSpPr txBox="1"/>
          <p:nvPr/>
        </p:nvSpPr>
        <p:spPr>
          <a:xfrm>
            <a:off x="8275320" y="3474720"/>
            <a:ext cx="3429000" cy="1828800"/>
          </a:xfrm>
          <a:prstGeom prst="rect">
            <a:avLst/>
          </a:prstGeom>
          <a:noFill/>
        </p:spPr>
        <p:txBody>
          <a:bodyPr wrap="square" lIns="0" tIns="0" rIns="0" bIns="0" anchor="t">
            <a:spAutoFit/>
          </a:bodyPr>
          <a:lstStyle/>
          <a:p>
            <a:pPr algn="l"/>
            <a:r>
              <a:rPr sz="900" b="0" i="0">
                <a:solidFill>
                  <a:srgbClr val="7878A0"/>
                </a:solidFill>
                <a:latin typeface="Calibri"/>
              </a:rPr>
              <a:t>A relaxed wine bar featuring over 40 rotating wines by the glass, plus craft cocktails. Walk-ins welcome. Dog-friendly on indoor patio. We ask guests to refrain from photography to preserve the intimate atmosphere. Adults-focused.
The entrance has a small step and our interior layout includes tightly spaced tables — we are not fully wheelchair accessible.</a:t>
            </a:r>
            <a:endParaRPr sz="900" b="0" i="0">
              <a:solidFill>
                <a:srgbClr val="7878A0"/>
              </a:solidFill>
              <a:latin typeface="Calibri"/>
            </a:endParaRPr>
          </a:p>
        </p:txBody>
      </p:sp>
      <p:sp>
        <p:nvSpPr>
          <p:cNvPr id="52" name="Rounded Rectangle 51"/>
          <p:cNvSpPr/>
          <p:nvPr/>
        </p:nvSpPr>
        <p:spPr>
          <a:xfrm>
            <a:off x="8275320" y="5486400"/>
            <a:ext cx="3429000" cy="640080"/>
          </a:xfrm>
          <a:prstGeom prst="roundRect">
            <a:avLst>
              <a:gd name="adj" fmla="val 6000"/>
            </a:avLst>
          </a:prstGeom>
          <a:solidFill>
            <a:srgbClr val="12182E"/>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66760" y="5577840"/>
            <a:ext cx="3246120" cy="457200"/>
          </a:xfrm>
          <a:prstGeom prst="rect">
            <a:avLst/>
          </a:prstGeom>
          <a:noFill/>
        </p:spPr>
        <p:txBody>
          <a:bodyPr wrap="square" lIns="0" tIns="0" rIns="0" bIns="0" anchor="t">
            <a:spAutoFit/>
          </a:bodyPr>
          <a:lstStyle/>
          <a:p>
            <a:pPr algn="ctr"/>
            <a:r>
              <a:rPr sz="900" b="1" i="0">
                <a:solidFill>
                  <a:srgbClr val="6C8EFF"/>
                </a:solidFill>
                <a:latin typeface="Calibri"/>
              </a:rPr>
              <a:t>✓  Canonical source.  Always returns the correct value.  ← GROUND TRUTH</a:t>
            </a:r>
            <a:endParaRPr sz="900" b="1" i="0">
              <a:solidFill>
                <a:srgbClr val="6C8EFF"/>
              </a:solidFill>
              <a:latin typeface="Calibri"/>
            </a:endParaRPr>
          </a:p>
        </p:txBody>
      </p:sp>
      <p:sp>
        <p:nvSpPr>
          <p:cNvPr id="54" name="TextBox 53"/>
          <p:cNvSpPr txBox="1"/>
          <p:nvPr/>
        </p:nvSpPr>
        <p:spPr>
          <a:xfrm>
            <a:off x="548640" y="6355080"/>
            <a:ext cx="11064240" cy="274320"/>
          </a:xfrm>
          <a:prstGeom prst="rect">
            <a:avLst/>
          </a:prstGeom>
          <a:noFill/>
        </p:spPr>
        <p:txBody>
          <a:bodyPr wrap="square" lIns="0" tIns="0" rIns="0" bIns="0" anchor="t">
            <a:spAutoFit/>
          </a:bodyPr>
          <a:lstStyle/>
          <a:p>
            <a:pPr algn="ctr"/>
            <a:r>
              <a:rPr sz="1500" b="0" i="1">
                <a:solidFill>
                  <a:srgbClr val="E8E8F0"/>
                </a:solidFill>
                <a:latin typeface="Georgia" panose="02040502050405090303"/>
              </a:rPr>
              <a:t>→  This is one of 70 NYC venues.  How does each one get built?</a:t>
            </a:r>
            <a:endParaRPr sz="1500" b="0" i="1">
              <a:solidFill>
                <a:srgbClr val="E8E8F0"/>
              </a:solidFill>
              <a:latin typeface="Georgia" panose="020405020504050903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05  —  PER-VENUE 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Corkbuzz Chelsea Market</a:t>
            </a:r>
            <a:endParaRPr sz="2400" b="0" i="0">
              <a:solidFill>
                <a:srgbClr val="E8E8F0"/>
              </a:solidFill>
              <a:latin typeface="Georgia" panose="02040502050405090303"/>
            </a:endParaRPr>
          </a:p>
        </p:txBody>
      </p:sp>
      <p:sp>
        <p:nvSpPr>
          <p:cNvPr id="4" name="TextBox 3"/>
          <p:cNvSpPr txBox="1"/>
          <p:nvPr/>
        </p:nvSpPr>
        <p:spPr>
          <a:xfrm>
            <a:off x="548640" y="109728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1 / 5  —  Plan the trap</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PER-VENUE AGENT TOOLS</a:t>
            </a:r>
            <a:endParaRPr sz="900" b="0" i="0">
              <a:solidFill>
                <a:srgbClr val="7878A0"/>
              </a:solidFill>
              <a:latin typeface="Consolas"/>
            </a:endParaRPr>
          </a:p>
        </p:txBody>
      </p:sp>
      <p:sp>
        <p:nvSpPr>
          <p:cNvPr id="6" name="Rounded Rectangle 5"/>
          <p:cNvSpPr/>
          <p:nvPr/>
        </p:nvSpPr>
        <p:spPr>
          <a:xfrm>
            <a:off x="548640" y="201168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66544"/>
            <a:ext cx="2103120" cy="228600"/>
          </a:xfrm>
          <a:prstGeom prst="rect">
            <a:avLst/>
          </a:prstGeom>
          <a:noFill/>
        </p:spPr>
        <p:txBody>
          <a:bodyPr wrap="square" lIns="0" tIns="0" rIns="0" bIns="0" anchor="t">
            <a:spAutoFit/>
          </a:bodyPr>
          <a:lstStyle/>
          <a:p>
            <a:pPr algn="l"/>
            <a:r>
              <a:rPr sz="900" b="1" i="0">
                <a:solidFill>
                  <a:srgbClr val="6C8EFF"/>
                </a:solidFill>
                <a:latin typeface="Consolas"/>
              </a:rPr>
              <a:t>CREATE_PAGE</a:t>
            </a:r>
            <a:endParaRPr sz="900" b="1" i="0">
              <a:solidFill>
                <a:srgbClr val="6C8EFF"/>
              </a:solidFill>
              <a:latin typeface="Consolas"/>
            </a:endParaRPr>
          </a:p>
        </p:txBody>
      </p:sp>
      <p:sp>
        <p:nvSpPr>
          <p:cNvPr id="8" name="TextBox 7"/>
          <p:cNvSpPr txBox="1"/>
          <p:nvPr/>
        </p:nvSpPr>
        <p:spPr>
          <a:xfrm>
            <a:off x="685800" y="2267712"/>
            <a:ext cx="2103120" cy="274320"/>
          </a:xfrm>
          <a:prstGeom prst="rect">
            <a:avLst/>
          </a:prstGeom>
          <a:noFill/>
        </p:spPr>
        <p:txBody>
          <a:bodyPr wrap="square" lIns="0" tIns="0" rIns="0" bIns="0" anchor="t">
            <a:spAutoFit/>
          </a:bodyPr>
          <a:lstStyle/>
          <a:p>
            <a:pPr algn="l"/>
            <a:r>
              <a:rPr sz="850" b="0" i="0">
                <a:solidFill>
                  <a:srgbClr val="7878A0"/>
                </a:solidFill>
                <a:latin typeface="Calibri"/>
              </a:rPr>
              <a:t>Open a draft for a new entity</a:t>
            </a:r>
            <a:endParaRPr sz="850" b="0" i="0">
              <a:solidFill>
                <a:srgbClr val="7878A0"/>
              </a:solidFill>
              <a:latin typeface="Calibri"/>
            </a:endParaRPr>
          </a:p>
        </p:txBody>
      </p:sp>
      <p:sp>
        <p:nvSpPr>
          <p:cNvPr id="9" name="Rounded Rectangle 8"/>
          <p:cNvSpPr/>
          <p:nvPr/>
        </p:nvSpPr>
        <p:spPr>
          <a:xfrm>
            <a:off x="548640" y="2615184"/>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70048"/>
            <a:ext cx="2103120" cy="228600"/>
          </a:xfrm>
          <a:prstGeom prst="rect">
            <a:avLst/>
          </a:prstGeom>
          <a:noFill/>
        </p:spPr>
        <p:txBody>
          <a:bodyPr wrap="square" lIns="0" tIns="0" rIns="0" bIns="0" anchor="t">
            <a:spAutoFit/>
          </a:bodyPr>
          <a:lstStyle/>
          <a:p>
            <a:pPr algn="l"/>
            <a:r>
              <a:rPr sz="900" b="1" i="0">
                <a:solidFill>
                  <a:srgbClr val="6CFFC8"/>
                </a:solidFill>
                <a:latin typeface="Consolas"/>
              </a:rPr>
              <a:t>FILL</a:t>
            </a:r>
            <a:endParaRPr sz="900" b="1" i="0">
              <a:solidFill>
                <a:srgbClr val="6CFFC8"/>
              </a:solidFill>
              <a:latin typeface="Consolas"/>
            </a:endParaRPr>
          </a:p>
        </p:txBody>
      </p:sp>
      <p:sp>
        <p:nvSpPr>
          <p:cNvPr id="11" name="TextBox 10"/>
          <p:cNvSpPr txBox="1"/>
          <p:nvPr/>
        </p:nvSpPr>
        <p:spPr>
          <a:xfrm>
            <a:off x="685800" y="2871216"/>
            <a:ext cx="2103120" cy="274320"/>
          </a:xfrm>
          <a:prstGeom prst="rect">
            <a:avLst/>
          </a:prstGeom>
          <a:noFill/>
        </p:spPr>
        <p:txBody>
          <a:bodyPr wrap="square" lIns="0" tIns="0" rIns="0" bIns="0" anchor="t">
            <a:spAutoFit/>
          </a:bodyPr>
          <a:lstStyle/>
          <a:p>
            <a:pPr algn="l"/>
            <a:r>
              <a:rPr sz="850" b="0" i="0">
                <a:solidFill>
                  <a:srgbClr val="7878A0"/>
                </a:solidFill>
                <a:latin typeface="Calibri"/>
              </a:rPr>
              <a:t>Set fields on a draft</a:t>
            </a:r>
            <a:endParaRPr sz="850" b="0" i="0">
              <a:solidFill>
                <a:srgbClr val="7878A0"/>
              </a:solidFill>
              <a:latin typeface="Calibri"/>
            </a:endParaRPr>
          </a:p>
        </p:txBody>
      </p:sp>
      <p:sp>
        <p:nvSpPr>
          <p:cNvPr id="12" name="Rounded Rectangle 11"/>
          <p:cNvSpPr/>
          <p:nvPr/>
        </p:nvSpPr>
        <p:spPr>
          <a:xfrm>
            <a:off x="548640" y="3218688"/>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73552"/>
            <a:ext cx="2103120" cy="228600"/>
          </a:xfrm>
          <a:prstGeom prst="rect">
            <a:avLst/>
          </a:prstGeom>
          <a:noFill/>
        </p:spPr>
        <p:txBody>
          <a:bodyPr wrap="square" lIns="0" tIns="0" rIns="0" bIns="0" anchor="t">
            <a:spAutoFit/>
          </a:bodyPr>
          <a:lstStyle/>
          <a:p>
            <a:pPr algn="l"/>
            <a:r>
              <a:rPr sz="900" b="1" i="0">
                <a:solidFill>
                  <a:srgbClr val="6CFFC8"/>
                </a:solidFill>
                <a:latin typeface="Consolas"/>
              </a:rPr>
              <a:t>COMMIT</a:t>
            </a:r>
            <a:endParaRPr sz="900" b="1" i="0">
              <a:solidFill>
                <a:srgbClr val="6CFFC8"/>
              </a:solidFill>
              <a:latin typeface="Consolas"/>
            </a:endParaRPr>
          </a:p>
        </p:txBody>
      </p:sp>
      <p:sp>
        <p:nvSpPr>
          <p:cNvPr id="14" name="TextBox 13"/>
          <p:cNvSpPr txBox="1"/>
          <p:nvPr/>
        </p:nvSpPr>
        <p:spPr>
          <a:xfrm>
            <a:off x="685800" y="3474720"/>
            <a:ext cx="2103120" cy="274320"/>
          </a:xfrm>
          <a:prstGeom prst="rect">
            <a:avLst/>
          </a:prstGeom>
          <a:noFill/>
        </p:spPr>
        <p:txBody>
          <a:bodyPr wrap="square" lIns="0" tIns="0" rIns="0" bIns="0" anchor="t">
            <a:spAutoFit/>
          </a:bodyPr>
          <a:lstStyle/>
          <a:p>
            <a:pPr algn="l"/>
            <a:r>
              <a:rPr sz="850" b="0" i="0">
                <a:solidFill>
                  <a:srgbClr val="7878A0"/>
                </a:solidFill>
                <a:latin typeface="Calibri"/>
              </a:rPr>
              <a:t>Persist a draft as canonical</a:t>
            </a:r>
            <a:endParaRPr sz="850" b="0" i="0">
              <a:solidFill>
                <a:srgbClr val="7878A0"/>
              </a:solidFill>
              <a:latin typeface="Calibri"/>
            </a:endParaRPr>
          </a:p>
        </p:txBody>
      </p:sp>
      <p:sp>
        <p:nvSpPr>
          <p:cNvPr id="15" name="Rounded Rectangle 14"/>
          <p:cNvSpPr/>
          <p:nvPr/>
        </p:nvSpPr>
        <p:spPr>
          <a:xfrm>
            <a:off x="548640" y="3822192"/>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77056"/>
            <a:ext cx="2103120" cy="228600"/>
          </a:xfrm>
          <a:prstGeom prst="rect">
            <a:avLst/>
          </a:prstGeom>
          <a:noFill/>
        </p:spPr>
        <p:txBody>
          <a:bodyPr wrap="square" lIns="0" tIns="0" rIns="0" bIns="0" anchor="t">
            <a:spAutoFit/>
          </a:bodyPr>
          <a:lstStyle/>
          <a:p>
            <a:pPr algn="l"/>
            <a:r>
              <a:rPr sz="900" b="1" i="0">
                <a:solidFill>
                  <a:srgbClr val="FFA84A"/>
                </a:solidFill>
                <a:latin typeface="Consolas"/>
              </a:rPr>
              <a:t>ADD_WRONG_INFO</a:t>
            </a:r>
            <a:endParaRPr sz="900" b="1" i="0">
              <a:solidFill>
                <a:srgbClr val="FFA84A"/>
              </a:solidFill>
              <a:latin typeface="Consolas"/>
            </a:endParaRPr>
          </a:p>
        </p:txBody>
      </p:sp>
      <p:sp>
        <p:nvSpPr>
          <p:cNvPr id="17" name="TextBox 16"/>
          <p:cNvSpPr txBox="1"/>
          <p:nvPr/>
        </p:nvSpPr>
        <p:spPr>
          <a:xfrm>
            <a:off x="685800" y="4078224"/>
            <a:ext cx="2103120" cy="274320"/>
          </a:xfrm>
          <a:prstGeom prst="rect">
            <a:avLst/>
          </a:prstGeom>
          <a:noFill/>
        </p:spPr>
        <p:txBody>
          <a:bodyPr wrap="square" lIns="0" tIns="0" rIns="0" bIns="0" anchor="t">
            <a:spAutoFit/>
          </a:bodyPr>
          <a:lstStyle/>
          <a:p>
            <a:pPr algn="l"/>
            <a:r>
              <a:rPr sz="850" b="0" i="0">
                <a:solidFill>
                  <a:srgbClr val="7878A0"/>
                </a:solidFill>
                <a:latin typeface="Calibri"/>
              </a:rPr>
              <a:t>Plant a wrong/correct value pair atomically</a:t>
            </a:r>
            <a:endParaRPr sz="850" b="0" i="0">
              <a:solidFill>
                <a:srgbClr val="7878A0"/>
              </a:solidFill>
              <a:latin typeface="Calibri"/>
            </a:endParaRPr>
          </a:p>
        </p:txBody>
      </p:sp>
      <p:sp>
        <p:nvSpPr>
          <p:cNvPr id="18" name="Rounded Rectangle 17"/>
          <p:cNvSpPr/>
          <p:nvPr/>
        </p:nvSpPr>
        <p:spPr>
          <a:xfrm>
            <a:off x="548640" y="4425696"/>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480560"/>
            <a:ext cx="2103120" cy="228600"/>
          </a:xfrm>
          <a:prstGeom prst="rect">
            <a:avLst/>
          </a:prstGeom>
          <a:noFill/>
        </p:spPr>
        <p:txBody>
          <a:bodyPr wrap="square" lIns="0" tIns="0" rIns="0" bIns="0" anchor="t">
            <a:spAutoFit/>
          </a:bodyPr>
          <a:lstStyle/>
          <a:p>
            <a:pPr algn="l"/>
            <a:r>
              <a:rPr sz="900" b="1" i="0">
                <a:solidFill>
                  <a:srgbClr val="C87EFF"/>
                </a:solidFill>
                <a:latin typeface="Consolas"/>
              </a:rPr>
              <a:t>REGISTER_DOC_REFS</a:t>
            </a:r>
            <a:endParaRPr sz="900" b="1" i="0">
              <a:solidFill>
                <a:srgbClr val="C87EFF"/>
              </a:solidFill>
              <a:latin typeface="Consolas"/>
            </a:endParaRPr>
          </a:p>
        </p:txBody>
      </p:sp>
      <p:sp>
        <p:nvSpPr>
          <p:cNvPr id="20" name="TextBox 19"/>
          <p:cNvSpPr txBox="1"/>
          <p:nvPr/>
        </p:nvSpPr>
        <p:spPr>
          <a:xfrm>
            <a:off x="685800" y="4681728"/>
            <a:ext cx="2103120" cy="274320"/>
          </a:xfrm>
          <a:prstGeom prst="rect">
            <a:avLst/>
          </a:prstGeom>
          <a:noFill/>
        </p:spPr>
        <p:txBody>
          <a:bodyPr wrap="square" lIns="0" tIns="0" rIns="0" bIns="0" anchor="t">
            <a:spAutoFit/>
          </a:bodyPr>
          <a:lstStyle/>
          <a:p>
            <a:pPr algn="l"/>
            <a:r>
              <a:rPr sz="850" b="0" i="0">
                <a:solidFill>
                  <a:srgbClr val="7878A0"/>
                </a:solidFill>
                <a:latin typeface="Calibri"/>
              </a:rPr>
              <a:t>Link docs to wrong-info roles</a:t>
            </a:r>
            <a:endParaRPr sz="850" b="0" i="0">
              <a:solidFill>
                <a:srgbClr val="7878A0"/>
              </a:solidFill>
              <a:latin typeface="Calibri"/>
            </a:endParaRPr>
          </a:p>
        </p:txBody>
      </p:sp>
      <p:sp>
        <p:nvSpPr>
          <p:cNvPr id="21" name="Rounded Rectangle 20"/>
          <p:cNvSpPr/>
          <p:nvPr/>
        </p:nvSpPr>
        <p:spPr>
          <a:xfrm>
            <a:off x="548640" y="502920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084064"/>
            <a:ext cx="2103120" cy="228600"/>
          </a:xfrm>
          <a:prstGeom prst="rect">
            <a:avLst/>
          </a:prstGeom>
          <a:noFill/>
        </p:spPr>
        <p:txBody>
          <a:bodyPr wrap="square" lIns="0" tIns="0" rIns="0" bIns="0" anchor="t">
            <a:spAutoFit/>
          </a:bodyPr>
          <a:lstStyle/>
          <a:p>
            <a:pPr algn="l"/>
            <a:r>
              <a:rPr sz="900" b="1" i="0">
                <a:solidFill>
                  <a:srgbClr val="FF6C8E"/>
                </a:solidFill>
                <a:latin typeface="Consolas"/>
              </a:rPr>
              <a:t>VERIFY</a:t>
            </a:r>
            <a:endParaRPr sz="900" b="1" i="0">
              <a:solidFill>
                <a:srgbClr val="FF6C8E"/>
              </a:solidFill>
              <a:latin typeface="Consolas"/>
            </a:endParaRPr>
          </a:p>
        </p:txBody>
      </p:sp>
      <p:sp>
        <p:nvSpPr>
          <p:cNvPr id="23" name="TextBox 22"/>
          <p:cNvSpPr txBox="1"/>
          <p:nvPr/>
        </p:nvSpPr>
        <p:spPr>
          <a:xfrm>
            <a:off x="685800" y="5285232"/>
            <a:ext cx="2103120" cy="274320"/>
          </a:xfrm>
          <a:prstGeom prst="rect">
            <a:avLst/>
          </a:prstGeom>
          <a:noFill/>
        </p:spPr>
        <p:txBody>
          <a:bodyPr wrap="square" lIns="0" tIns="0" rIns="0" bIns="0" anchor="t">
            <a:spAutoFit/>
          </a:bodyPr>
          <a:lstStyle/>
          <a:p>
            <a:pPr algn="l"/>
            <a:r>
              <a:rPr sz="850" b="0" i="0">
                <a:solidFill>
                  <a:srgbClr val="7878A0"/>
                </a:solidFill>
                <a:latin typeface="Calibri"/>
              </a:rPr>
              <a:t>Run 11 venue completeness checks</a:t>
            </a:r>
            <a:endParaRPr sz="850" b="0" i="0">
              <a:solidFill>
                <a:srgbClr val="7878A0"/>
              </a:solidFill>
              <a:latin typeface="Calibri"/>
            </a:endParaRPr>
          </a:p>
        </p:txBody>
      </p:sp>
      <p:sp>
        <p:nvSpPr>
          <p:cNvPr id="24" name="Rounded Rectangle 23"/>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108960" y="1691640"/>
            <a:ext cx="1700784"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0" y="1874520"/>
            <a:ext cx="8503920" cy="365760"/>
          </a:xfrm>
          <a:prstGeom prst="rect">
            <a:avLst/>
          </a:prstGeom>
          <a:noFill/>
        </p:spPr>
        <p:txBody>
          <a:bodyPr wrap="square" lIns="0" tIns="0" rIns="0" bIns="0" anchor="t">
            <a:spAutoFit/>
          </a:bodyPr>
          <a:lstStyle/>
          <a:p>
            <a:pPr algn="l"/>
            <a:r>
              <a:rPr sz="1300" b="1" i="0">
                <a:solidFill>
                  <a:srgbClr val="6C8EFF"/>
                </a:solidFill>
                <a:latin typeface="Consolas"/>
              </a:rPr>
              <a:t>💭  Plan the trap</a:t>
            </a:r>
            <a:endParaRPr sz="1300" b="1" i="0">
              <a:solidFill>
                <a:srgbClr val="6C8EFF"/>
              </a:solidFill>
              <a:latin typeface="Consolas"/>
            </a:endParaRPr>
          </a:p>
        </p:txBody>
      </p:sp>
      <p:sp>
        <p:nvSpPr>
          <p:cNvPr id="27" name="Rounded Rectangle 26"/>
          <p:cNvSpPr/>
          <p:nvPr/>
        </p:nvSpPr>
        <p:spPr>
          <a:xfrm>
            <a:off x="3108960" y="2377440"/>
            <a:ext cx="8503920" cy="77724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245059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9" name="TextBox 28"/>
          <p:cNvSpPr txBox="1"/>
          <p:nvPr/>
        </p:nvSpPr>
        <p:spPr>
          <a:xfrm>
            <a:off x="3246120" y="2651760"/>
            <a:ext cx="8229600" cy="457200"/>
          </a:xfrm>
          <a:prstGeom prst="rect">
            <a:avLst/>
          </a:prstGeom>
          <a:noFill/>
        </p:spPr>
        <p:txBody>
          <a:bodyPr wrap="square" lIns="0" tIns="0" rIns="0" bIns="0" anchor="t">
            <a:spAutoFit/>
          </a:bodyPr>
          <a:lstStyle/>
          <a:p>
            <a:pPr algn="l"/>
            <a:r>
              <a:rPr sz="1000" b="0" i="0">
                <a:solidFill>
                  <a:srgbClr val="7878A0"/>
                </a:solidFill>
                <a:latin typeface="Calibri"/>
              </a:rPr>
              <a:t>Wrong info planned: YES. traffic_tier=low allows wrong info. Will seed Yelp with old midnight hours (last_activity 2021), then introduce a 2025 forum post that corrects it. Temporal_decay is the natural pattern — post-pandemic hours cuts are everywhere.</a:t>
            </a:r>
            <a:endParaRPr sz="1000" b="0" i="0">
              <a:solidFill>
                <a:srgbClr val="7878A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05  —  PER-VENUE 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Corkbuzz Chelsea Market</a:t>
            </a:r>
            <a:endParaRPr sz="2400" b="0" i="0">
              <a:solidFill>
                <a:srgbClr val="E8E8F0"/>
              </a:solidFill>
              <a:latin typeface="Georgia" panose="02040502050405090303"/>
            </a:endParaRPr>
          </a:p>
        </p:txBody>
      </p:sp>
      <p:sp>
        <p:nvSpPr>
          <p:cNvPr id="4" name="TextBox 3"/>
          <p:cNvSpPr txBox="1"/>
          <p:nvPr/>
        </p:nvSpPr>
        <p:spPr>
          <a:xfrm>
            <a:off x="548640" y="109728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2 / 5  —  Venue row + Yelp listing (wrong hours seeded)</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PER-VENUE AGENT TOOLS</a:t>
            </a:r>
            <a:endParaRPr sz="900" b="0" i="0">
              <a:solidFill>
                <a:srgbClr val="7878A0"/>
              </a:solidFill>
              <a:latin typeface="Consolas"/>
            </a:endParaRPr>
          </a:p>
        </p:txBody>
      </p:sp>
      <p:sp>
        <p:nvSpPr>
          <p:cNvPr id="6" name="Rounded Rectangle 5"/>
          <p:cNvSpPr/>
          <p:nvPr/>
        </p:nvSpPr>
        <p:spPr>
          <a:xfrm>
            <a:off x="548640" y="201168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66544"/>
            <a:ext cx="2103120" cy="228600"/>
          </a:xfrm>
          <a:prstGeom prst="rect">
            <a:avLst/>
          </a:prstGeom>
          <a:noFill/>
        </p:spPr>
        <p:txBody>
          <a:bodyPr wrap="square" lIns="0" tIns="0" rIns="0" bIns="0" anchor="t">
            <a:spAutoFit/>
          </a:bodyPr>
          <a:lstStyle/>
          <a:p>
            <a:pPr algn="l"/>
            <a:r>
              <a:rPr sz="900" b="1" i="0">
                <a:solidFill>
                  <a:srgbClr val="6C8EFF"/>
                </a:solidFill>
                <a:latin typeface="Consolas"/>
              </a:rPr>
              <a:t>CREATE_PAGE</a:t>
            </a:r>
            <a:endParaRPr sz="900" b="1" i="0">
              <a:solidFill>
                <a:srgbClr val="6C8EFF"/>
              </a:solidFill>
              <a:latin typeface="Consolas"/>
            </a:endParaRPr>
          </a:p>
        </p:txBody>
      </p:sp>
      <p:sp>
        <p:nvSpPr>
          <p:cNvPr id="8" name="TextBox 7"/>
          <p:cNvSpPr txBox="1"/>
          <p:nvPr/>
        </p:nvSpPr>
        <p:spPr>
          <a:xfrm>
            <a:off x="685800" y="2267712"/>
            <a:ext cx="2103120" cy="274320"/>
          </a:xfrm>
          <a:prstGeom prst="rect">
            <a:avLst/>
          </a:prstGeom>
          <a:noFill/>
        </p:spPr>
        <p:txBody>
          <a:bodyPr wrap="square" lIns="0" tIns="0" rIns="0" bIns="0" anchor="t">
            <a:spAutoFit/>
          </a:bodyPr>
          <a:lstStyle/>
          <a:p>
            <a:pPr algn="l"/>
            <a:r>
              <a:rPr sz="850" b="0" i="0">
                <a:solidFill>
                  <a:srgbClr val="7878A0"/>
                </a:solidFill>
                <a:latin typeface="Calibri"/>
              </a:rPr>
              <a:t>Open a draft for a new entity</a:t>
            </a:r>
            <a:endParaRPr sz="850" b="0" i="0">
              <a:solidFill>
                <a:srgbClr val="7878A0"/>
              </a:solidFill>
              <a:latin typeface="Calibri"/>
            </a:endParaRPr>
          </a:p>
        </p:txBody>
      </p:sp>
      <p:sp>
        <p:nvSpPr>
          <p:cNvPr id="9" name="Rounded Rectangle 8"/>
          <p:cNvSpPr/>
          <p:nvPr/>
        </p:nvSpPr>
        <p:spPr>
          <a:xfrm>
            <a:off x="548640" y="2615184"/>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70048"/>
            <a:ext cx="2103120" cy="228600"/>
          </a:xfrm>
          <a:prstGeom prst="rect">
            <a:avLst/>
          </a:prstGeom>
          <a:noFill/>
        </p:spPr>
        <p:txBody>
          <a:bodyPr wrap="square" lIns="0" tIns="0" rIns="0" bIns="0" anchor="t">
            <a:spAutoFit/>
          </a:bodyPr>
          <a:lstStyle/>
          <a:p>
            <a:pPr algn="l"/>
            <a:r>
              <a:rPr sz="900" b="1" i="0">
                <a:solidFill>
                  <a:srgbClr val="6CFFC8"/>
                </a:solidFill>
                <a:latin typeface="Consolas"/>
              </a:rPr>
              <a:t>FILL</a:t>
            </a:r>
            <a:endParaRPr sz="900" b="1" i="0">
              <a:solidFill>
                <a:srgbClr val="6CFFC8"/>
              </a:solidFill>
              <a:latin typeface="Consolas"/>
            </a:endParaRPr>
          </a:p>
        </p:txBody>
      </p:sp>
      <p:sp>
        <p:nvSpPr>
          <p:cNvPr id="11" name="TextBox 10"/>
          <p:cNvSpPr txBox="1"/>
          <p:nvPr/>
        </p:nvSpPr>
        <p:spPr>
          <a:xfrm>
            <a:off x="685800" y="2871216"/>
            <a:ext cx="2103120" cy="274320"/>
          </a:xfrm>
          <a:prstGeom prst="rect">
            <a:avLst/>
          </a:prstGeom>
          <a:noFill/>
        </p:spPr>
        <p:txBody>
          <a:bodyPr wrap="square" lIns="0" tIns="0" rIns="0" bIns="0" anchor="t">
            <a:spAutoFit/>
          </a:bodyPr>
          <a:lstStyle/>
          <a:p>
            <a:pPr algn="l"/>
            <a:r>
              <a:rPr sz="850" b="0" i="0">
                <a:solidFill>
                  <a:srgbClr val="7878A0"/>
                </a:solidFill>
                <a:latin typeface="Calibri"/>
              </a:rPr>
              <a:t>Set fields on a draft</a:t>
            </a:r>
            <a:endParaRPr sz="850" b="0" i="0">
              <a:solidFill>
                <a:srgbClr val="7878A0"/>
              </a:solidFill>
              <a:latin typeface="Calibri"/>
            </a:endParaRPr>
          </a:p>
        </p:txBody>
      </p:sp>
      <p:sp>
        <p:nvSpPr>
          <p:cNvPr id="12" name="Rounded Rectangle 11"/>
          <p:cNvSpPr/>
          <p:nvPr/>
        </p:nvSpPr>
        <p:spPr>
          <a:xfrm>
            <a:off x="548640" y="3218688"/>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73552"/>
            <a:ext cx="2103120" cy="228600"/>
          </a:xfrm>
          <a:prstGeom prst="rect">
            <a:avLst/>
          </a:prstGeom>
          <a:noFill/>
        </p:spPr>
        <p:txBody>
          <a:bodyPr wrap="square" lIns="0" tIns="0" rIns="0" bIns="0" anchor="t">
            <a:spAutoFit/>
          </a:bodyPr>
          <a:lstStyle/>
          <a:p>
            <a:pPr algn="l"/>
            <a:r>
              <a:rPr sz="900" b="1" i="0">
                <a:solidFill>
                  <a:srgbClr val="6CFFC8"/>
                </a:solidFill>
                <a:latin typeface="Consolas"/>
              </a:rPr>
              <a:t>COMMIT</a:t>
            </a:r>
            <a:endParaRPr sz="900" b="1" i="0">
              <a:solidFill>
                <a:srgbClr val="6CFFC8"/>
              </a:solidFill>
              <a:latin typeface="Consolas"/>
            </a:endParaRPr>
          </a:p>
        </p:txBody>
      </p:sp>
      <p:sp>
        <p:nvSpPr>
          <p:cNvPr id="14" name="TextBox 13"/>
          <p:cNvSpPr txBox="1"/>
          <p:nvPr/>
        </p:nvSpPr>
        <p:spPr>
          <a:xfrm>
            <a:off x="685800" y="3474720"/>
            <a:ext cx="2103120" cy="274320"/>
          </a:xfrm>
          <a:prstGeom prst="rect">
            <a:avLst/>
          </a:prstGeom>
          <a:noFill/>
        </p:spPr>
        <p:txBody>
          <a:bodyPr wrap="square" lIns="0" tIns="0" rIns="0" bIns="0" anchor="t">
            <a:spAutoFit/>
          </a:bodyPr>
          <a:lstStyle/>
          <a:p>
            <a:pPr algn="l"/>
            <a:r>
              <a:rPr sz="850" b="0" i="0">
                <a:solidFill>
                  <a:srgbClr val="7878A0"/>
                </a:solidFill>
                <a:latin typeface="Calibri"/>
              </a:rPr>
              <a:t>Persist a draft as canonical</a:t>
            </a:r>
            <a:endParaRPr sz="850" b="0" i="0">
              <a:solidFill>
                <a:srgbClr val="7878A0"/>
              </a:solidFill>
              <a:latin typeface="Calibri"/>
            </a:endParaRPr>
          </a:p>
        </p:txBody>
      </p:sp>
      <p:sp>
        <p:nvSpPr>
          <p:cNvPr id="15" name="Rounded Rectangle 14"/>
          <p:cNvSpPr/>
          <p:nvPr/>
        </p:nvSpPr>
        <p:spPr>
          <a:xfrm>
            <a:off x="548640" y="3822192"/>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77056"/>
            <a:ext cx="2103120" cy="228600"/>
          </a:xfrm>
          <a:prstGeom prst="rect">
            <a:avLst/>
          </a:prstGeom>
          <a:noFill/>
        </p:spPr>
        <p:txBody>
          <a:bodyPr wrap="square" lIns="0" tIns="0" rIns="0" bIns="0" anchor="t">
            <a:spAutoFit/>
          </a:bodyPr>
          <a:lstStyle/>
          <a:p>
            <a:pPr algn="l"/>
            <a:r>
              <a:rPr sz="900" b="1" i="0">
                <a:solidFill>
                  <a:srgbClr val="FFA84A"/>
                </a:solidFill>
                <a:latin typeface="Consolas"/>
              </a:rPr>
              <a:t>ADD_WRONG_INFO</a:t>
            </a:r>
            <a:endParaRPr sz="900" b="1" i="0">
              <a:solidFill>
                <a:srgbClr val="FFA84A"/>
              </a:solidFill>
              <a:latin typeface="Consolas"/>
            </a:endParaRPr>
          </a:p>
        </p:txBody>
      </p:sp>
      <p:sp>
        <p:nvSpPr>
          <p:cNvPr id="17" name="TextBox 16"/>
          <p:cNvSpPr txBox="1"/>
          <p:nvPr/>
        </p:nvSpPr>
        <p:spPr>
          <a:xfrm>
            <a:off x="685800" y="4078224"/>
            <a:ext cx="2103120" cy="274320"/>
          </a:xfrm>
          <a:prstGeom prst="rect">
            <a:avLst/>
          </a:prstGeom>
          <a:noFill/>
        </p:spPr>
        <p:txBody>
          <a:bodyPr wrap="square" lIns="0" tIns="0" rIns="0" bIns="0" anchor="t">
            <a:spAutoFit/>
          </a:bodyPr>
          <a:lstStyle/>
          <a:p>
            <a:pPr algn="l"/>
            <a:r>
              <a:rPr sz="850" b="0" i="0">
                <a:solidFill>
                  <a:srgbClr val="7878A0"/>
                </a:solidFill>
                <a:latin typeface="Calibri"/>
              </a:rPr>
              <a:t>Plant a wrong/correct value pair atomically</a:t>
            </a:r>
            <a:endParaRPr sz="850" b="0" i="0">
              <a:solidFill>
                <a:srgbClr val="7878A0"/>
              </a:solidFill>
              <a:latin typeface="Calibri"/>
            </a:endParaRPr>
          </a:p>
        </p:txBody>
      </p:sp>
      <p:sp>
        <p:nvSpPr>
          <p:cNvPr id="18" name="Rounded Rectangle 17"/>
          <p:cNvSpPr/>
          <p:nvPr/>
        </p:nvSpPr>
        <p:spPr>
          <a:xfrm>
            <a:off x="548640" y="4425696"/>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480560"/>
            <a:ext cx="2103120" cy="228600"/>
          </a:xfrm>
          <a:prstGeom prst="rect">
            <a:avLst/>
          </a:prstGeom>
          <a:noFill/>
        </p:spPr>
        <p:txBody>
          <a:bodyPr wrap="square" lIns="0" tIns="0" rIns="0" bIns="0" anchor="t">
            <a:spAutoFit/>
          </a:bodyPr>
          <a:lstStyle/>
          <a:p>
            <a:pPr algn="l"/>
            <a:r>
              <a:rPr sz="900" b="1" i="0">
                <a:solidFill>
                  <a:srgbClr val="C87EFF"/>
                </a:solidFill>
                <a:latin typeface="Consolas"/>
              </a:rPr>
              <a:t>REGISTER_DOC_REFS</a:t>
            </a:r>
            <a:endParaRPr sz="900" b="1" i="0">
              <a:solidFill>
                <a:srgbClr val="C87EFF"/>
              </a:solidFill>
              <a:latin typeface="Consolas"/>
            </a:endParaRPr>
          </a:p>
        </p:txBody>
      </p:sp>
      <p:sp>
        <p:nvSpPr>
          <p:cNvPr id="20" name="TextBox 19"/>
          <p:cNvSpPr txBox="1"/>
          <p:nvPr/>
        </p:nvSpPr>
        <p:spPr>
          <a:xfrm>
            <a:off x="685800" y="4681728"/>
            <a:ext cx="2103120" cy="274320"/>
          </a:xfrm>
          <a:prstGeom prst="rect">
            <a:avLst/>
          </a:prstGeom>
          <a:noFill/>
        </p:spPr>
        <p:txBody>
          <a:bodyPr wrap="square" lIns="0" tIns="0" rIns="0" bIns="0" anchor="t">
            <a:spAutoFit/>
          </a:bodyPr>
          <a:lstStyle/>
          <a:p>
            <a:pPr algn="l"/>
            <a:r>
              <a:rPr sz="850" b="0" i="0">
                <a:solidFill>
                  <a:srgbClr val="7878A0"/>
                </a:solidFill>
                <a:latin typeface="Calibri"/>
              </a:rPr>
              <a:t>Link docs to wrong-info roles</a:t>
            </a:r>
            <a:endParaRPr sz="850" b="0" i="0">
              <a:solidFill>
                <a:srgbClr val="7878A0"/>
              </a:solidFill>
              <a:latin typeface="Calibri"/>
            </a:endParaRPr>
          </a:p>
        </p:txBody>
      </p:sp>
      <p:sp>
        <p:nvSpPr>
          <p:cNvPr id="21" name="Rounded Rectangle 20"/>
          <p:cNvSpPr/>
          <p:nvPr/>
        </p:nvSpPr>
        <p:spPr>
          <a:xfrm>
            <a:off x="548640" y="502920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084064"/>
            <a:ext cx="2103120" cy="228600"/>
          </a:xfrm>
          <a:prstGeom prst="rect">
            <a:avLst/>
          </a:prstGeom>
          <a:noFill/>
        </p:spPr>
        <p:txBody>
          <a:bodyPr wrap="square" lIns="0" tIns="0" rIns="0" bIns="0" anchor="t">
            <a:spAutoFit/>
          </a:bodyPr>
          <a:lstStyle/>
          <a:p>
            <a:pPr algn="l"/>
            <a:r>
              <a:rPr sz="900" b="1" i="0">
                <a:solidFill>
                  <a:srgbClr val="FF6C8E"/>
                </a:solidFill>
                <a:latin typeface="Consolas"/>
              </a:rPr>
              <a:t>VERIFY</a:t>
            </a:r>
            <a:endParaRPr sz="900" b="1" i="0">
              <a:solidFill>
                <a:srgbClr val="FF6C8E"/>
              </a:solidFill>
              <a:latin typeface="Consolas"/>
            </a:endParaRPr>
          </a:p>
        </p:txBody>
      </p:sp>
      <p:sp>
        <p:nvSpPr>
          <p:cNvPr id="23" name="TextBox 22"/>
          <p:cNvSpPr txBox="1"/>
          <p:nvPr/>
        </p:nvSpPr>
        <p:spPr>
          <a:xfrm>
            <a:off x="685800" y="5285232"/>
            <a:ext cx="2103120" cy="274320"/>
          </a:xfrm>
          <a:prstGeom prst="rect">
            <a:avLst/>
          </a:prstGeom>
          <a:noFill/>
        </p:spPr>
        <p:txBody>
          <a:bodyPr wrap="square" lIns="0" tIns="0" rIns="0" bIns="0" anchor="t">
            <a:spAutoFit/>
          </a:bodyPr>
          <a:lstStyle/>
          <a:p>
            <a:pPr algn="l"/>
            <a:r>
              <a:rPr sz="850" b="0" i="0">
                <a:solidFill>
                  <a:srgbClr val="7878A0"/>
                </a:solidFill>
                <a:latin typeface="Calibri"/>
              </a:rPr>
              <a:t>Run 11 venue completeness checks</a:t>
            </a:r>
            <a:endParaRPr sz="850" b="0" i="0">
              <a:solidFill>
                <a:srgbClr val="7878A0"/>
              </a:solidFill>
              <a:latin typeface="Calibri"/>
            </a:endParaRPr>
          </a:p>
        </p:txBody>
      </p:sp>
      <p:sp>
        <p:nvSpPr>
          <p:cNvPr id="24" name="Rounded Rectangle 23"/>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108960" y="1691640"/>
            <a:ext cx="3401568"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0" y="1874520"/>
            <a:ext cx="8503920" cy="365760"/>
          </a:xfrm>
          <a:prstGeom prst="rect">
            <a:avLst/>
          </a:prstGeom>
          <a:noFill/>
        </p:spPr>
        <p:txBody>
          <a:bodyPr wrap="square" lIns="0" tIns="0" rIns="0" bIns="0" anchor="t">
            <a:spAutoFit/>
          </a:bodyPr>
          <a:lstStyle/>
          <a:p>
            <a:pPr algn="l"/>
            <a:r>
              <a:rPr sz="1300" b="1" i="0">
                <a:solidFill>
                  <a:srgbClr val="6C8EFF"/>
                </a:solidFill>
                <a:latin typeface="Consolas"/>
              </a:rPr>
              <a:t>🛠  Venue row + Yelp listing (wrong hours seeded)</a:t>
            </a:r>
            <a:endParaRPr sz="1300" b="1" i="0">
              <a:solidFill>
                <a:srgbClr val="6C8EFF"/>
              </a:solidFill>
              <a:latin typeface="Consolas"/>
            </a:endParaRPr>
          </a:p>
        </p:txBody>
      </p:sp>
      <p:sp>
        <p:nvSpPr>
          <p:cNvPr id="27" name="Rounded Rectangle 26"/>
          <p:cNvSpPr/>
          <p:nvPr/>
        </p:nvSpPr>
        <p:spPr>
          <a:xfrm>
            <a:off x="3108960" y="2377440"/>
            <a:ext cx="8503920" cy="64008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245059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9" name="TextBox 28"/>
          <p:cNvSpPr txBox="1"/>
          <p:nvPr/>
        </p:nvSpPr>
        <p:spPr>
          <a:xfrm>
            <a:off x="3246120" y="2651760"/>
            <a:ext cx="8229600" cy="320040"/>
          </a:xfrm>
          <a:prstGeom prst="rect">
            <a:avLst/>
          </a:prstGeom>
          <a:noFill/>
        </p:spPr>
        <p:txBody>
          <a:bodyPr wrap="square" lIns="0" tIns="0" rIns="0" bIns="0" anchor="t">
            <a:spAutoFit/>
          </a:bodyPr>
          <a:lstStyle/>
          <a:p>
            <a:pPr algn="l"/>
            <a:r>
              <a:rPr sz="1000" b="0" i="0">
                <a:solidFill>
                  <a:srgbClr val="7878A0"/>
                </a:solidFill>
                <a:latin typeface="Calibri"/>
              </a:rPr>
              <a:t>Create the canonical venue (ground truth) and Yelp listing (with the trap baked in).</a:t>
            </a:r>
            <a:endParaRPr sz="1000" b="0" i="0">
              <a:solidFill>
                <a:srgbClr val="7878A0"/>
              </a:solidFill>
              <a:latin typeface="Calibri"/>
            </a:endParaRPr>
          </a:p>
        </p:txBody>
      </p:sp>
      <p:sp>
        <p:nvSpPr>
          <p:cNvPr id="30" name="Rounded Rectangle 29"/>
          <p:cNvSpPr/>
          <p:nvPr/>
        </p:nvSpPr>
        <p:spPr>
          <a:xfrm>
            <a:off x="3108960" y="3127248"/>
            <a:ext cx="850392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6120" y="3182112"/>
            <a:ext cx="8229600" cy="228600"/>
          </a:xfrm>
          <a:prstGeom prst="rect">
            <a:avLst/>
          </a:prstGeom>
          <a:noFill/>
        </p:spPr>
        <p:txBody>
          <a:bodyPr wrap="square" lIns="0" tIns="0" rIns="0" bIns="0" anchor="t">
            <a:spAutoFit/>
          </a:bodyPr>
          <a:lstStyle/>
          <a:p>
            <a:pPr algn="l"/>
            <a:r>
              <a:rPr sz="1000" b="1" i="0">
                <a:solidFill>
                  <a:srgbClr val="6C8EFF"/>
                </a:solidFill>
                <a:latin typeface="Consolas"/>
              </a:rPr>
              <a:t>CREATE_PAGE   </a:t>
            </a:r>
            <a:r>
              <a:rPr sz="900" b="0" i="0">
                <a:solidFill>
                  <a:srgbClr val="6C8EFF"/>
                </a:solidFill>
                <a:latin typeface="Consolas"/>
              </a:rPr>
              <a:t>venue M4uBkLL</a:t>
            </a:r>
            <a:endParaRPr sz="900" b="0" i="0">
              <a:solidFill>
                <a:srgbClr val="6C8EFF"/>
              </a:solidFill>
              <a:latin typeface="Consolas"/>
            </a:endParaRPr>
          </a:p>
        </p:txBody>
      </p:sp>
      <p:sp>
        <p:nvSpPr>
          <p:cNvPr id="32" name="TextBox 31"/>
          <p:cNvSpPr txBox="1"/>
          <p:nvPr/>
        </p:nvSpPr>
        <p:spPr>
          <a:xfrm>
            <a:off x="3246120" y="3419856"/>
            <a:ext cx="8229600" cy="228600"/>
          </a:xfrm>
          <a:prstGeom prst="rect">
            <a:avLst/>
          </a:prstGeom>
          <a:noFill/>
        </p:spPr>
        <p:txBody>
          <a:bodyPr wrap="square" lIns="0" tIns="0" rIns="0" bIns="0" anchor="t">
            <a:spAutoFit/>
          </a:bodyPr>
          <a:lstStyle/>
          <a:p>
            <a:pPr algn="l"/>
            <a:r>
              <a:rPr sz="900" b="0" i="0">
                <a:solidFill>
                  <a:srgbClr val="7878A0"/>
                </a:solidFill>
                <a:latin typeface="Consolas"/>
              </a:rPr>
              <a:t>Corkbuzz Chelsea Market — wine bar, low-traffic</a:t>
            </a:r>
            <a:endParaRPr sz="900" b="0" i="0">
              <a:solidFill>
                <a:srgbClr val="7878A0"/>
              </a:solidFill>
              <a:latin typeface="Consolas"/>
            </a:endParaRPr>
          </a:p>
        </p:txBody>
      </p:sp>
      <p:sp>
        <p:nvSpPr>
          <p:cNvPr id="33" name="Rounded Rectangle 32"/>
          <p:cNvSpPr/>
          <p:nvPr/>
        </p:nvSpPr>
        <p:spPr>
          <a:xfrm>
            <a:off x="3108960" y="3749040"/>
            <a:ext cx="850392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6120" y="3803904"/>
            <a:ext cx="8229600" cy="228600"/>
          </a:xfrm>
          <a:prstGeom prst="rect">
            <a:avLst/>
          </a:prstGeom>
          <a:noFill/>
        </p:spPr>
        <p:txBody>
          <a:bodyPr wrap="square" lIns="0" tIns="0" rIns="0" bIns="0" anchor="t">
            <a:spAutoFit/>
          </a:bodyPr>
          <a:lstStyle/>
          <a:p>
            <a:pPr algn="l"/>
            <a:r>
              <a:rPr sz="1000" b="1" i="0">
                <a:solidFill>
                  <a:srgbClr val="6CFFC8"/>
                </a:solidFill>
                <a:latin typeface="Consolas"/>
              </a:rPr>
              <a:t>FILL   </a:t>
            </a:r>
            <a:r>
              <a:rPr sz="900" b="0" i="0">
                <a:solidFill>
                  <a:srgbClr val="6CFFC8"/>
                </a:solidFill>
                <a:latin typeface="Consolas"/>
              </a:rPr>
              <a:t>venue: canonical fields</a:t>
            </a:r>
            <a:endParaRPr sz="900" b="0" i="0">
              <a:solidFill>
                <a:srgbClr val="6CFFC8"/>
              </a:solidFill>
              <a:latin typeface="Consolas"/>
            </a:endParaRPr>
          </a:p>
        </p:txBody>
      </p:sp>
      <p:sp>
        <p:nvSpPr>
          <p:cNvPr id="35" name="TextBox 34"/>
          <p:cNvSpPr txBox="1"/>
          <p:nvPr/>
        </p:nvSpPr>
        <p:spPr>
          <a:xfrm>
            <a:off x="3246120" y="4041648"/>
            <a:ext cx="8229600" cy="228600"/>
          </a:xfrm>
          <a:prstGeom prst="rect">
            <a:avLst/>
          </a:prstGeom>
          <a:noFill/>
        </p:spPr>
        <p:txBody>
          <a:bodyPr wrap="square" lIns="0" tIns="0" rIns="0" bIns="0" anchor="t">
            <a:spAutoFit/>
          </a:bodyPr>
          <a:lstStyle/>
          <a:p>
            <a:pPr algn="l"/>
            <a:r>
              <a:rPr sz="900" b="0" i="0">
                <a:solidFill>
                  <a:srgbClr val="7878A0"/>
                </a:solidFill>
                <a:latin typeface="Consolas"/>
              </a:rPr>
              <a:t>Friday 12:00–22:00 (truth), pet OK, no photo, no wheelchair</a:t>
            </a:r>
            <a:endParaRPr sz="900" b="0" i="0">
              <a:solidFill>
                <a:srgbClr val="7878A0"/>
              </a:solidFill>
              <a:latin typeface="Consolas"/>
            </a:endParaRPr>
          </a:p>
        </p:txBody>
      </p:sp>
      <p:sp>
        <p:nvSpPr>
          <p:cNvPr id="36" name="Rounded Rectangle 35"/>
          <p:cNvSpPr/>
          <p:nvPr/>
        </p:nvSpPr>
        <p:spPr>
          <a:xfrm>
            <a:off x="3108960" y="4370832"/>
            <a:ext cx="850392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46120" y="4425696"/>
            <a:ext cx="8229600" cy="228600"/>
          </a:xfrm>
          <a:prstGeom prst="rect">
            <a:avLst/>
          </a:prstGeom>
          <a:noFill/>
        </p:spPr>
        <p:txBody>
          <a:bodyPr wrap="square" lIns="0" tIns="0" rIns="0" bIns="0" anchor="t">
            <a:spAutoFit/>
          </a:bodyPr>
          <a:lstStyle/>
          <a:p>
            <a:pPr algn="l"/>
            <a:r>
              <a:rPr sz="1000" b="1" i="0">
                <a:solidFill>
                  <a:srgbClr val="6C8EFF"/>
                </a:solidFill>
                <a:latin typeface="Consolas"/>
              </a:rPr>
              <a:t>CREATE_PAGE   </a:t>
            </a:r>
            <a:r>
              <a:rPr sz="900" b="0" i="0">
                <a:solidFill>
                  <a:srgbClr val="6C8EFF"/>
                </a:solidFill>
                <a:latin typeface="Consolas"/>
              </a:rPr>
              <a:t>yelp_listing</a:t>
            </a:r>
            <a:endParaRPr sz="900" b="0" i="0">
              <a:solidFill>
                <a:srgbClr val="6C8EFF"/>
              </a:solidFill>
              <a:latin typeface="Consolas"/>
            </a:endParaRPr>
          </a:p>
        </p:txBody>
      </p:sp>
      <p:sp>
        <p:nvSpPr>
          <p:cNvPr id="38" name="TextBox 37"/>
          <p:cNvSpPr txBox="1"/>
          <p:nvPr/>
        </p:nvSpPr>
        <p:spPr>
          <a:xfrm>
            <a:off x="3246120" y="4663440"/>
            <a:ext cx="8229600" cy="228600"/>
          </a:xfrm>
          <a:prstGeom prst="rect">
            <a:avLst/>
          </a:prstGeom>
          <a:noFill/>
        </p:spPr>
        <p:txBody>
          <a:bodyPr wrap="square" lIns="0" tIns="0" rIns="0" bIns="0" anchor="t">
            <a:spAutoFit/>
          </a:bodyPr>
          <a:lstStyle/>
          <a:p>
            <a:pPr algn="l"/>
            <a:r>
              <a:rPr sz="900" b="0" i="0">
                <a:solidFill>
                  <a:srgbClr val="7878A0"/>
                </a:solidFill>
                <a:latin typeface="Consolas"/>
              </a:rPr>
              <a:t>4.0★ · 47 reviews</a:t>
            </a:r>
            <a:endParaRPr sz="900" b="0" i="0">
              <a:solidFill>
                <a:srgbClr val="7878A0"/>
              </a:solidFill>
              <a:latin typeface="Consolas"/>
            </a:endParaRPr>
          </a:p>
        </p:txBody>
      </p:sp>
      <p:sp>
        <p:nvSpPr>
          <p:cNvPr id="39" name="Rounded Rectangle 38"/>
          <p:cNvSpPr/>
          <p:nvPr/>
        </p:nvSpPr>
        <p:spPr>
          <a:xfrm>
            <a:off x="3108960" y="4992624"/>
            <a:ext cx="8503920" cy="713232"/>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6120" y="5047488"/>
            <a:ext cx="8229600" cy="228600"/>
          </a:xfrm>
          <a:prstGeom prst="rect">
            <a:avLst/>
          </a:prstGeom>
          <a:noFill/>
        </p:spPr>
        <p:txBody>
          <a:bodyPr wrap="square" lIns="0" tIns="0" rIns="0" bIns="0" anchor="t">
            <a:spAutoFit/>
          </a:bodyPr>
          <a:lstStyle/>
          <a:p>
            <a:pPr algn="l"/>
            <a:r>
              <a:rPr sz="1000" b="1" i="0">
                <a:solidFill>
                  <a:srgbClr val="6CFFC8"/>
                </a:solidFill>
                <a:latin typeface="Consolas"/>
              </a:rPr>
              <a:t>FILL   </a:t>
            </a:r>
            <a:r>
              <a:rPr sz="900" b="0" i="0">
                <a:solidFill>
                  <a:srgbClr val="6CFFC8"/>
                </a:solidFill>
                <a:latin typeface="Consolas"/>
              </a:rPr>
              <a:t>yelp: yelp_hours_fri="12:00–0:00" · last_activity 2021-03-15</a:t>
            </a:r>
            <a:endParaRPr sz="900" b="0" i="0">
              <a:solidFill>
                <a:srgbClr val="6CFFC8"/>
              </a:solidFill>
              <a:latin typeface="Consolas"/>
            </a:endParaRPr>
          </a:p>
        </p:txBody>
      </p:sp>
      <p:sp>
        <p:nvSpPr>
          <p:cNvPr id="41" name="TextBox 40"/>
          <p:cNvSpPr txBox="1"/>
          <p:nvPr/>
        </p:nvSpPr>
        <p:spPr>
          <a:xfrm>
            <a:off x="3246120" y="5285232"/>
            <a:ext cx="8229600" cy="393192"/>
          </a:xfrm>
          <a:prstGeom prst="rect">
            <a:avLst/>
          </a:prstGeom>
          <a:noFill/>
        </p:spPr>
        <p:txBody>
          <a:bodyPr wrap="square" lIns="0" tIns="0" rIns="0" bIns="0" anchor="t">
            <a:spAutoFit/>
          </a:bodyPr>
          <a:lstStyle/>
          <a:p>
            <a:pPr algn="l"/>
            <a:r>
              <a:rPr sz="900" b="0" i="0">
                <a:solidFill>
                  <a:srgbClr val="7878A0"/>
                </a:solidFill>
                <a:latin typeface="Consolas"/>
              </a:rPr>
              <a:t>incorrect midnight hours + 4-yr-old listing = plausible trap</a:t>
            </a:r>
            <a:endParaRPr sz="900" b="0" i="0">
              <a:solidFill>
                <a:srgbClr val="7878A0"/>
              </a:solidFill>
              <a:latin typeface="Consolas"/>
            </a:endParaRPr>
          </a:p>
        </p:txBody>
      </p:sp>
      <p:sp>
        <p:nvSpPr>
          <p:cNvPr id="42" name="Rounded Rectangle 41"/>
          <p:cNvSpPr/>
          <p:nvPr/>
        </p:nvSpPr>
        <p:spPr>
          <a:xfrm>
            <a:off x="3108960" y="5779008"/>
            <a:ext cx="8503920" cy="54864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46120" y="5833872"/>
            <a:ext cx="8229600" cy="228600"/>
          </a:xfrm>
          <a:prstGeom prst="rect">
            <a:avLst/>
          </a:prstGeom>
          <a:noFill/>
        </p:spPr>
        <p:txBody>
          <a:bodyPr wrap="square" lIns="0" tIns="0" rIns="0" bIns="0" anchor="t">
            <a:spAutoFit/>
          </a:bodyPr>
          <a:lstStyle/>
          <a:p>
            <a:pPr algn="l"/>
            <a:r>
              <a:rPr sz="1000" b="1" i="0">
                <a:solidFill>
                  <a:srgbClr val="6CFFC8"/>
                </a:solidFill>
                <a:latin typeface="Consolas"/>
              </a:rPr>
              <a:t>COMMIT   </a:t>
            </a:r>
            <a:r>
              <a:rPr sz="900" b="0" i="0">
                <a:solidFill>
                  <a:srgbClr val="6CFFC8"/>
                </a:solidFill>
                <a:latin typeface="Consolas"/>
              </a:rPr>
              <a:t>venue + yelp_listing</a:t>
            </a:r>
            <a:endParaRPr sz="900" b="0" i="0">
              <a:solidFill>
                <a:srgbClr val="6CFFC8"/>
              </a:solidFill>
              <a:latin typeface="Consolas"/>
            </a:endParaRPr>
          </a:p>
        </p:txBody>
      </p:sp>
      <p:sp>
        <p:nvSpPr>
          <p:cNvPr id="44" name="TextBox 43"/>
          <p:cNvSpPr txBox="1"/>
          <p:nvPr/>
        </p:nvSpPr>
        <p:spPr>
          <a:xfrm>
            <a:off x="3246120" y="6071616"/>
            <a:ext cx="8229600" cy="228600"/>
          </a:xfrm>
          <a:prstGeom prst="rect">
            <a:avLst/>
          </a:prstGeom>
          <a:noFill/>
        </p:spPr>
        <p:txBody>
          <a:bodyPr wrap="square" lIns="0" tIns="0" rIns="0" bIns="0" anchor="t">
            <a:spAutoFit/>
          </a:bodyPr>
          <a:lstStyle/>
          <a:p>
            <a:pPr algn="l"/>
            <a:r>
              <a:rPr sz="900" b="0" i="0">
                <a:solidFill>
                  <a:srgbClr val="6CFFC8"/>
                </a:solidFill>
                <a:latin typeface="Consolas"/>
              </a:rPr>
              <a:t>✅</a:t>
            </a:r>
            <a:endParaRPr sz="900" b="0" i="0">
              <a:solidFill>
                <a:srgbClr val="6CFFC8"/>
              </a:solidFill>
              <a:latin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05  —  PER-VENUE 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Corkbuzz Chelsea Market</a:t>
            </a:r>
            <a:endParaRPr sz="2400" b="0" i="0">
              <a:solidFill>
                <a:srgbClr val="E8E8F0"/>
              </a:solidFill>
              <a:latin typeface="Georgia" panose="02040502050405090303"/>
            </a:endParaRPr>
          </a:p>
        </p:txBody>
      </p:sp>
      <p:sp>
        <p:nvSpPr>
          <p:cNvPr id="4" name="TextBox 3"/>
          <p:cNvSpPr txBox="1"/>
          <p:nvPr/>
        </p:nvSpPr>
        <p:spPr>
          <a:xfrm>
            <a:off x="548640" y="109728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3 / 5  —  Official site = ground truth carrier</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PER-VENUE AGENT TOOLS</a:t>
            </a:r>
            <a:endParaRPr sz="900" b="0" i="0">
              <a:solidFill>
                <a:srgbClr val="7878A0"/>
              </a:solidFill>
              <a:latin typeface="Consolas"/>
            </a:endParaRPr>
          </a:p>
        </p:txBody>
      </p:sp>
      <p:sp>
        <p:nvSpPr>
          <p:cNvPr id="6" name="Rounded Rectangle 5"/>
          <p:cNvSpPr/>
          <p:nvPr/>
        </p:nvSpPr>
        <p:spPr>
          <a:xfrm>
            <a:off x="548640" y="201168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66544"/>
            <a:ext cx="2103120" cy="228600"/>
          </a:xfrm>
          <a:prstGeom prst="rect">
            <a:avLst/>
          </a:prstGeom>
          <a:noFill/>
        </p:spPr>
        <p:txBody>
          <a:bodyPr wrap="square" lIns="0" tIns="0" rIns="0" bIns="0" anchor="t">
            <a:spAutoFit/>
          </a:bodyPr>
          <a:lstStyle/>
          <a:p>
            <a:pPr algn="l"/>
            <a:r>
              <a:rPr sz="900" b="1" i="0">
                <a:solidFill>
                  <a:srgbClr val="6C8EFF"/>
                </a:solidFill>
                <a:latin typeface="Consolas"/>
              </a:rPr>
              <a:t>CREATE_PAGE</a:t>
            </a:r>
            <a:endParaRPr sz="900" b="1" i="0">
              <a:solidFill>
                <a:srgbClr val="6C8EFF"/>
              </a:solidFill>
              <a:latin typeface="Consolas"/>
            </a:endParaRPr>
          </a:p>
        </p:txBody>
      </p:sp>
      <p:sp>
        <p:nvSpPr>
          <p:cNvPr id="8" name="TextBox 7"/>
          <p:cNvSpPr txBox="1"/>
          <p:nvPr/>
        </p:nvSpPr>
        <p:spPr>
          <a:xfrm>
            <a:off x="685800" y="2267712"/>
            <a:ext cx="2103120" cy="274320"/>
          </a:xfrm>
          <a:prstGeom prst="rect">
            <a:avLst/>
          </a:prstGeom>
          <a:noFill/>
        </p:spPr>
        <p:txBody>
          <a:bodyPr wrap="square" lIns="0" tIns="0" rIns="0" bIns="0" anchor="t">
            <a:spAutoFit/>
          </a:bodyPr>
          <a:lstStyle/>
          <a:p>
            <a:pPr algn="l"/>
            <a:r>
              <a:rPr sz="850" b="0" i="0">
                <a:solidFill>
                  <a:srgbClr val="7878A0"/>
                </a:solidFill>
                <a:latin typeface="Calibri"/>
              </a:rPr>
              <a:t>Open a draft for a new entity</a:t>
            </a:r>
            <a:endParaRPr sz="850" b="0" i="0">
              <a:solidFill>
                <a:srgbClr val="7878A0"/>
              </a:solidFill>
              <a:latin typeface="Calibri"/>
            </a:endParaRPr>
          </a:p>
        </p:txBody>
      </p:sp>
      <p:sp>
        <p:nvSpPr>
          <p:cNvPr id="9" name="Rounded Rectangle 8"/>
          <p:cNvSpPr/>
          <p:nvPr/>
        </p:nvSpPr>
        <p:spPr>
          <a:xfrm>
            <a:off x="548640" y="2615184"/>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70048"/>
            <a:ext cx="2103120" cy="228600"/>
          </a:xfrm>
          <a:prstGeom prst="rect">
            <a:avLst/>
          </a:prstGeom>
          <a:noFill/>
        </p:spPr>
        <p:txBody>
          <a:bodyPr wrap="square" lIns="0" tIns="0" rIns="0" bIns="0" anchor="t">
            <a:spAutoFit/>
          </a:bodyPr>
          <a:lstStyle/>
          <a:p>
            <a:pPr algn="l"/>
            <a:r>
              <a:rPr sz="900" b="1" i="0">
                <a:solidFill>
                  <a:srgbClr val="6CFFC8"/>
                </a:solidFill>
                <a:latin typeface="Consolas"/>
              </a:rPr>
              <a:t>FILL</a:t>
            </a:r>
            <a:endParaRPr sz="900" b="1" i="0">
              <a:solidFill>
                <a:srgbClr val="6CFFC8"/>
              </a:solidFill>
              <a:latin typeface="Consolas"/>
            </a:endParaRPr>
          </a:p>
        </p:txBody>
      </p:sp>
      <p:sp>
        <p:nvSpPr>
          <p:cNvPr id="11" name="TextBox 10"/>
          <p:cNvSpPr txBox="1"/>
          <p:nvPr/>
        </p:nvSpPr>
        <p:spPr>
          <a:xfrm>
            <a:off x="685800" y="2871216"/>
            <a:ext cx="2103120" cy="274320"/>
          </a:xfrm>
          <a:prstGeom prst="rect">
            <a:avLst/>
          </a:prstGeom>
          <a:noFill/>
        </p:spPr>
        <p:txBody>
          <a:bodyPr wrap="square" lIns="0" tIns="0" rIns="0" bIns="0" anchor="t">
            <a:spAutoFit/>
          </a:bodyPr>
          <a:lstStyle/>
          <a:p>
            <a:pPr algn="l"/>
            <a:r>
              <a:rPr sz="850" b="0" i="0">
                <a:solidFill>
                  <a:srgbClr val="7878A0"/>
                </a:solidFill>
                <a:latin typeface="Calibri"/>
              </a:rPr>
              <a:t>Set fields on a draft</a:t>
            </a:r>
            <a:endParaRPr sz="850" b="0" i="0">
              <a:solidFill>
                <a:srgbClr val="7878A0"/>
              </a:solidFill>
              <a:latin typeface="Calibri"/>
            </a:endParaRPr>
          </a:p>
        </p:txBody>
      </p:sp>
      <p:sp>
        <p:nvSpPr>
          <p:cNvPr id="12" name="Rounded Rectangle 11"/>
          <p:cNvSpPr/>
          <p:nvPr/>
        </p:nvSpPr>
        <p:spPr>
          <a:xfrm>
            <a:off x="548640" y="3218688"/>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73552"/>
            <a:ext cx="2103120" cy="228600"/>
          </a:xfrm>
          <a:prstGeom prst="rect">
            <a:avLst/>
          </a:prstGeom>
          <a:noFill/>
        </p:spPr>
        <p:txBody>
          <a:bodyPr wrap="square" lIns="0" tIns="0" rIns="0" bIns="0" anchor="t">
            <a:spAutoFit/>
          </a:bodyPr>
          <a:lstStyle/>
          <a:p>
            <a:pPr algn="l"/>
            <a:r>
              <a:rPr sz="900" b="1" i="0">
                <a:solidFill>
                  <a:srgbClr val="6CFFC8"/>
                </a:solidFill>
                <a:latin typeface="Consolas"/>
              </a:rPr>
              <a:t>COMMIT</a:t>
            </a:r>
            <a:endParaRPr sz="900" b="1" i="0">
              <a:solidFill>
                <a:srgbClr val="6CFFC8"/>
              </a:solidFill>
              <a:latin typeface="Consolas"/>
            </a:endParaRPr>
          </a:p>
        </p:txBody>
      </p:sp>
      <p:sp>
        <p:nvSpPr>
          <p:cNvPr id="14" name="TextBox 13"/>
          <p:cNvSpPr txBox="1"/>
          <p:nvPr/>
        </p:nvSpPr>
        <p:spPr>
          <a:xfrm>
            <a:off x="685800" y="3474720"/>
            <a:ext cx="2103120" cy="274320"/>
          </a:xfrm>
          <a:prstGeom prst="rect">
            <a:avLst/>
          </a:prstGeom>
          <a:noFill/>
        </p:spPr>
        <p:txBody>
          <a:bodyPr wrap="square" lIns="0" tIns="0" rIns="0" bIns="0" anchor="t">
            <a:spAutoFit/>
          </a:bodyPr>
          <a:lstStyle/>
          <a:p>
            <a:pPr algn="l"/>
            <a:r>
              <a:rPr sz="850" b="0" i="0">
                <a:solidFill>
                  <a:srgbClr val="7878A0"/>
                </a:solidFill>
                <a:latin typeface="Calibri"/>
              </a:rPr>
              <a:t>Persist a draft as canonical</a:t>
            </a:r>
            <a:endParaRPr sz="850" b="0" i="0">
              <a:solidFill>
                <a:srgbClr val="7878A0"/>
              </a:solidFill>
              <a:latin typeface="Calibri"/>
            </a:endParaRPr>
          </a:p>
        </p:txBody>
      </p:sp>
      <p:sp>
        <p:nvSpPr>
          <p:cNvPr id="15" name="Rounded Rectangle 14"/>
          <p:cNvSpPr/>
          <p:nvPr/>
        </p:nvSpPr>
        <p:spPr>
          <a:xfrm>
            <a:off x="548640" y="3822192"/>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77056"/>
            <a:ext cx="2103120" cy="228600"/>
          </a:xfrm>
          <a:prstGeom prst="rect">
            <a:avLst/>
          </a:prstGeom>
          <a:noFill/>
        </p:spPr>
        <p:txBody>
          <a:bodyPr wrap="square" lIns="0" tIns="0" rIns="0" bIns="0" anchor="t">
            <a:spAutoFit/>
          </a:bodyPr>
          <a:lstStyle/>
          <a:p>
            <a:pPr algn="l"/>
            <a:r>
              <a:rPr sz="900" b="1" i="0">
                <a:solidFill>
                  <a:srgbClr val="FFA84A"/>
                </a:solidFill>
                <a:latin typeface="Consolas"/>
              </a:rPr>
              <a:t>ADD_WRONG_INFO</a:t>
            </a:r>
            <a:endParaRPr sz="900" b="1" i="0">
              <a:solidFill>
                <a:srgbClr val="FFA84A"/>
              </a:solidFill>
              <a:latin typeface="Consolas"/>
            </a:endParaRPr>
          </a:p>
        </p:txBody>
      </p:sp>
      <p:sp>
        <p:nvSpPr>
          <p:cNvPr id="17" name="TextBox 16"/>
          <p:cNvSpPr txBox="1"/>
          <p:nvPr/>
        </p:nvSpPr>
        <p:spPr>
          <a:xfrm>
            <a:off x="685800" y="4078224"/>
            <a:ext cx="2103120" cy="274320"/>
          </a:xfrm>
          <a:prstGeom prst="rect">
            <a:avLst/>
          </a:prstGeom>
          <a:noFill/>
        </p:spPr>
        <p:txBody>
          <a:bodyPr wrap="square" lIns="0" tIns="0" rIns="0" bIns="0" anchor="t">
            <a:spAutoFit/>
          </a:bodyPr>
          <a:lstStyle/>
          <a:p>
            <a:pPr algn="l"/>
            <a:r>
              <a:rPr sz="850" b="0" i="0">
                <a:solidFill>
                  <a:srgbClr val="7878A0"/>
                </a:solidFill>
                <a:latin typeface="Calibri"/>
              </a:rPr>
              <a:t>Plant a wrong/correct value pair atomically</a:t>
            </a:r>
            <a:endParaRPr sz="850" b="0" i="0">
              <a:solidFill>
                <a:srgbClr val="7878A0"/>
              </a:solidFill>
              <a:latin typeface="Calibri"/>
            </a:endParaRPr>
          </a:p>
        </p:txBody>
      </p:sp>
      <p:sp>
        <p:nvSpPr>
          <p:cNvPr id="18" name="Rounded Rectangle 17"/>
          <p:cNvSpPr/>
          <p:nvPr/>
        </p:nvSpPr>
        <p:spPr>
          <a:xfrm>
            <a:off x="548640" y="4425696"/>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480560"/>
            <a:ext cx="2103120" cy="228600"/>
          </a:xfrm>
          <a:prstGeom prst="rect">
            <a:avLst/>
          </a:prstGeom>
          <a:noFill/>
        </p:spPr>
        <p:txBody>
          <a:bodyPr wrap="square" lIns="0" tIns="0" rIns="0" bIns="0" anchor="t">
            <a:spAutoFit/>
          </a:bodyPr>
          <a:lstStyle/>
          <a:p>
            <a:pPr algn="l"/>
            <a:r>
              <a:rPr sz="900" b="1" i="0">
                <a:solidFill>
                  <a:srgbClr val="C87EFF"/>
                </a:solidFill>
                <a:latin typeface="Consolas"/>
              </a:rPr>
              <a:t>REGISTER_DOC_REFS</a:t>
            </a:r>
            <a:endParaRPr sz="900" b="1" i="0">
              <a:solidFill>
                <a:srgbClr val="C87EFF"/>
              </a:solidFill>
              <a:latin typeface="Consolas"/>
            </a:endParaRPr>
          </a:p>
        </p:txBody>
      </p:sp>
      <p:sp>
        <p:nvSpPr>
          <p:cNvPr id="20" name="TextBox 19"/>
          <p:cNvSpPr txBox="1"/>
          <p:nvPr/>
        </p:nvSpPr>
        <p:spPr>
          <a:xfrm>
            <a:off x="685800" y="4681728"/>
            <a:ext cx="2103120" cy="274320"/>
          </a:xfrm>
          <a:prstGeom prst="rect">
            <a:avLst/>
          </a:prstGeom>
          <a:noFill/>
        </p:spPr>
        <p:txBody>
          <a:bodyPr wrap="square" lIns="0" tIns="0" rIns="0" bIns="0" anchor="t">
            <a:spAutoFit/>
          </a:bodyPr>
          <a:lstStyle/>
          <a:p>
            <a:pPr algn="l"/>
            <a:r>
              <a:rPr sz="850" b="0" i="0">
                <a:solidFill>
                  <a:srgbClr val="7878A0"/>
                </a:solidFill>
                <a:latin typeface="Calibri"/>
              </a:rPr>
              <a:t>Link docs to wrong-info roles</a:t>
            </a:r>
            <a:endParaRPr sz="850" b="0" i="0">
              <a:solidFill>
                <a:srgbClr val="7878A0"/>
              </a:solidFill>
              <a:latin typeface="Calibri"/>
            </a:endParaRPr>
          </a:p>
        </p:txBody>
      </p:sp>
      <p:sp>
        <p:nvSpPr>
          <p:cNvPr id="21" name="Rounded Rectangle 20"/>
          <p:cNvSpPr/>
          <p:nvPr/>
        </p:nvSpPr>
        <p:spPr>
          <a:xfrm>
            <a:off x="548640" y="502920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084064"/>
            <a:ext cx="2103120" cy="228600"/>
          </a:xfrm>
          <a:prstGeom prst="rect">
            <a:avLst/>
          </a:prstGeom>
          <a:noFill/>
        </p:spPr>
        <p:txBody>
          <a:bodyPr wrap="square" lIns="0" tIns="0" rIns="0" bIns="0" anchor="t">
            <a:spAutoFit/>
          </a:bodyPr>
          <a:lstStyle/>
          <a:p>
            <a:pPr algn="l"/>
            <a:r>
              <a:rPr sz="900" b="1" i="0">
                <a:solidFill>
                  <a:srgbClr val="FF6C8E"/>
                </a:solidFill>
                <a:latin typeface="Consolas"/>
              </a:rPr>
              <a:t>VERIFY</a:t>
            </a:r>
            <a:endParaRPr sz="900" b="1" i="0">
              <a:solidFill>
                <a:srgbClr val="FF6C8E"/>
              </a:solidFill>
              <a:latin typeface="Consolas"/>
            </a:endParaRPr>
          </a:p>
        </p:txBody>
      </p:sp>
      <p:sp>
        <p:nvSpPr>
          <p:cNvPr id="23" name="TextBox 22"/>
          <p:cNvSpPr txBox="1"/>
          <p:nvPr/>
        </p:nvSpPr>
        <p:spPr>
          <a:xfrm>
            <a:off x="685800" y="5285232"/>
            <a:ext cx="2103120" cy="274320"/>
          </a:xfrm>
          <a:prstGeom prst="rect">
            <a:avLst/>
          </a:prstGeom>
          <a:noFill/>
        </p:spPr>
        <p:txBody>
          <a:bodyPr wrap="square" lIns="0" tIns="0" rIns="0" bIns="0" anchor="t">
            <a:spAutoFit/>
          </a:bodyPr>
          <a:lstStyle/>
          <a:p>
            <a:pPr algn="l"/>
            <a:r>
              <a:rPr sz="850" b="0" i="0">
                <a:solidFill>
                  <a:srgbClr val="7878A0"/>
                </a:solidFill>
                <a:latin typeface="Calibri"/>
              </a:rPr>
              <a:t>Run 11 venue completeness checks</a:t>
            </a:r>
            <a:endParaRPr sz="850" b="0" i="0">
              <a:solidFill>
                <a:srgbClr val="7878A0"/>
              </a:solidFill>
              <a:latin typeface="Calibri"/>
            </a:endParaRPr>
          </a:p>
        </p:txBody>
      </p:sp>
      <p:sp>
        <p:nvSpPr>
          <p:cNvPr id="24" name="Rounded Rectangle 23"/>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108960" y="1691640"/>
            <a:ext cx="5102352"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0" y="1874520"/>
            <a:ext cx="8503920" cy="365760"/>
          </a:xfrm>
          <a:prstGeom prst="rect">
            <a:avLst/>
          </a:prstGeom>
          <a:noFill/>
        </p:spPr>
        <p:txBody>
          <a:bodyPr wrap="square" lIns="0" tIns="0" rIns="0" bIns="0" anchor="t">
            <a:spAutoFit/>
          </a:bodyPr>
          <a:lstStyle/>
          <a:p>
            <a:pPr algn="l"/>
            <a:r>
              <a:rPr sz="1300" b="1" i="0">
                <a:solidFill>
                  <a:srgbClr val="6C8EFF"/>
                </a:solidFill>
                <a:latin typeface="Consolas"/>
              </a:rPr>
              <a:t>🛠  Official site = ground truth carrier</a:t>
            </a:r>
            <a:endParaRPr sz="1300" b="1" i="0">
              <a:solidFill>
                <a:srgbClr val="6C8EFF"/>
              </a:solidFill>
              <a:latin typeface="Consolas"/>
            </a:endParaRPr>
          </a:p>
        </p:txBody>
      </p:sp>
      <p:sp>
        <p:nvSpPr>
          <p:cNvPr id="27" name="Rounded Rectangle 26"/>
          <p:cNvSpPr/>
          <p:nvPr/>
        </p:nvSpPr>
        <p:spPr>
          <a:xfrm>
            <a:off x="3108960" y="2377440"/>
            <a:ext cx="8503920" cy="64008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245059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9" name="TextBox 28"/>
          <p:cNvSpPr txBox="1"/>
          <p:nvPr/>
        </p:nvSpPr>
        <p:spPr>
          <a:xfrm>
            <a:off x="3246120" y="2651760"/>
            <a:ext cx="8229600" cy="320040"/>
          </a:xfrm>
          <a:prstGeom prst="rect">
            <a:avLst/>
          </a:prstGeom>
          <a:noFill/>
        </p:spPr>
        <p:txBody>
          <a:bodyPr wrap="square" lIns="0" tIns="0" rIns="0" bIns="0" anchor="t">
            <a:spAutoFit/>
          </a:bodyPr>
          <a:lstStyle/>
          <a:p>
            <a:pPr algn="l"/>
            <a:r>
              <a:rPr sz="1000" b="0" i="0">
                <a:solidFill>
                  <a:srgbClr val="7878A0"/>
                </a:solidFill>
                <a:latin typeface="Calibri"/>
              </a:rPr>
              <a:t>The official_site_doc is always authoritative by design. Fill it with the correct Friday hours so the agent has a recovery path.</a:t>
            </a:r>
            <a:endParaRPr sz="1000" b="0" i="0">
              <a:solidFill>
                <a:srgbClr val="7878A0"/>
              </a:solidFill>
              <a:latin typeface="Calibri"/>
            </a:endParaRPr>
          </a:p>
        </p:txBody>
      </p:sp>
      <p:sp>
        <p:nvSpPr>
          <p:cNvPr id="30" name="Rounded Rectangle 29"/>
          <p:cNvSpPr/>
          <p:nvPr/>
        </p:nvSpPr>
        <p:spPr>
          <a:xfrm>
            <a:off x="3108960" y="3127248"/>
            <a:ext cx="850392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6120" y="3182112"/>
            <a:ext cx="8229600" cy="228600"/>
          </a:xfrm>
          <a:prstGeom prst="rect">
            <a:avLst/>
          </a:prstGeom>
          <a:noFill/>
        </p:spPr>
        <p:txBody>
          <a:bodyPr wrap="square" lIns="0" tIns="0" rIns="0" bIns="0" anchor="t">
            <a:spAutoFit/>
          </a:bodyPr>
          <a:lstStyle/>
          <a:p>
            <a:pPr algn="l"/>
            <a:r>
              <a:rPr sz="1000" b="1" i="0">
                <a:solidFill>
                  <a:srgbClr val="6C8EFF"/>
                </a:solidFill>
                <a:latin typeface="Consolas"/>
              </a:rPr>
              <a:t>CREATE_PAGE   </a:t>
            </a:r>
            <a:r>
              <a:rPr sz="900" b="0" i="0">
                <a:solidFill>
                  <a:srgbClr val="6C8EFF"/>
                </a:solidFill>
                <a:latin typeface="Consolas"/>
              </a:rPr>
              <a:t>official_site_doc</a:t>
            </a:r>
            <a:endParaRPr sz="900" b="0" i="0">
              <a:solidFill>
                <a:srgbClr val="6C8EFF"/>
              </a:solidFill>
              <a:latin typeface="Consolas"/>
            </a:endParaRPr>
          </a:p>
        </p:txBody>
      </p:sp>
      <p:sp>
        <p:nvSpPr>
          <p:cNvPr id="32" name="TextBox 31"/>
          <p:cNvSpPr txBox="1"/>
          <p:nvPr/>
        </p:nvSpPr>
        <p:spPr>
          <a:xfrm>
            <a:off x="3246120" y="3419856"/>
            <a:ext cx="8229600" cy="228600"/>
          </a:xfrm>
          <a:prstGeom prst="rect">
            <a:avLst/>
          </a:prstGeom>
          <a:noFill/>
        </p:spPr>
        <p:txBody>
          <a:bodyPr wrap="square" lIns="0" tIns="0" rIns="0" bIns="0" anchor="t">
            <a:spAutoFit/>
          </a:bodyPr>
          <a:lstStyle/>
          <a:p>
            <a:pPr algn="l"/>
            <a:r>
              <a:rPr sz="900" b="0" i="0">
                <a:solidFill>
                  <a:srgbClr val="7878A0"/>
                </a:solidFill>
                <a:latin typeface="Consolas"/>
              </a:rPr>
              <a:t>corkbuzz.com/chelsea-market</a:t>
            </a:r>
            <a:endParaRPr sz="900" b="0" i="0">
              <a:solidFill>
                <a:srgbClr val="7878A0"/>
              </a:solidFill>
              <a:latin typeface="Consolas"/>
            </a:endParaRPr>
          </a:p>
        </p:txBody>
      </p:sp>
      <p:sp>
        <p:nvSpPr>
          <p:cNvPr id="33" name="Rounded Rectangle 32"/>
          <p:cNvSpPr/>
          <p:nvPr/>
        </p:nvSpPr>
        <p:spPr>
          <a:xfrm>
            <a:off x="3108960" y="3749040"/>
            <a:ext cx="850392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6120" y="3803904"/>
            <a:ext cx="8229600" cy="228600"/>
          </a:xfrm>
          <a:prstGeom prst="rect">
            <a:avLst/>
          </a:prstGeom>
          <a:noFill/>
        </p:spPr>
        <p:txBody>
          <a:bodyPr wrap="square" lIns="0" tIns="0" rIns="0" bIns="0" anchor="t">
            <a:spAutoFit/>
          </a:bodyPr>
          <a:lstStyle/>
          <a:p>
            <a:pPr algn="l"/>
            <a:r>
              <a:rPr sz="1000" b="1" i="0">
                <a:solidFill>
                  <a:srgbClr val="6CFFC8"/>
                </a:solidFill>
                <a:latin typeface="Consolas"/>
              </a:rPr>
              <a:t>FILL   </a:t>
            </a:r>
            <a:r>
              <a:rPr sz="900" b="0" i="0">
                <a:solidFill>
                  <a:srgbClr val="6CFFC8"/>
                </a:solidFill>
                <a:latin typeface="Consolas"/>
              </a:rPr>
              <a:t>body + Friday 12:00–22:00 + regulations</a:t>
            </a:r>
            <a:endParaRPr sz="900" b="0" i="0">
              <a:solidFill>
                <a:srgbClr val="6CFFC8"/>
              </a:solidFill>
              <a:latin typeface="Consolas"/>
            </a:endParaRPr>
          </a:p>
        </p:txBody>
      </p:sp>
      <p:sp>
        <p:nvSpPr>
          <p:cNvPr id="35" name="TextBox 34"/>
          <p:cNvSpPr txBox="1"/>
          <p:nvPr/>
        </p:nvSpPr>
        <p:spPr>
          <a:xfrm>
            <a:off x="3246120" y="4041648"/>
            <a:ext cx="8229600" cy="228600"/>
          </a:xfrm>
          <a:prstGeom prst="rect">
            <a:avLst/>
          </a:prstGeom>
          <a:noFill/>
        </p:spPr>
        <p:txBody>
          <a:bodyPr wrap="square" lIns="0" tIns="0" rIns="0" bIns="0" anchor="t">
            <a:spAutoFit/>
          </a:bodyPr>
          <a:lstStyle/>
          <a:p>
            <a:pPr algn="l"/>
            <a:r>
              <a:rPr sz="900" b="0" i="0">
                <a:solidFill>
                  <a:srgbClr val="7878A0"/>
                </a:solidFill>
                <a:latin typeface="Consolas"/>
              </a:rPr>
              <a:t>no photo, dog OK indoor, not wheelchair accessible</a:t>
            </a:r>
            <a:endParaRPr sz="900" b="0" i="0">
              <a:solidFill>
                <a:srgbClr val="7878A0"/>
              </a:solidFill>
              <a:latin typeface="Consolas"/>
            </a:endParaRPr>
          </a:p>
        </p:txBody>
      </p:sp>
      <p:sp>
        <p:nvSpPr>
          <p:cNvPr id="36" name="Rounded Rectangle 35"/>
          <p:cNvSpPr/>
          <p:nvPr/>
        </p:nvSpPr>
        <p:spPr>
          <a:xfrm>
            <a:off x="3108960" y="4370832"/>
            <a:ext cx="8503920" cy="54864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46120" y="4425696"/>
            <a:ext cx="8229600" cy="228600"/>
          </a:xfrm>
          <a:prstGeom prst="rect">
            <a:avLst/>
          </a:prstGeom>
          <a:noFill/>
        </p:spPr>
        <p:txBody>
          <a:bodyPr wrap="square" lIns="0" tIns="0" rIns="0" bIns="0" anchor="t">
            <a:spAutoFit/>
          </a:bodyPr>
          <a:lstStyle/>
          <a:p>
            <a:pPr algn="l"/>
            <a:r>
              <a:rPr sz="1000" b="1" i="0">
                <a:solidFill>
                  <a:srgbClr val="6CFFC8"/>
                </a:solidFill>
                <a:latin typeface="Consolas"/>
              </a:rPr>
              <a:t>COMMIT   </a:t>
            </a:r>
            <a:r>
              <a:rPr sz="900" b="0" i="0">
                <a:solidFill>
                  <a:srgbClr val="6CFFC8"/>
                </a:solidFill>
                <a:latin typeface="Consolas"/>
              </a:rPr>
              <a:t>official_site_doc</a:t>
            </a:r>
            <a:endParaRPr sz="900" b="0" i="0">
              <a:solidFill>
                <a:srgbClr val="6CFFC8"/>
              </a:solidFill>
              <a:latin typeface="Consolas"/>
            </a:endParaRPr>
          </a:p>
        </p:txBody>
      </p:sp>
      <p:sp>
        <p:nvSpPr>
          <p:cNvPr id="38" name="TextBox 37"/>
          <p:cNvSpPr txBox="1"/>
          <p:nvPr/>
        </p:nvSpPr>
        <p:spPr>
          <a:xfrm>
            <a:off x="3246120" y="4663440"/>
            <a:ext cx="8229600" cy="228600"/>
          </a:xfrm>
          <a:prstGeom prst="rect">
            <a:avLst/>
          </a:prstGeom>
          <a:noFill/>
        </p:spPr>
        <p:txBody>
          <a:bodyPr wrap="square" lIns="0" tIns="0" rIns="0" bIns="0" anchor="t">
            <a:spAutoFit/>
          </a:bodyPr>
          <a:lstStyle/>
          <a:p>
            <a:pPr algn="l"/>
            <a:r>
              <a:rPr sz="900" b="0" i="0">
                <a:solidFill>
                  <a:srgbClr val="6CFFC8"/>
                </a:solidFill>
                <a:latin typeface="Consolas"/>
              </a:rPr>
              <a:t>✅</a:t>
            </a:r>
            <a:endParaRPr sz="900" b="0" i="0">
              <a:solidFill>
                <a:srgbClr val="6CFFC8"/>
              </a:solidFill>
              <a:latin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05  —  PER-VENUE 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Corkbuzz Chelsea Market</a:t>
            </a:r>
            <a:endParaRPr sz="2400" b="0" i="0">
              <a:solidFill>
                <a:srgbClr val="E8E8F0"/>
              </a:solidFill>
              <a:latin typeface="Georgia" panose="02040502050405090303"/>
            </a:endParaRPr>
          </a:p>
        </p:txBody>
      </p:sp>
      <p:sp>
        <p:nvSpPr>
          <p:cNvPr id="4" name="TextBox 3"/>
          <p:cNvSpPr txBox="1"/>
          <p:nvPr/>
        </p:nvSpPr>
        <p:spPr>
          <a:xfrm>
            <a:off x="548640" y="109728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4 / 5  —  Source docs + atomic wrong-info wiring</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PER-VENUE AGENT TOOLS</a:t>
            </a:r>
            <a:endParaRPr sz="900" b="0" i="0">
              <a:solidFill>
                <a:srgbClr val="7878A0"/>
              </a:solidFill>
              <a:latin typeface="Consolas"/>
            </a:endParaRPr>
          </a:p>
        </p:txBody>
      </p:sp>
      <p:sp>
        <p:nvSpPr>
          <p:cNvPr id="6" name="Rounded Rectangle 5"/>
          <p:cNvSpPr/>
          <p:nvPr/>
        </p:nvSpPr>
        <p:spPr>
          <a:xfrm>
            <a:off x="548640" y="201168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66544"/>
            <a:ext cx="2103120" cy="228600"/>
          </a:xfrm>
          <a:prstGeom prst="rect">
            <a:avLst/>
          </a:prstGeom>
          <a:noFill/>
        </p:spPr>
        <p:txBody>
          <a:bodyPr wrap="square" lIns="0" tIns="0" rIns="0" bIns="0" anchor="t">
            <a:spAutoFit/>
          </a:bodyPr>
          <a:lstStyle/>
          <a:p>
            <a:pPr algn="l"/>
            <a:r>
              <a:rPr sz="900" b="1" i="0">
                <a:solidFill>
                  <a:srgbClr val="6C8EFF"/>
                </a:solidFill>
                <a:latin typeface="Consolas"/>
              </a:rPr>
              <a:t>CREATE_PAGE</a:t>
            </a:r>
            <a:endParaRPr sz="900" b="1" i="0">
              <a:solidFill>
                <a:srgbClr val="6C8EFF"/>
              </a:solidFill>
              <a:latin typeface="Consolas"/>
            </a:endParaRPr>
          </a:p>
        </p:txBody>
      </p:sp>
      <p:sp>
        <p:nvSpPr>
          <p:cNvPr id="8" name="TextBox 7"/>
          <p:cNvSpPr txBox="1"/>
          <p:nvPr/>
        </p:nvSpPr>
        <p:spPr>
          <a:xfrm>
            <a:off x="685800" y="2267712"/>
            <a:ext cx="2103120" cy="274320"/>
          </a:xfrm>
          <a:prstGeom prst="rect">
            <a:avLst/>
          </a:prstGeom>
          <a:noFill/>
        </p:spPr>
        <p:txBody>
          <a:bodyPr wrap="square" lIns="0" tIns="0" rIns="0" bIns="0" anchor="t">
            <a:spAutoFit/>
          </a:bodyPr>
          <a:lstStyle/>
          <a:p>
            <a:pPr algn="l"/>
            <a:r>
              <a:rPr sz="850" b="0" i="0">
                <a:solidFill>
                  <a:srgbClr val="7878A0"/>
                </a:solidFill>
                <a:latin typeface="Calibri"/>
              </a:rPr>
              <a:t>Open a draft for a new entity</a:t>
            </a:r>
            <a:endParaRPr sz="850" b="0" i="0">
              <a:solidFill>
                <a:srgbClr val="7878A0"/>
              </a:solidFill>
              <a:latin typeface="Calibri"/>
            </a:endParaRPr>
          </a:p>
        </p:txBody>
      </p:sp>
      <p:sp>
        <p:nvSpPr>
          <p:cNvPr id="9" name="Rounded Rectangle 8"/>
          <p:cNvSpPr/>
          <p:nvPr/>
        </p:nvSpPr>
        <p:spPr>
          <a:xfrm>
            <a:off x="548640" y="2615184"/>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70048"/>
            <a:ext cx="2103120" cy="228600"/>
          </a:xfrm>
          <a:prstGeom prst="rect">
            <a:avLst/>
          </a:prstGeom>
          <a:noFill/>
        </p:spPr>
        <p:txBody>
          <a:bodyPr wrap="square" lIns="0" tIns="0" rIns="0" bIns="0" anchor="t">
            <a:spAutoFit/>
          </a:bodyPr>
          <a:lstStyle/>
          <a:p>
            <a:pPr algn="l"/>
            <a:r>
              <a:rPr sz="900" b="1" i="0">
                <a:solidFill>
                  <a:srgbClr val="6CFFC8"/>
                </a:solidFill>
                <a:latin typeface="Consolas"/>
              </a:rPr>
              <a:t>FILL</a:t>
            </a:r>
            <a:endParaRPr sz="900" b="1" i="0">
              <a:solidFill>
                <a:srgbClr val="6CFFC8"/>
              </a:solidFill>
              <a:latin typeface="Consolas"/>
            </a:endParaRPr>
          </a:p>
        </p:txBody>
      </p:sp>
      <p:sp>
        <p:nvSpPr>
          <p:cNvPr id="11" name="TextBox 10"/>
          <p:cNvSpPr txBox="1"/>
          <p:nvPr/>
        </p:nvSpPr>
        <p:spPr>
          <a:xfrm>
            <a:off x="685800" y="2871216"/>
            <a:ext cx="2103120" cy="274320"/>
          </a:xfrm>
          <a:prstGeom prst="rect">
            <a:avLst/>
          </a:prstGeom>
          <a:noFill/>
        </p:spPr>
        <p:txBody>
          <a:bodyPr wrap="square" lIns="0" tIns="0" rIns="0" bIns="0" anchor="t">
            <a:spAutoFit/>
          </a:bodyPr>
          <a:lstStyle/>
          <a:p>
            <a:pPr algn="l"/>
            <a:r>
              <a:rPr sz="850" b="0" i="0">
                <a:solidFill>
                  <a:srgbClr val="7878A0"/>
                </a:solidFill>
                <a:latin typeface="Calibri"/>
              </a:rPr>
              <a:t>Set fields on a draft</a:t>
            </a:r>
            <a:endParaRPr sz="850" b="0" i="0">
              <a:solidFill>
                <a:srgbClr val="7878A0"/>
              </a:solidFill>
              <a:latin typeface="Calibri"/>
            </a:endParaRPr>
          </a:p>
        </p:txBody>
      </p:sp>
      <p:sp>
        <p:nvSpPr>
          <p:cNvPr id="12" name="Rounded Rectangle 11"/>
          <p:cNvSpPr/>
          <p:nvPr/>
        </p:nvSpPr>
        <p:spPr>
          <a:xfrm>
            <a:off x="548640" y="3218688"/>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73552"/>
            <a:ext cx="2103120" cy="228600"/>
          </a:xfrm>
          <a:prstGeom prst="rect">
            <a:avLst/>
          </a:prstGeom>
          <a:noFill/>
        </p:spPr>
        <p:txBody>
          <a:bodyPr wrap="square" lIns="0" tIns="0" rIns="0" bIns="0" anchor="t">
            <a:spAutoFit/>
          </a:bodyPr>
          <a:lstStyle/>
          <a:p>
            <a:pPr algn="l"/>
            <a:r>
              <a:rPr sz="900" b="1" i="0">
                <a:solidFill>
                  <a:srgbClr val="6CFFC8"/>
                </a:solidFill>
                <a:latin typeface="Consolas"/>
              </a:rPr>
              <a:t>COMMIT</a:t>
            </a:r>
            <a:endParaRPr sz="900" b="1" i="0">
              <a:solidFill>
                <a:srgbClr val="6CFFC8"/>
              </a:solidFill>
              <a:latin typeface="Consolas"/>
            </a:endParaRPr>
          </a:p>
        </p:txBody>
      </p:sp>
      <p:sp>
        <p:nvSpPr>
          <p:cNvPr id="14" name="TextBox 13"/>
          <p:cNvSpPr txBox="1"/>
          <p:nvPr/>
        </p:nvSpPr>
        <p:spPr>
          <a:xfrm>
            <a:off x="685800" y="3474720"/>
            <a:ext cx="2103120" cy="274320"/>
          </a:xfrm>
          <a:prstGeom prst="rect">
            <a:avLst/>
          </a:prstGeom>
          <a:noFill/>
        </p:spPr>
        <p:txBody>
          <a:bodyPr wrap="square" lIns="0" tIns="0" rIns="0" bIns="0" anchor="t">
            <a:spAutoFit/>
          </a:bodyPr>
          <a:lstStyle/>
          <a:p>
            <a:pPr algn="l"/>
            <a:r>
              <a:rPr sz="850" b="0" i="0">
                <a:solidFill>
                  <a:srgbClr val="7878A0"/>
                </a:solidFill>
                <a:latin typeface="Calibri"/>
              </a:rPr>
              <a:t>Persist a draft as canonical</a:t>
            </a:r>
            <a:endParaRPr sz="850" b="0" i="0">
              <a:solidFill>
                <a:srgbClr val="7878A0"/>
              </a:solidFill>
              <a:latin typeface="Calibri"/>
            </a:endParaRPr>
          </a:p>
        </p:txBody>
      </p:sp>
      <p:sp>
        <p:nvSpPr>
          <p:cNvPr id="15" name="Rounded Rectangle 14"/>
          <p:cNvSpPr/>
          <p:nvPr/>
        </p:nvSpPr>
        <p:spPr>
          <a:xfrm>
            <a:off x="548640" y="3822192"/>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77056"/>
            <a:ext cx="2103120" cy="228600"/>
          </a:xfrm>
          <a:prstGeom prst="rect">
            <a:avLst/>
          </a:prstGeom>
          <a:noFill/>
        </p:spPr>
        <p:txBody>
          <a:bodyPr wrap="square" lIns="0" tIns="0" rIns="0" bIns="0" anchor="t">
            <a:spAutoFit/>
          </a:bodyPr>
          <a:lstStyle/>
          <a:p>
            <a:pPr algn="l"/>
            <a:r>
              <a:rPr sz="900" b="1" i="0">
                <a:solidFill>
                  <a:srgbClr val="FFA84A"/>
                </a:solidFill>
                <a:latin typeface="Consolas"/>
              </a:rPr>
              <a:t>ADD_WRONG_INFO</a:t>
            </a:r>
            <a:endParaRPr sz="900" b="1" i="0">
              <a:solidFill>
                <a:srgbClr val="FFA84A"/>
              </a:solidFill>
              <a:latin typeface="Consolas"/>
            </a:endParaRPr>
          </a:p>
        </p:txBody>
      </p:sp>
      <p:sp>
        <p:nvSpPr>
          <p:cNvPr id="17" name="TextBox 16"/>
          <p:cNvSpPr txBox="1"/>
          <p:nvPr/>
        </p:nvSpPr>
        <p:spPr>
          <a:xfrm>
            <a:off x="685800" y="4078224"/>
            <a:ext cx="2103120" cy="274320"/>
          </a:xfrm>
          <a:prstGeom prst="rect">
            <a:avLst/>
          </a:prstGeom>
          <a:noFill/>
        </p:spPr>
        <p:txBody>
          <a:bodyPr wrap="square" lIns="0" tIns="0" rIns="0" bIns="0" anchor="t">
            <a:spAutoFit/>
          </a:bodyPr>
          <a:lstStyle/>
          <a:p>
            <a:pPr algn="l"/>
            <a:r>
              <a:rPr sz="850" b="0" i="0">
                <a:solidFill>
                  <a:srgbClr val="7878A0"/>
                </a:solidFill>
                <a:latin typeface="Calibri"/>
              </a:rPr>
              <a:t>Plant a wrong/correct value pair atomically</a:t>
            </a:r>
            <a:endParaRPr sz="850" b="0" i="0">
              <a:solidFill>
                <a:srgbClr val="7878A0"/>
              </a:solidFill>
              <a:latin typeface="Calibri"/>
            </a:endParaRPr>
          </a:p>
        </p:txBody>
      </p:sp>
      <p:sp>
        <p:nvSpPr>
          <p:cNvPr id="18" name="Rounded Rectangle 17"/>
          <p:cNvSpPr/>
          <p:nvPr/>
        </p:nvSpPr>
        <p:spPr>
          <a:xfrm>
            <a:off x="548640" y="4425696"/>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480560"/>
            <a:ext cx="2103120" cy="228600"/>
          </a:xfrm>
          <a:prstGeom prst="rect">
            <a:avLst/>
          </a:prstGeom>
          <a:noFill/>
        </p:spPr>
        <p:txBody>
          <a:bodyPr wrap="square" lIns="0" tIns="0" rIns="0" bIns="0" anchor="t">
            <a:spAutoFit/>
          </a:bodyPr>
          <a:lstStyle/>
          <a:p>
            <a:pPr algn="l"/>
            <a:r>
              <a:rPr sz="900" b="1" i="0">
                <a:solidFill>
                  <a:srgbClr val="C87EFF"/>
                </a:solidFill>
                <a:latin typeface="Consolas"/>
              </a:rPr>
              <a:t>REGISTER_DOC_REFS</a:t>
            </a:r>
            <a:endParaRPr sz="900" b="1" i="0">
              <a:solidFill>
                <a:srgbClr val="C87EFF"/>
              </a:solidFill>
              <a:latin typeface="Consolas"/>
            </a:endParaRPr>
          </a:p>
        </p:txBody>
      </p:sp>
      <p:sp>
        <p:nvSpPr>
          <p:cNvPr id="20" name="TextBox 19"/>
          <p:cNvSpPr txBox="1"/>
          <p:nvPr/>
        </p:nvSpPr>
        <p:spPr>
          <a:xfrm>
            <a:off x="685800" y="4681728"/>
            <a:ext cx="2103120" cy="274320"/>
          </a:xfrm>
          <a:prstGeom prst="rect">
            <a:avLst/>
          </a:prstGeom>
          <a:noFill/>
        </p:spPr>
        <p:txBody>
          <a:bodyPr wrap="square" lIns="0" tIns="0" rIns="0" bIns="0" anchor="t">
            <a:spAutoFit/>
          </a:bodyPr>
          <a:lstStyle/>
          <a:p>
            <a:pPr algn="l"/>
            <a:r>
              <a:rPr sz="850" b="0" i="0">
                <a:solidFill>
                  <a:srgbClr val="7878A0"/>
                </a:solidFill>
                <a:latin typeface="Calibri"/>
              </a:rPr>
              <a:t>Link docs to wrong-info roles</a:t>
            </a:r>
            <a:endParaRPr sz="850" b="0" i="0">
              <a:solidFill>
                <a:srgbClr val="7878A0"/>
              </a:solidFill>
              <a:latin typeface="Calibri"/>
            </a:endParaRPr>
          </a:p>
        </p:txBody>
      </p:sp>
      <p:sp>
        <p:nvSpPr>
          <p:cNvPr id="21" name="Rounded Rectangle 20"/>
          <p:cNvSpPr/>
          <p:nvPr/>
        </p:nvSpPr>
        <p:spPr>
          <a:xfrm>
            <a:off x="548640" y="502920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084064"/>
            <a:ext cx="2103120" cy="228600"/>
          </a:xfrm>
          <a:prstGeom prst="rect">
            <a:avLst/>
          </a:prstGeom>
          <a:noFill/>
        </p:spPr>
        <p:txBody>
          <a:bodyPr wrap="square" lIns="0" tIns="0" rIns="0" bIns="0" anchor="t">
            <a:spAutoFit/>
          </a:bodyPr>
          <a:lstStyle/>
          <a:p>
            <a:pPr algn="l"/>
            <a:r>
              <a:rPr sz="900" b="1" i="0">
                <a:solidFill>
                  <a:srgbClr val="FF6C8E"/>
                </a:solidFill>
                <a:latin typeface="Consolas"/>
              </a:rPr>
              <a:t>VERIFY</a:t>
            </a:r>
            <a:endParaRPr sz="900" b="1" i="0">
              <a:solidFill>
                <a:srgbClr val="FF6C8E"/>
              </a:solidFill>
              <a:latin typeface="Consolas"/>
            </a:endParaRPr>
          </a:p>
        </p:txBody>
      </p:sp>
      <p:sp>
        <p:nvSpPr>
          <p:cNvPr id="23" name="TextBox 22"/>
          <p:cNvSpPr txBox="1"/>
          <p:nvPr/>
        </p:nvSpPr>
        <p:spPr>
          <a:xfrm>
            <a:off x="685800" y="5285232"/>
            <a:ext cx="2103120" cy="274320"/>
          </a:xfrm>
          <a:prstGeom prst="rect">
            <a:avLst/>
          </a:prstGeom>
          <a:noFill/>
        </p:spPr>
        <p:txBody>
          <a:bodyPr wrap="square" lIns="0" tIns="0" rIns="0" bIns="0" anchor="t">
            <a:spAutoFit/>
          </a:bodyPr>
          <a:lstStyle/>
          <a:p>
            <a:pPr algn="l"/>
            <a:r>
              <a:rPr sz="850" b="0" i="0">
                <a:solidFill>
                  <a:srgbClr val="7878A0"/>
                </a:solidFill>
                <a:latin typeface="Calibri"/>
              </a:rPr>
              <a:t>Run 11 venue completeness checks</a:t>
            </a:r>
            <a:endParaRPr sz="850" b="0" i="0">
              <a:solidFill>
                <a:srgbClr val="7878A0"/>
              </a:solidFill>
              <a:latin typeface="Calibri"/>
            </a:endParaRPr>
          </a:p>
        </p:txBody>
      </p:sp>
      <p:sp>
        <p:nvSpPr>
          <p:cNvPr id="24" name="Rounded Rectangle 23"/>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108960" y="1691640"/>
            <a:ext cx="6803136"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0" y="1874520"/>
            <a:ext cx="8503920" cy="365760"/>
          </a:xfrm>
          <a:prstGeom prst="rect">
            <a:avLst/>
          </a:prstGeom>
          <a:noFill/>
        </p:spPr>
        <p:txBody>
          <a:bodyPr wrap="square" lIns="0" tIns="0" rIns="0" bIns="0" anchor="t">
            <a:spAutoFit/>
          </a:bodyPr>
          <a:lstStyle/>
          <a:p>
            <a:pPr algn="l"/>
            <a:r>
              <a:rPr sz="1300" b="1" i="0">
                <a:solidFill>
                  <a:srgbClr val="6C8EFF"/>
                </a:solidFill>
                <a:latin typeface="Consolas"/>
              </a:rPr>
              <a:t>🛠  Source docs + atomic wrong-info wiring</a:t>
            </a:r>
            <a:endParaRPr sz="1300" b="1" i="0">
              <a:solidFill>
                <a:srgbClr val="6C8EFF"/>
              </a:solidFill>
              <a:latin typeface="Consolas"/>
            </a:endParaRPr>
          </a:p>
        </p:txBody>
      </p:sp>
      <p:sp>
        <p:nvSpPr>
          <p:cNvPr id="27" name="Rounded Rectangle 26"/>
          <p:cNvSpPr/>
          <p:nvPr/>
        </p:nvSpPr>
        <p:spPr>
          <a:xfrm>
            <a:off x="3108960" y="2377440"/>
            <a:ext cx="8503920" cy="77724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245059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9" name="TextBox 28"/>
          <p:cNvSpPr txBox="1"/>
          <p:nvPr/>
        </p:nvSpPr>
        <p:spPr>
          <a:xfrm>
            <a:off x="3246120" y="2651760"/>
            <a:ext cx="8229600" cy="457200"/>
          </a:xfrm>
          <a:prstGeom prst="rect">
            <a:avLst/>
          </a:prstGeom>
          <a:noFill/>
        </p:spPr>
        <p:txBody>
          <a:bodyPr wrap="square" lIns="0" tIns="0" rIns="0" bIns="0" anchor="t">
            <a:spAutoFit/>
          </a:bodyPr>
          <a:lstStyle/>
          <a:p>
            <a:pPr algn="l"/>
            <a:r>
              <a:rPr sz="1000" b="0" i="0">
                <a:solidFill>
                  <a:srgbClr val="7878A0"/>
                </a:solidFill>
                <a:latin typeface="Calibri"/>
              </a:rPr>
              <a:t>Two source docs: an old blog post that REPEATS the wrong midnight hours (the trap), and a recent forum post where a local mentions the correction in passing (the truth carrier). ADD_WRONG_INFO links both atomically (P6-T22 fix).</a:t>
            </a:r>
            <a:endParaRPr sz="1000" b="0" i="0">
              <a:solidFill>
                <a:srgbClr val="7878A0"/>
              </a:solidFill>
              <a:latin typeface="Calibri"/>
            </a:endParaRPr>
          </a:p>
        </p:txBody>
      </p:sp>
      <p:sp>
        <p:nvSpPr>
          <p:cNvPr id="30" name="Rounded Rectangle 29"/>
          <p:cNvSpPr/>
          <p:nvPr/>
        </p:nvSpPr>
        <p:spPr>
          <a:xfrm>
            <a:off x="3108960" y="3264408"/>
            <a:ext cx="850392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6120" y="3319272"/>
            <a:ext cx="8229600" cy="228600"/>
          </a:xfrm>
          <a:prstGeom prst="rect">
            <a:avLst/>
          </a:prstGeom>
          <a:noFill/>
        </p:spPr>
        <p:txBody>
          <a:bodyPr wrap="square" lIns="0" tIns="0" rIns="0" bIns="0" anchor="t">
            <a:spAutoFit/>
          </a:bodyPr>
          <a:lstStyle/>
          <a:p>
            <a:pPr algn="l"/>
            <a:r>
              <a:rPr sz="1000" b="1" i="0">
                <a:solidFill>
                  <a:srgbClr val="6C8EFF"/>
                </a:solidFill>
                <a:latin typeface="Consolas"/>
              </a:rPr>
              <a:t>CREATE+FILL+COMMIT   </a:t>
            </a:r>
            <a:r>
              <a:rPr sz="900" b="0" i="0">
                <a:solidFill>
                  <a:srgbClr val="6C8EFF"/>
                </a:solidFill>
                <a:latin typeface="Consolas"/>
              </a:rPr>
              <a:t>blog H5l6EyK5  (2021 · tourist, talkative)</a:t>
            </a:r>
            <a:endParaRPr sz="900" b="0" i="0">
              <a:solidFill>
                <a:srgbClr val="6C8EFF"/>
              </a:solidFill>
              <a:latin typeface="Consolas"/>
            </a:endParaRPr>
          </a:p>
        </p:txBody>
      </p:sp>
      <p:sp>
        <p:nvSpPr>
          <p:cNvPr id="32" name="TextBox 31"/>
          <p:cNvSpPr txBox="1"/>
          <p:nvPr/>
        </p:nvSpPr>
        <p:spPr>
          <a:xfrm>
            <a:off x="3246120" y="3557016"/>
            <a:ext cx="8229600" cy="228600"/>
          </a:xfrm>
          <a:prstGeom prst="rect">
            <a:avLst/>
          </a:prstGeom>
          <a:noFill/>
        </p:spPr>
        <p:txBody>
          <a:bodyPr wrap="square" lIns="0" tIns="0" rIns="0" bIns="0" anchor="t">
            <a:spAutoFit/>
          </a:bodyPr>
          <a:lstStyle/>
          <a:p>
            <a:pPr algn="l"/>
            <a:r>
              <a:rPr sz="900" b="0" i="0">
                <a:solidFill>
                  <a:srgbClr val="7878A0"/>
                </a:solidFill>
                <a:latin typeface="Consolas"/>
              </a:rPr>
              <a:t>body: "…open until midnight on Fridays…"   ← incorrect_source</a:t>
            </a:r>
            <a:endParaRPr sz="900" b="0" i="0">
              <a:solidFill>
                <a:srgbClr val="7878A0"/>
              </a:solidFill>
              <a:latin typeface="Consolas"/>
            </a:endParaRPr>
          </a:p>
        </p:txBody>
      </p:sp>
      <p:sp>
        <p:nvSpPr>
          <p:cNvPr id="33" name="Rounded Rectangle 32"/>
          <p:cNvSpPr/>
          <p:nvPr/>
        </p:nvSpPr>
        <p:spPr>
          <a:xfrm>
            <a:off x="3108960" y="3886200"/>
            <a:ext cx="8503920" cy="713232"/>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6120" y="3941064"/>
            <a:ext cx="8229600" cy="228600"/>
          </a:xfrm>
          <a:prstGeom prst="rect">
            <a:avLst/>
          </a:prstGeom>
          <a:noFill/>
        </p:spPr>
        <p:txBody>
          <a:bodyPr wrap="square" lIns="0" tIns="0" rIns="0" bIns="0" anchor="t">
            <a:spAutoFit/>
          </a:bodyPr>
          <a:lstStyle/>
          <a:p>
            <a:pPr algn="l"/>
            <a:r>
              <a:rPr sz="1000" b="1" i="0">
                <a:solidFill>
                  <a:srgbClr val="6C8EFF"/>
                </a:solidFill>
                <a:latin typeface="Consolas"/>
              </a:rPr>
              <a:t>CREATE+FILL+COMMIT   </a:t>
            </a:r>
            <a:r>
              <a:rPr sz="900" b="0" i="0">
                <a:solidFill>
                  <a:srgbClr val="6C8EFF"/>
                </a:solidFill>
                <a:latin typeface="Consolas"/>
              </a:rPr>
              <a:t>forum L1QYEAH5  (2025 · NYC_Emily84, local regular)</a:t>
            </a:r>
            <a:endParaRPr sz="900" b="0" i="0">
              <a:solidFill>
                <a:srgbClr val="6C8EFF"/>
              </a:solidFill>
              <a:latin typeface="Consolas"/>
            </a:endParaRPr>
          </a:p>
        </p:txBody>
      </p:sp>
      <p:sp>
        <p:nvSpPr>
          <p:cNvPr id="35" name="TextBox 34"/>
          <p:cNvSpPr txBox="1"/>
          <p:nvPr/>
        </p:nvSpPr>
        <p:spPr>
          <a:xfrm>
            <a:off x="3246120" y="4178808"/>
            <a:ext cx="8229600" cy="393192"/>
          </a:xfrm>
          <a:prstGeom prst="rect">
            <a:avLst/>
          </a:prstGeom>
          <a:noFill/>
        </p:spPr>
        <p:txBody>
          <a:bodyPr wrap="square" lIns="0" tIns="0" rIns="0" bIns="0" anchor="t">
            <a:spAutoFit/>
          </a:bodyPr>
          <a:lstStyle/>
          <a:p>
            <a:pPr algn="l"/>
            <a:r>
              <a:rPr sz="900" b="0" i="0">
                <a:solidFill>
                  <a:srgbClr val="7878A0"/>
                </a:solidFill>
                <a:latin typeface="Consolas"/>
              </a:rPr>
              <a:t>body: "…they close at 10pm now, not midnight like it used to be…tightened up after the pandemic…"   ← truth_carrier</a:t>
            </a:r>
            <a:endParaRPr sz="900" b="0" i="0">
              <a:solidFill>
                <a:srgbClr val="7878A0"/>
              </a:solidFill>
              <a:latin typeface="Consolas"/>
            </a:endParaRPr>
          </a:p>
        </p:txBody>
      </p:sp>
      <p:sp>
        <p:nvSpPr>
          <p:cNvPr id="36" name="Rounded Rectangle 35"/>
          <p:cNvSpPr/>
          <p:nvPr/>
        </p:nvSpPr>
        <p:spPr>
          <a:xfrm>
            <a:off x="3108960" y="4672584"/>
            <a:ext cx="8503920" cy="713232"/>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46120" y="4727448"/>
            <a:ext cx="8229600" cy="228600"/>
          </a:xfrm>
          <a:prstGeom prst="rect">
            <a:avLst/>
          </a:prstGeom>
          <a:noFill/>
        </p:spPr>
        <p:txBody>
          <a:bodyPr wrap="square" lIns="0" tIns="0" rIns="0" bIns="0" anchor="t">
            <a:spAutoFit/>
          </a:bodyPr>
          <a:lstStyle/>
          <a:p>
            <a:pPr algn="l"/>
            <a:r>
              <a:rPr sz="1000" b="1" i="0">
                <a:solidFill>
                  <a:srgbClr val="FFA84A"/>
                </a:solidFill>
                <a:latin typeface="Consolas"/>
              </a:rPr>
              <a:t>ADD_WRONG_INFO   </a:t>
            </a:r>
            <a:r>
              <a:rPr sz="900" b="0" i="0">
                <a:solidFill>
                  <a:srgbClr val="FFA84A"/>
                </a:solidFill>
                <a:latin typeface="Consolas"/>
              </a:rPr>
              <a:t>venue=M4uBkLL  field=hours_fri  incorrect=12:00–0:00  correct=12:00–22:00  category=temporal_decay</a:t>
            </a:r>
            <a:endParaRPr sz="900" b="0" i="0">
              <a:solidFill>
                <a:srgbClr val="FFA84A"/>
              </a:solidFill>
              <a:latin typeface="Consolas"/>
            </a:endParaRPr>
          </a:p>
        </p:txBody>
      </p:sp>
      <p:sp>
        <p:nvSpPr>
          <p:cNvPr id="38" name="TextBox 37"/>
          <p:cNvSpPr txBox="1"/>
          <p:nvPr/>
        </p:nvSpPr>
        <p:spPr>
          <a:xfrm>
            <a:off x="3246120" y="4965192"/>
            <a:ext cx="8229600" cy="393192"/>
          </a:xfrm>
          <a:prstGeom prst="rect">
            <a:avLst/>
          </a:prstGeom>
          <a:noFill/>
        </p:spPr>
        <p:txBody>
          <a:bodyPr wrap="square" lIns="0" tIns="0" rIns="0" bIns="0" anchor="t">
            <a:spAutoFit/>
          </a:bodyPr>
          <a:lstStyle/>
          <a:p>
            <a:pPr algn="l"/>
            <a:r>
              <a:rPr sz="900" b="0" i="0">
                <a:solidFill>
                  <a:srgbClr val="6CFFC8"/>
                </a:solidFill>
                <a:latin typeface="Consolas"/>
              </a:rPr>
              <a:t>✅  atomic: wrong_info row + both doc_venue_roles in one transaction (P6-T22)</a:t>
            </a:r>
            <a:endParaRPr sz="900" b="0" i="0">
              <a:solidFill>
                <a:srgbClr val="6CFFC8"/>
              </a:solidFill>
              <a:latin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05  —  PER-VENUE 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Corkbuzz Chelsea Market</a:t>
            </a:r>
            <a:endParaRPr sz="2400" b="0" i="0">
              <a:solidFill>
                <a:srgbClr val="E8E8F0"/>
              </a:solidFill>
              <a:latin typeface="Georgia" panose="02040502050405090303"/>
            </a:endParaRPr>
          </a:p>
        </p:txBody>
      </p:sp>
      <p:sp>
        <p:nvSpPr>
          <p:cNvPr id="4" name="TextBox 3"/>
          <p:cNvSpPr txBox="1"/>
          <p:nvPr/>
        </p:nvSpPr>
        <p:spPr>
          <a:xfrm>
            <a:off x="548640" y="109728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5 / 5  —  VERIFY + SUBMIT</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PER-VENUE AGENT TOOLS</a:t>
            </a:r>
            <a:endParaRPr sz="900" b="0" i="0">
              <a:solidFill>
                <a:srgbClr val="7878A0"/>
              </a:solidFill>
              <a:latin typeface="Consolas"/>
            </a:endParaRPr>
          </a:p>
        </p:txBody>
      </p:sp>
      <p:sp>
        <p:nvSpPr>
          <p:cNvPr id="6" name="Rounded Rectangle 5"/>
          <p:cNvSpPr/>
          <p:nvPr/>
        </p:nvSpPr>
        <p:spPr>
          <a:xfrm>
            <a:off x="548640" y="201168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66544"/>
            <a:ext cx="2103120" cy="228600"/>
          </a:xfrm>
          <a:prstGeom prst="rect">
            <a:avLst/>
          </a:prstGeom>
          <a:noFill/>
        </p:spPr>
        <p:txBody>
          <a:bodyPr wrap="square" lIns="0" tIns="0" rIns="0" bIns="0" anchor="t">
            <a:spAutoFit/>
          </a:bodyPr>
          <a:lstStyle/>
          <a:p>
            <a:pPr algn="l"/>
            <a:r>
              <a:rPr sz="900" b="1" i="0">
                <a:solidFill>
                  <a:srgbClr val="6C8EFF"/>
                </a:solidFill>
                <a:latin typeface="Consolas"/>
              </a:rPr>
              <a:t>CREATE_PAGE</a:t>
            </a:r>
            <a:endParaRPr sz="900" b="1" i="0">
              <a:solidFill>
                <a:srgbClr val="6C8EFF"/>
              </a:solidFill>
              <a:latin typeface="Consolas"/>
            </a:endParaRPr>
          </a:p>
        </p:txBody>
      </p:sp>
      <p:sp>
        <p:nvSpPr>
          <p:cNvPr id="8" name="TextBox 7"/>
          <p:cNvSpPr txBox="1"/>
          <p:nvPr/>
        </p:nvSpPr>
        <p:spPr>
          <a:xfrm>
            <a:off x="685800" y="2267712"/>
            <a:ext cx="2103120" cy="274320"/>
          </a:xfrm>
          <a:prstGeom prst="rect">
            <a:avLst/>
          </a:prstGeom>
          <a:noFill/>
        </p:spPr>
        <p:txBody>
          <a:bodyPr wrap="square" lIns="0" tIns="0" rIns="0" bIns="0" anchor="t">
            <a:spAutoFit/>
          </a:bodyPr>
          <a:lstStyle/>
          <a:p>
            <a:pPr algn="l"/>
            <a:r>
              <a:rPr sz="850" b="0" i="0">
                <a:solidFill>
                  <a:srgbClr val="7878A0"/>
                </a:solidFill>
                <a:latin typeface="Calibri"/>
              </a:rPr>
              <a:t>Open a draft for a new entity</a:t>
            </a:r>
            <a:endParaRPr sz="850" b="0" i="0">
              <a:solidFill>
                <a:srgbClr val="7878A0"/>
              </a:solidFill>
              <a:latin typeface="Calibri"/>
            </a:endParaRPr>
          </a:p>
        </p:txBody>
      </p:sp>
      <p:sp>
        <p:nvSpPr>
          <p:cNvPr id="9" name="Rounded Rectangle 8"/>
          <p:cNvSpPr/>
          <p:nvPr/>
        </p:nvSpPr>
        <p:spPr>
          <a:xfrm>
            <a:off x="548640" y="2615184"/>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70048"/>
            <a:ext cx="2103120" cy="228600"/>
          </a:xfrm>
          <a:prstGeom prst="rect">
            <a:avLst/>
          </a:prstGeom>
          <a:noFill/>
        </p:spPr>
        <p:txBody>
          <a:bodyPr wrap="square" lIns="0" tIns="0" rIns="0" bIns="0" anchor="t">
            <a:spAutoFit/>
          </a:bodyPr>
          <a:lstStyle/>
          <a:p>
            <a:pPr algn="l"/>
            <a:r>
              <a:rPr sz="900" b="1" i="0">
                <a:solidFill>
                  <a:srgbClr val="6CFFC8"/>
                </a:solidFill>
                <a:latin typeface="Consolas"/>
              </a:rPr>
              <a:t>FILL</a:t>
            </a:r>
            <a:endParaRPr sz="900" b="1" i="0">
              <a:solidFill>
                <a:srgbClr val="6CFFC8"/>
              </a:solidFill>
              <a:latin typeface="Consolas"/>
            </a:endParaRPr>
          </a:p>
        </p:txBody>
      </p:sp>
      <p:sp>
        <p:nvSpPr>
          <p:cNvPr id="11" name="TextBox 10"/>
          <p:cNvSpPr txBox="1"/>
          <p:nvPr/>
        </p:nvSpPr>
        <p:spPr>
          <a:xfrm>
            <a:off x="685800" y="2871216"/>
            <a:ext cx="2103120" cy="274320"/>
          </a:xfrm>
          <a:prstGeom prst="rect">
            <a:avLst/>
          </a:prstGeom>
          <a:noFill/>
        </p:spPr>
        <p:txBody>
          <a:bodyPr wrap="square" lIns="0" tIns="0" rIns="0" bIns="0" anchor="t">
            <a:spAutoFit/>
          </a:bodyPr>
          <a:lstStyle/>
          <a:p>
            <a:pPr algn="l"/>
            <a:r>
              <a:rPr sz="850" b="0" i="0">
                <a:solidFill>
                  <a:srgbClr val="7878A0"/>
                </a:solidFill>
                <a:latin typeface="Calibri"/>
              </a:rPr>
              <a:t>Set fields on a draft</a:t>
            </a:r>
            <a:endParaRPr sz="850" b="0" i="0">
              <a:solidFill>
                <a:srgbClr val="7878A0"/>
              </a:solidFill>
              <a:latin typeface="Calibri"/>
            </a:endParaRPr>
          </a:p>
        </p:txBody>
      </p:sp>
      <p:sp>
        <p:nvSpPr>
          <p:cNvPr id="12" name="Rounded Rectangle 11"/>
          <p:cNvSpPr/>
          <p:nvPr/>
        </p:nvSpPr>
        <p:spPr>
          <a:xfrm>
            <a:off x="548640" y="3218688"/>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73552"/>
            <a:ext cx="2103120" cy="228600"/>
          </a:xfrm>
          <a:prstGeom prst="rect">
            <a:avLst/>
          </a:prstGeom>
          <a:noFill/>
        </p:spPr>
        <p:txBody>
          <a:bodyPr wrap="square" lIns="0" tIns="0" rIns="0" bIns="0" anchor="t">
            <a:spAutoFit/>
          </a:bodyPr>
          <a:lstStyle/>
          <a:p>
            <a:pPr algn="l"/>
            <a:r>
              <a:rPr sz="900" b="1" i="0">
                <a:solidFill>
                  <a:srgbClr val="6CFFC8"/>
                </a:solidFill>
                <a:latin typeface="Consolas"/>
              </a:rPr>
              <a:t>COMMIT</a:t>
            </a:r>
            <a:endParaRPr sz="900" b="1" i="0">
              <a:solidFill>
                <a:srgbClr val="6CFFC8"/>
              </a:solidFill>
              <a:latin typeface="Consolas"/>
            </a:endParaRPr>
          </a:p>
        </p:txBody>
      </p:sp>
      <p:sp>
        <p:nvSpPr>
          <p:cNvPr id="14" name="TextBox 13"/>
          <p:cNvSpPr txBox="1"/>
          <p:nvPr/>
        </p:nvSpPr>
        <p:spPr>
          <a:xfrm>
            <a:off x="685800" y="3474720"/>
            <a:ext cx="2103120" cy="274320"/>
          </a:xfrm>
          <a:prstGeom prst="rect">
            <a:avLst/>
          </a:prstGeom>
          <a:noFill/>
        </p:spPr>
        <p:txBody>
          <a:bodyPr wrap="square" lIns="0" tIns="0" rIns="0" bIns="0" anchor="t">
            <a:spAutoFit/>
          </a:bodyPr>
          <a:lstStyle/>
          <a:p>
            <a:pPr algn="l"/>
            <a:r>
              <a:rPr sz="850" b="0" i="0">
                <a:solidFill>
                  <a:srgbClr val="7878A0"/>
                </a:solidFill>
                <a:latin typeface="Calibri"/>
              </a:rPr>
              <a:t>Persist a draft as canonical</a:t>
            </a:r>
            <a:endParaRPr sz="850" b="0" i="0">
              <a:solidFill>
                <a:srgbClr val="7878A0"/>
              </a:solidFill>
              <a:latin typeface="Calibri"/>
            </a:endParaRPr>
          </a:p>
        </p:txBody>
      </p:sp>
      <p:sp>
        <p:nvSpPr>
          <p:cNvPr id="15" name="Rounded Rectangle 14"/>
          <p:cNvSpPr/>
          <p:nvPr/>
        </p:nvSpPr>
        <p:spPr>
          <a:xfrm>
            <a:off x="548640" y="3822192"/>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77056"/>
            <a:ext cx="2103120" cy="228600"/>
          </a:xfrm>
          <a:prstGeom prst="rect">
            <a:avLst/>
          </a:prstGeom>
          <a:noFill/>
        </p:spPr>
        <p:txBody>
          <a:bodyPr wrap="square" lIns="0" tIns="0" rIns="0" bIns="0" anchor="t">
            <a:spAutoFit/>
          </a:bodyPr>
          <a:lstStyle/>
          <a:p>
            <a:pPr algn="l"/>
            <a:r>
              <a:rPr sz="900" b="1" i="0">
                <a:solidFill>
                  <a:srgbClr val="FFA84A"/>
                </a:solidFill>
                <a:latin typeface="Consolas"/>
              </a:rPr>
              <a:t>ADD_WRONG_INFO</a:t>
            </a:r>
            <a:endParaRPr sz="900" b="1" i="0">
              <a:solidFill>
                <a:srgbClr val="FFA84A"/>
              </a:solidFill>
              <a:latin typeface="Consolas"/>
            </a:endParaRPr>
          </a:p>
        </p:txBody>
      </p:sp>
      <p:sp>
        <p:nvSpPr>
          <p:cNvPr id="17" name="TextBox 16"/>
          <p:cNvSpPr txBox="1"/>
          <p:nvPr/>
        </p:nvSpPr>
        <p:spPr>
          <a:xfrm>
            <a:off x="685800" y="4078224"/>
            <a:ext cx="2103120" cy="274320"/>
          </a:xfrm>
          <a:prstGeom prst="rect">
            <a:avLst/>
          </a:prstGeom>
          <a:noFill/>
        </p:spPr>
        <p:txBody>
          <a:bodyPr wrap="square" lIns="0" tIns="0" rIns="0" bIns="0" anchor="t">
            <a:spAutoFit/>
          </a:bodyPr>
          <a:lstStyle/>
          <a:p>
            <a:pPr algn="l"/>
            <a:r>
              <a:rPr sz="850" b="0" i="0">
                <a:solidFill>
                  <a:srgbClr val="7878A0"/>
                </a:solidFill>
                <a:latin typeface="Calibri"/>
              </a:rPr>
              <a:t>Plant a wrong/correct value pair atomically</a:t>
            </a:r>
            <a:endParaRPr sz="850" b="0" i="0">
              <a:solidFill>
                <a:srgbClr val="7878A0"/>
              </a:solidFill>
              <a:latin typeface="Calibri"/>
            </a:endParaRPr>
          </a:p>
        </p:txBody>
      </p:sp>
      <p:sp>
        <p:nvSpPr>
          <p:cNvPr id="18" name="Rounded Rectangle 17"/>
          <p:cNvSpPr/>
          <p:nvPr/>
        </p:nvSpPr>
        <p:spPr>
          <a:xfrm>
            <a:off x="548640" y="4425696"/>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480560"/>
            <a:ext cx="2103120" cy="228600"/>
          </a:xfrm>
          <a:prstGeom prst="rect">
            <a:avLst/>
          </a:prstGeom>
          <a:noFill/>
        </p:spPr>
        <p:txBody>
          <a:bodyPr wrap="square" lIns="0" tIns="0" rIns="0" bIns="0" anchor="t">
            <a:spAutoFit/>
          </a:bodyPr>
          <a:lstStyle/>
          <a:p>
            <a:pPr algn="l"/>
            <a:r>
              <a:rPr sz="900" b="1" i="0">
                <a:solidFill>
                  <a:srgbClr val="C87EFF"/>
                </a:solidFill>
                <a:latin typeface="Consolas"/>
              </a:rPr>
              <a:t>REGISTER_DOC_REFS</a:t>
            </a:r>
            <a:endParaRPr sz="900" b="1" i="0">
              <a:solidFill>
                <a:srgbClr val="C87EFF"/>
              </a:solidFill>
              <a:latin typeface="Consolas"/>
            </a:endParaRPr>
          </a:p>
        </p:txBody>
      </p:sp>
      <p:sp>
        <p:nvSpPr>
          <p:cNvPr id="20" name="TextBox 19"/>
          <p:cNvSpPr txBox="1"/>
          <p:nvPr/>
        </p:nvSpPr>
        <p:spPr>
          <a:xfrm>
            <a:off x="685800" y="4681728"/>
            <a:ext cx="2103120" cy="274320"/>
          </a:xfrm>
          <a:prstGeom prst="rect">
            <a:avLst/>
          </a:prstGeom>
          <a:noFill/>
        </p:spPr>
        <p:txBody>
          <a:bodyPr wrap="square" lIns="0" tIns="0" rIns="0" bIns="0" anchor="t">
            <a:spAutoFit/>
          </a:bodyPr>
          <a:lstStyle/>
          <a:p>
            <a:pPr algn="l"/>
            <a:r>
              <a:rPr sz="850" b="0" i="0">
                <a:solidFill>
                  <a:srgbClr val="7878A0"/>
                </a:solidFill>
                <a:latin typeface="Calibri"/>
              </a:rPr>
              <a:t>Link docs to wrong-info roles</a:t>
            </a:r>
            <a:endParaRPr sz="850" b="0" i="0">
              <a:solidFill>
                <a:srgbClr val="7878A0"/>
              </a:solidFill>
              <a:latin typeface="Calibri"/>
            </a:endParaRPr>
          </a:p>
        </p:txBody>
      </p:sp>
      <p:sp>
        <p:nvSpPr>
          <p:cNvPr id="21" name="Rounded Rectangle 20"/>
          <p:cNvSpPr/>
          <p:nvPr/>
        </p:nvSpPr>
        <p:spPr>
          <a:xfrm>
            <a:off x="548640" y="5029200"/>
            <a:ext cx="2377440" cy="5486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084064"/>
            <a:ext cx="2103120" cy="228600"/>
          </a:xfrm>
          <a:prstGeom prst="rect">
            <a:avLst/>
          </a:prstGeom>
          <a:noFill/>
        </p:spPr>
        <p:txBody>
          <a:bodyPr wrap="square" lIns="0" tIns="0" rIns="0" bIns="0" anchor="t">
            <a:spAutoFit/>
          </a:bodyPr>
          <a:lstStyle/>
          <a:p>
            <a:pPr algn="l"/>
            <a:r>
              <a:rPr sz="900" b="1" i="0">
                <a:solidFill>
                  <a:srgbClr val="FF6C8E"/>
                </a:solidFill>
                <a:latin typeface="Consolas"/>
              </a:rPr>
              <a:t>VERIFY</a:t>
            </a:r>
            <a:endParaRPr sz="900" b="1" i="0">
              <a:solidFill>
                <a:srgbClr val="FF6C8E"/>
              </a:solidFill>
              <a:latin typeface="Consolas"/>
            </a:endParaRPr>
          </a:p>
        </p:txBody>
      </p:sp>
      <p:sp>
        <p:nvSpPr>
          <p:cNvPr id="23" name="TextBox 22"/>
          <p:cNvSpPr txBox="1"/>
          <p:nvPr/>
        </p:nvSpPr>
        <p:spPr>
          <a:xfrm>
            <a:off x="685800" y="5285232"/>
            <a:ext cx="2103120" cy="274320"/>
          </a:xfrm>
          <a:prstGeom prst="rect">
            <a:avLst/>
          </a:prstGeom>
          <a:noFill/>
        </p:spPr>
        <p:txBody>
          <a:bodyPr wrap="square" lIns="0" tIns="0" rIns="0" bIns="0" anchor="t">
            <a:spAutoFit/>
          </a:bodyPr>
          <a:lstStyle/>
          <a:p>
            <a:pPr algn="l"/>
            <a:r>
              <a:rPr sz="850" b="0" i="0">
                <a:solidFill>
                  <a:srgbClr val="7878A0"/>
                </a:solidFill>
                <a:latin typeface="Calibri"/>
              </a:rPr>
              <a:t>Run 11 venue completeness checks</a:t>
            </a:r>
            <a:endParaRPr sz="850" b="0" i="0">
              <a:solidFill>
                <a:srgbClr val="7878A0"/>
              </a:solidFill>
              <a:latin typeface="Calibri"/>
            </a:endParaRPr>
          </a:p>
        </p:txBody>
      </p:sp>
      <p:sp>
        <p:nvSpPr>
          <p:cNvPr id="24" name="Rounded Rectangle 23"/>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108960" y="1691640"/>
            <a:ext cx="8503920"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0" y="1874520"/>
            <a:ext cx="8503920" cy="365760"/>
          </a:xfrm>
          <a:prstGeom prst="rect">
            <a:avLst/>
          </a:prstGeom>
          <a:noFill/>
        </p:spPr>
        <p:txBody>
          <a:bodyPr wrap="square" lIns="0" tIns="0" rIns="0" bIns="0" anchor="t">
            <a:spAutoFit/>
          </a:bodyPr>
          <a:lstStyle/>
          <a:p>
            <a:pPr algn="l"/>
            <a:r>
              <a:rPr sz="1300" b="1" i="0">
                <a:solidFill>
                  <a:srgbClr val="6CFFC8"/>
                </a:solidFill>
                <a:latin typeface="Consolas"/>
              </a:rPr>
              <a:t>✅  VERIFY + SUBMIT</a:t>
            </a:r>
            <a:endParaRPr sz="1300" b="1" i="0">
              <a:solidFill>
                <a:srgbClr val="6CFFC8"/>
              </a:solidFill>
              <a:latin typeface="Consolas"/>
            </a:endParaRPr>
          </a:p>
        </p:txBody>
      </p:sp>
      <p:sp>
        <p:nvSpPr>
          <p:cNvPr id="27" name="Rounded Rectangle 26"/>
          <p:cNvSpPr/>
          <p:nvPr/>
        </p:nvSpPr>
        <p:spPr>
          <a:xfrm>
            <a:off x="3108960" y="2377440"/>
            <a:ext cx="8503920" cy="77724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245059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9" name="TextBox 28"/>
          <p:cNvSpPr txBox="1"/>
          <p:nvPr/>
        </p:nvSpPr>
        <p:spPr>
          <a:xfrm>
            <a:off x="3246120" y="2651760"/>
            <a:ext cx="8229600" cy="457200"/>
          </a:xfrm>
          <a:prstGeom prst="rect">
            <a:avLst/>
          </a:prstGeom>
          <a:noFill/>
        </p:spPr>
        <p:txBody>
          <a:bodyPr wrap="square" lIns="0" tIns="0" rIns="0" bIns="0" anchor="t">
            <a:spAutoFit/>
          </a:bodyPr>
          <a:lstStyle/>
          <a:p>
            <a:pPr algn="l"/>
            <a:r>
              <a:rPr sz="1000" b="0" i="0">
                <a:solidFill>
                  <a:srgbClr val="7878A0"/>
                </a:solidFill>
                <a:latin typeface="Calibri"/>
              </a:rPr>
              <a:t>All 11 checks must pass: venue structure, tag visibility (hidden tags surface in docs), regulation visibility, wrong-info pairing, truth_carrier_registered, incorrect_source_registered, doc count ≥3.</a:t>
            </a:r>
            <a:endParaRPr sz="1000" b="0" i="0">
              <a:solidFill>
                <a:srgbClr val="7878A0"/>
              </a:solidFill>
              <a:latin typeface="Calibri"/>
            </a:endParaRPr>
          </a:p>
        </p:txBody>
      </p:sp>
      <p:sp>
        <p:nvSpPr>
          <p:cNvPr id="30" name="Rounded Rectangle 29"/>
          <p:cNvSpPr/>
          <p:nvPr/>
        </p:nvSpPr>
        <p:spPr>
          <a:xfrm>
            <a:off x="3108960" y="3264408"/>
            <a:ext cx="8503920" cy="54864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6120" y="3319272"/>
            <a:ext cx="8229600" cy="228600"/>
          </a:xfrm>
          <a:prstGeom prst="rect">
            <a:avLst/>
          </a:prstGeom>
          <a:noFill/>
        </p:spPr>
        <p:txBody>
          <a:bodyPr wrap="square" lIns="0" tIns="0" rIns="0" bIns="0" anchor="t">
            <a:spAutoFit/>
          </a:bodyPr>
          <a:lstStyle/>
          <a:p>
            <a:pPr algn="l"/>
            <a:r>
              <a:rPr sz="1000" b="1" i="0">
                <a:solidFill>
                  <a:srgbClr val="FF6C8E"/>
                </a:solidFill>
                <a:latin typeface="Consolas"/>
              </a:rPr>
              <a:t>VERIFY   </a:t>
            </a:r>
            <a:r>
              <a:rPr sz="900" b="0" i="0">
                <a:solidFill>
                  <a:srgbClr val="FF6C8E"/>
                </a:solidFill>
                <a:latin typeface="Consolas"/>
              </a:rPr>
              <a:t>11 checks</a:t>
            </a:r>
            <a:endParaRPr sz="900" b="0" i="0">
              <a:solidFill>
                <a:srgbClr val="FF6C8E"/>
              </a:solidFill>
              <a:latin typeface="Consolas"/>
            </a:endParaRPr>
          </a:p>
        </p:txBody>
      </p:sp>
      <p:sp>
        <p:nvSpPr>
          <p:cNvPr id="32" name="TextBox 31"/>
          <p:cNvSpPr txBox="1"/>
          <p:nvPr/>
        </p:nvSpPr>
        <p:spPr>
          <a:xfrm>
            <a:off x="3246120" y="3557016"/>
            <a:ext cx="8229600" cy="228600"/>
          </a:xfrm>
          <a:prstGeom prst="rect">
            <a:avLst/>
          </a:prstGeom>
          <a:noFill/>
        </p:spPr>
        <p:txBody>
          <a:bodyPr wrap="square" lIns="0" tIns="0" rIns="0" bIns="0" anchor="t">
            <a:spAutoFit/>
          </a:bodyPr>
          <a:lstStyle/>
          <a:p>
            <a:pPr algn="l"/>
            <a:r>
              <a:rPr sz="900" b="0" i="0">
                <a:solidFill>
                  <a:srgbClr val="6CFFC8"/>
                </a:solidFill>
                <a:latin typeface="Consolas"/>
              </a:rPr>
              <a:t>✅  all pass</a:t>
            </a:r>
            <a:endParaRPr sz="900" b="0" i="0">
              <a:solidFill>
                <a:srgbClr val="6CFFC8"/>
              </a:solidFill>
              <a:latin typeface="Consolas"/>
            </a:endParaRPr>
          </a:p>
        </p:txBody>
      </p:sp>
      <p:sp>
        <p:nvSpPr>
          <p:cNvPr id="33" name="Rounded Rectangle 32"/>
          <p:cNvSpPr/>
          <p:nvPr/>
        </p:nvSpPr>
        <p:spPr>
          <a:xfrm>
            <a:off x="3108960" y="3886200"/>
            <a:ext cx="8503920" cy="54864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6120" y="3941064"/>
            <a:ext cx="8229600" cy="228600"/>
          </a:xfrm>
          <a:prstGeom prst="rect">
            <a:avLst/>
          </a:prstGeom>
          <a:noFill/>
        </p:spPr>
        <p:txBody>
          <a:bodyPr wrap="square" lIns="0" tIns="0" rIns="0" bIns="0" anchor="t">
            <a:spAutoFit/>
          </a:bodyPr>
          <a:lstStyle/>
          <a:p>
            <a:pPr algn="l"/>
            <a:r>
              <a:rPr sz="1000" b="1" i="0">
                <a:solidFill>
                  <a:srgbClr val="FFA84A"/>
                </a:solidFill>
                <a:latin typeface="Consolas"/>
              </a:rPr>
              <a:t>SUBMIT   </a:t>
            </a:r>
            <a:r>
              <a:rPr sz="900" b="0" i="0">
                <a:solidFill>
                  <a:srgbClr val="FFA84A"/>
                </a:solidFill>
                <a:latin typeface="Consolas"/>
              </a:rPr>
              <a:t>venue M4uBkLL</a:t>
            </a:r>
            <a:endParaRPr sz="900" b="0" i="0">
              <a:solidFill>
                <a:srgbClr val="FFA84A"/>
              </a:solidFill>
              <a:latin typeface="Consolas"/>
            </a:endParaRPr>
          </a:p>
        </p:txBody>
      </p:sp>
      <p:sp>
        <p:nvSpPr>
          <p:cNvPr id="35" name="TextBox 34"/>
          <p:cNvSpPr txBox="1"/>
          <p:nvPr/>
        </p:nvSpPr>
        <p:spPr>
          <a:xfrm>
            <a:off x="3246120" y="4178808"/>
            <a:ext cx="8229600" cy="228600"/>
          </a:xfrm>
          <a:prstGeom prst="rect">
            <a:avLst/>
          </a:prstGeom>
          <a:noFill/>
        </p:spPr>
        <p:txBody>
          <a:bodyPr wrap="square" lIns="0" tIns="0" rIns="0" bIns="0" anchor="t">
            <a:spAutoFit/>
          </a:bodyPr>
          <a:lstStyle/>
          <a:p>
            <a:pPr algn="l"/>
            <a:r>
              <a:rPr sz="900" b="0" i="0">
                <a:solidFill>
                  <a:srgbClr val="6CFFC8"/>
                </a:solidFill>
                <a:latin typeface="Consolas"/>
              </a:rPr>
              <a:t>✅  status=verified, ready for benchmark</a:t>
            </a:r>
            <a:endParaRPr sz="900" b="0" i="0">
              <a:solidFill>
                <a:srgbClr val="6CFFC8"/>
              </a:solidFill>
              <a:latin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06  —  TRUTH-CARRIER MECHANISM</a:t>
            </a:r>
            <a:endParaRPr sz="1000" b="0" i="0">
              <a:solidFill>
                <a:srgbClr val="6C8EFF"/>
              </a:solidFill>
              <a:latin typeface="Consolas"/>
            </a:endParaRPr>
          </a:p>
        </p:txBody>
      </p:sp>
      <p:sp>
        <p:nvSpPr>
          <p:cNvPr id="3" name="TextBox 2"/>
          <p:cNvSpPr txBox="1"/>
          <p:nvPr/>
        </p:nvSpPr>
        <p:spPr>
          <a:xfrm>
            <a:off x="548640" y="685800"/>
            <a:ext cx="10972800" cy="822960"/>
          </a:xfrm>
          <a:prstGeom prst="rect">
            <a:avLst/>
          </a:prstGeom>
          <a:noFill/>
        </p:spPr>
        <p:txBody>
          <a:bodyPr wrap="square" lIns="0" tIns="0" rIns="0" bIns="0" anchor="t">
            <a:spAutoFit/>
          </a:bodyPr>
          <a:lstStyle/>
          <a:p>
            <a:pPr algn="l"/>
            <a:r>
              <a:rPr sz="3000" b="0" i="0">
                <a:solidFill>
                  <a:srgbClr val="E8E8F0"/>
                </a:solidFill>
                <a:latin typeface="Georgia" panose="02040502050405090303"/>
              </a:rPr>
              <a:t>Truth-Carrier Mechanism</a:t>
            </a:r>
            <a:endParaRPr sz="3000" b="0" i="0">
              <a:solidFill>
                <a:srgbClr val="E8E8F0"/>
              </a:solidFill>
              <a:latin typeface="Georgia" panose="02040502050405090303"/>
            </a:endParaRPr>
          </a:p>
        </p:txBody>
      </p:sp>
      <p:sp>
        <p:nvSpPr>
          <p:cNvPr id="4" name="TextBox 3"/>
          <p:cNvSpPr txBox="1"/>
          <p:nvPr/>
        </p:nvSpPr>
        <p:spPr>
          <a:xfrm>
            <a:off x="548640" y="1280160"/>
            <a:ext cx="10972800" cy="457200"/>
          </a:xfrm>
          <a:prstGeom prst="rect">
            <a:avLst/>
          </a:prstGeom>
          <a:noFill/>
        </p:spPr>
        <p:txBody>
          <a:bodyPr wrap="square" lIns="0" tIns="0" rIns="0" bIns="0" anchor="t">
            <a:spAutoFit/>
          </a:bodyPr>
          <a:lstStyle/>
          <a:p>
            <a:pPr algn="l"/>
            <a:r>
              <a:rPr sz="1600" b="1" i="0">
                <a:solidFill>
                  <a:srgbClr val="E8E8F0"/>
                </a:solidFill>
                <a:latin typeface="Calibri"/>
              </a:rPr>
              <a:t>Every wrong-info entry registers two docs — the trap and its escape</a:t>
            </a:r>
            <a:endParaRPr sz="1600" b="1" i="0">
              <a:solidFill>
                <a:srgbClr val="E8E8F0"/>
              </a:solidFill>
              <a:latin typeface="Calibri"/>
            </a:endParaRPr>
          </a:p>
        </p:txBody>
      </p:sp>
      <p:sp>
        <p:nvSpPr>
          <p:cNvPr id="5" name="Rounded Rectangle 4"/>
          <p:cNvSpPr/>
          <p:nvPr/>
        </p:nvSpPr>
        <p:spPr>
          <a:xfrm>
            <a:off x="548640" y="1920240"/>
            <a:ext cx="3657600" cy="237744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3291840" cy="274320"/>
          </a:xfrm>
          <a:prstGeom prst="rect">
            <a:avLst/>
          </a:prstGeom>
          <a:noFill/>
        </p:spPr>
        <p:txBody>
          <a:bodyPr wrap="square" lIns="0" tIns="0" rIns="0" bIns="0" anchor="t">
            <a:spAutoFit/>
          </a:bodyPr>
          <a:lstStyle/>
          <a:p>
            <a:pPr algn="l"/>
            <a:r>
              <a:rPr sz="1000" b="1" i="0">
                <a:solidFill>
                  <a:srgbClr val="6C8EFF"/>
                </a:solidFill>
                <a:latin typeface="Consolas"/>
              </a:rPr>
              <a:t>THE PAIR</a:t>
            </a:r>
            <a:endParaRPr sz="1000" b="1" i="0">
              <a:solidFill>
                <a:srgbClr val="6C8EFF"/>
              </a:solidFill>
              <a:latin typeface="Consolas"/>
            </a:endParaRPr>
          </a:p>
        </p:txBody>
      </p:sp>
      <p:sp>
        <p:nvSpPr>
          <p:cNvPr id="7" name="TextBox 6"/>
          <p:cNvSpPr txBox="1"/>
          <p:nvPr/>
        </p:nvSpPr>
        <p:spPr>
          <a:xfrm>
            <a:off x="731520" y="2331720"/>
            <a:ext cx="3291840" cy="365760"/>
          </a:xfrm>
          <a:prstGeom prst="rect">
            <a:avLst/>
          </a:prstGeom>
          <a:noFill/>
        </p:spPr>
        <p:txBody>
          <a:bodyPr wrap="square" lIns="0" tIns="0" rIns="0" bIns="0" anchor="t">
            <a:spAutoFit/>
          </a:bodyPr>
          <a:lstStyle/>
          <a:p>
            <a:pPr algn="l"/>
            <a:r>
              <a:rPr sz="1200" b="1" i="0">
                <a:solidFill>
                  <a:srgbClr val="FF6C8E"/>
                </a:solidFill>
                <a:latin typeface="Consolas"/>
              </a:rPr>
              <a:t>incorrect_source</a:t>
            </a:r>
            <a:r>
              <a:rPr sz="1100" b="0" i="0">
                <a:solidFill>
                  <a:srgbClr val="7878A0"/>
                </a:solidFill>
                <a:latin typeface="Calibri"/>
              </a:rPr>
              <a:t>: where the agent trips</a:t>
            </a:r>
            <a:endParaRPr sz="1100" b="0" i="0">
              <a:solidFill>
                <a:srgbClr val="7878A0"/>
              </a:solidFill>
              <a:latin typeface="Calibri"/>
            </a:endParaRPr>
          </a:p>
        </p:txBody>
      </p:sp>
      <p:sp>
        <p:nvSpPr>
          <p:cNvPr id="8" name="TextBox 7"/>
          <p:cNvSpPr txBox="1"/>
          <p:nvPr/>
        </p:nvSpPr>
        <p:spPr>
          <a:xfrm>
            <a:off x="731520" y="2697480"/>
            <a:ext cx="3291840" cy="457200"/>
          </a:xfrm>
          <a:prstGeom prst="rect">
            <a:avLst/>
          </a:prstGeom>
          <a:noFill/>
        </p:spPr>
        <p:txBody>
          <a:bodyPr wrap="square" lIns="0" tIns="0" rIns="0" bIns="0" anchor="t">
            <a:spAutoFit/>
          </a:bodyPr>
          <a:lstStyle/>
          <a:p>
            <a:pPr algn="l"/>
            <a:r>
              <a:rPr sz="1000" b="0" i="0">
                <a:solidFill>
                  <a:srgbClr val="7878A0"/>
                </a:solidFill>
                <a:latin typeface="Calibri"/>
              </a:rPr>
              <a:t>A blog or yelp listing that carries the wrong value, plausibly enough that a fast reader trusts it.</a:t>
            </a:r>
            <a:endParaRPr sz="1000" b="0" i="0">
              <a:solidFill>
                <a:srgbClr val="7878A0"/>
              </a:solidFill>
              <a:latin typeface="Calibri"/>
            </a:endParaRPr>
          </a:p>
        </p:txBody>
      </p:sp>
      <p:sp>
        <p:nvSpPr>
          <p:cNvPr id="9" name="TextBox 8"/>
          <p:cNvSpPr txBox="1"/>
          <p:nvPr/>
        </p:nvSpPr>
        <p:spPr>
          <a:xfrm>
            <a:off x="731520" y="3291840"/>
            <a:ext cx="3291840" cy="365760"/>
          </a:xfrm>
          <a:prstGeom prst="rect">
            <a:avLst/>
          </a:prstGeom>
          <a:noFill/>
        </p:spPr>
        <p:txBody>
          <a:bodyPr wrap="square" lIns="0" tIns="0" rIns="0" bIns="0" anchor="t">
            <a:spAutoFit/>
          </a:bodyPr>
          <a:lstStyle/>
          <a:p>
            <a:pPr algn="l"/>
            <a:r>
              <a:rPr sz="1200" b="1" i="0">
                <a:solidFill>
                  <a:srgbClr val="6CFFC8"/>
                </a:solidFill>
                <a:latin typeface="Consolas"/>
              </a:rPr>
              <a:t>truth_carrier</a:t>
            </a:r>
            <a:r>
              <a:rPr sz="1100" b="0" i="0">
                <a:solidFill>
                  <a:srgbClr val="7878A0"/>
                </a:solidFill>
                <a:latin typeface="Calibri"/>
              </a:rPr>
              <a:t>: where the agent recovers</a:t>
            </a:r>
            <a:endParaRPr sz="1100" b="0" i="0">
              <a:solidFill>
                <a:srgbClr val="7878A0"/>
              </a:solidFill>
              <a:latin typeface="Calibri"/>
            </a:endParaRPr>
          </a:p>
        </p:txBody>
      </p:sp>
      <p:sp>
        <p:nvSpPr>
          <p:cNvPr id="10" name="TextBox 9"/>
          <p:cNvSpPr txBox="1"/>
          <p:nvPr/>
        </p:nvSpPr>
        <p:spPr>
          <a:xfrm>
            <a:off x="731520" y="3657600"/>
            <a:ext cx="3291840" cy="548640"/>
          </a:xfrm>
          <a:prstGeom prst="rect">
            <a:avLst/>
          </a:prstGeom>
          <a:noFill/>
        </p:spPr>
        <p:txBody>
          <a:bodyPr wrap="square" lIns="0" tIns="0" rIns="0" bIns="0" anchor="t">
            <a:spAutoFit/>
          </a:bodyPr>
          <a:lstStyle/>
          <a:p>
            <a:pPr algn="l"/>
            <a:r>
              <a:rPr sz="1000" b="0" i="0">
                <a:solidFill>
                  <a:srgbClr val="7878A0"/>
                </a:solidFill>
                <a:latin typeface="Calibri"/>
              </a:rPr>
              <a:t>A forum post or doc where someone mentions the correction in passing — embedded in lived experience, not flagged.</a:t>
            </a:r>
            <a:endParaRPr sz="1000" b="0" i="0">
              <a:solidFill>
                <a:srgbClr val="7878A0"/>
              </a:solidFill>
              <a:latin typeface="Calibri"/>
            </a:endParaRPr>
          </a:p>
        </p:txBody>
      </p:sp>
      <p:sp>
        <p:nvSpPr>
          <p:cNvPr id="11" name="Rounded Rectangle 10"/>
          <p:cNvSpPr/>
          <p:nvPr/>
        </p:nvSpPr>
        <p:spPr>
          <a:xfrm>
            <a:off x="4343400" y="1920240"/>
            <a:ext cx="3657600" cy="237744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057400"/>
            <a:ext cx="3291840" cy="274320"/>
          </a:xfrm>
          <a:prstGeom prst="rect">
            <a:avLst/>
          </a:prstGeom>
          <a:noFill/>
        </p:spPr>
        <p:txBody>
          <a:bodyPr wrap="square" lIns="0" tIns="0" rIns="0" bIns="0" anchor="t">
            <a:spAutoFit/>
          </a:bodyPr>
          <a:lstStyle/>
          <a:p>
            <a:pPr algn="l"/>
            <a:r>
              <a:rPr sz="1000" b="1" i="0">
                <a:solidFill>
                  <a:srgbClr val="6CFFC8"/>
                </a:solidFill>
                <a:latin typeface="Consolas"/>
              </a:rPr>
              <a:t>ATOMIC WRITE  ·  P6-T22</a:t>
            </a:r>
            <a:endParaRPr sz="1000" b="1" i="0">
              <a:solidFill>
                <a:srgbClr val="6CFFC8"/>
              </a:solidFill>
              <a:latin typeface="Consolas"/>
            </a:endParaRPr>
          </a:p>
        </p:txBody>
      </p:sp>
      <p:sp>
        <p:nvSpPr>
          <p:cNvPr id="13" name="TextBox 12"/>
          <p:cNvSpPr txBox="1"/>
          <p:nvPr/>
        </p:nvSpPr>
        <p:spPr>
          <a:xfrm>
            <a:off x="4526280" y="2377440"/>
            <a:ext cx="3291840" cy="457200"/>
          </a:xfrm>
          <a:prstGeom prst="rect">
            <a:avLst/>
          </a:prstGeom>
          <a:noFill/>
        </p:spPr>
        <p:txBody>
          <a:bodyPr wrap="square" lIns="0" tIns="0" rIns="0" bIns="0" anchor="t">
            <a:spAutoFit/>
          </a:bodyPr>
          <a:lstStyle/>
          <a:p>
            <a:pPr algn="l"/>
            <a:r>
              <a:rPr sz="1000" b="0" i="0">
                <a:solidFill>
                  <a:srgbClr val="7878A0"/>
                </a:solidFill>
                <a:latin typeface="Calibri"/>
              </a:rPr>
              <a:t>ADD_WRONG_INFO takes both doc IDs as required arguments and writes all three tables in one transaction.</a:t>
            </a:r>
            <a:endParaRPr sz="1000" b="0" i="0">
              <a:solidFill>
                <a:srgbClr val="7878A0"/>
              </a:solidFill>
              <a:latin typeface="Calibri"/>
            </a:endParaRPr>
          </a:p>
        </p:txBody>
      </p:sp>
      <p:sp>
        <p:nvSpPr>
          <p:cNvPr id="14" name="Rounded Rectangle 13"/>
          <p:cNvSpPr/>
          <p:nvPr/>
        </p:nvSpPr>
        <p:spPr>
          <a:xfrm>
            <a:off x="4526280" y="2971800"/>
            <a:ext cx="3291840" cy="45720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3035808"/>
            <a:ext cx="3108960" cy="365760"/>
          </a:xfrm>
          <a:prstGeom prst="rect">
            <a:avLst/>
          </a:prstGeom>
          <a:noFill/>
        </p:spPr>
        <p:txBody>
          <a:bodyPr wrap="square" lIns="0" tIns="0" rIns="0" bIns="0" anchor="t">
            <a:spAutoFit/>
          </a:bodyPr>
          <a:lstStyle/>
          <a:p>
            <a:pPr algn="ctr"/>
            <a:r>
              <a:rPr sz="1000" b="0" i="0">
                <a:solidFill>
                  <a:srgbClr val="6CFFC8"/>
                </a:solidFill>
                <a:latin typeface="Consolas"/>
              </a:rPr>
              <a:t>wrong_info  +  doc_venue_roles ×2  →  1 commit</a:t>
            </a:r>
            <a:endParaRPr sz="1000" b="0" i="0">
              <a:solidFill>
                <a:srgbClr val="6CFFC8"/>
              </a:solidFill>
              <a:latin typeface="Consolas"/>
            </a:endParaRPr>
          </a:p>
        </p:txBody>
      </p:sp>
      <p:sp>
        <p:nvSpPr>
          <p:cNvPr id="16" name="TextBox 15"/>
          <p:cNvSpPr txBox="1"/>
          <p:nvPr/>
        </p:nvSpPr>
        <p:spPr>
          <a:xfrm>
            <a:off x="4526280" y="3566160"/>
            <a:ext cx="3291840" cy="640080"/>
          </a:xfrm>
          <a:prstGeom prst="rect">
            <a:avLst/>
          </a:prstGeom>
          <a:noFill/>
        </p:spPr>
        <p:txBody>
          <a:bodyPr wrap="square" lIns="0" tIns="0" rIns="0" bIns="0" anchor="t">
            <a:spAutoFit/>
          </a:bodyPr>
          <a:lstStyle/>
          <a:p>
            <a:pPr algn="l"/>
            <a:r>
              <a:rPr sz="1000" b="0" i="1">
                <a:solidFill>
                  <a:srgbClr val="7878A0"/>
                </a:solidFill>
                <a:latin typeface="Calibri"/>
              </a:rPr>
              <a:t>Eliminates orphans. (Pre-fix: 21% of wrong-info entries on NYC test_50 had no registered truth carrier.)</a:t>
            </a:r>
            <a:endParaRPr sz="1000" b="0" i="1">
              <a:solidFill>
                <a:srgbClr val="7878A0"/>
              </a:solidFill>
              <a:latin typeface="Calibri"/>
            </a:endParaRPr>
          </a:p>
        </p:txBody>
      </p:sp>
      <p:sp>
        <p:nvSpPr>
          <p:cNvPr id="17" name="Rounded Rectangle 16"/>
          <p:cNvSpPr/>
          <p:nvPr/>
        </p:nvSpPr>
        <p:spPr>
          <a:xfrm>
            <a:off x="8138160" y="1920240"/>
            <a:ext cx="3657600" cy="2377440"/>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057400"/>
            <a:ext cx="3291840" cy="274320"/>
          </a:xfrm>
          <a:prstGeom prst="rect">
            <a:avLst/>
          </a:prstGeom>
          <a:noFill/>
        </p:spPr>
        <p:txBody>
          <a:bodyPr wrap="square" lIns="0" tIns="0" rIns="0" bIns="0" anchor="t">
            <a:spAutoFit/>
          </a:bodyPr>
          <a:lstStyle/>
          <a:p>
            <a:pPr algn="l"/>
            <a:r>
              <a:rPr sz="1000" b="1" i="0">
                <a:solidFill>
                  <a:srgbClr val="FFA84A"/>
                </a:solidFill>
                <a:latin typeface="Consolas"/>
              </a:rPr>
              <a:t>4 WRONG-INFO CATEGORIES</a:t>
            </a:r>
            <a:endParaRPr sz="1000" b="1" i="0">
              <a:solidFill>
                <a:srgbClr val="FFA84A"/>
              </a:solidFill>
              <a:latin typeface="Consolas"/>
            </a:endParaRPr>
          </a:p>
        </p:txBody>
      </p:sp>
      <p:sp>
        <p:nvSpPr>
          <p:cNvPr id="19" name="TextBox 18"/>
          <p:cNvSpPr txBox="1"/>
          <p:nvPr/>
        </p:nvSpPr>
        <p:spPr>
          <a:xfrm>
            <a:off x="8321040" y="2423160"/>
            <a:ext cx="3291840" cy="182880"/>
          </a:xfrm>
          <a:prstGeom prst="rect">
            <a:avLst/>
          </a:prstGeom>
          <a:noFill/>
        </p:spPr>
        <p:txBody>
          <a:bodyPr wrap="square" lIns="0" tIns="0" rIns="0" bIns="0" anchor="t">
            <a:spAutoFit/>
          </a:bodyPr>
          <a:lstStyle/>
          <a:p>
            <a:pPr algn="l"/>
            <a:r>
              <a:rPr sz="1000" b="1" i="0">
                <a:solidFill>
                  <a:srgbClr val="FFA84A"/>
                </a:solidFill>
                <a:latin typeface="Consolas"/>
              </a:rPr>
              <a:t>temporal_decay</a:t>
            </a:r>
            <a:endParaRPr sz="1000" b="1" i="0">
              <a:solidFill>
                <a:srgbClr val="FFA84A"/>
              </a:solidFill>
              <a:latin typeface="Consolas"/>
            </a:endParaRPr>
          </a:p>
        </p:txBody>
      </p:sp>
      <p:sp>
        <p:nvSpPr>
          <p:cNvPr id="20" name="TextBox 19"/>
          <p:cNvSpPr txBox="1"/>
          <p:nvPr/>
        </p:nvSpPr>
        <p:spPr>
          <a:xfrm>
            <a:off x="8321040" y="2624328"/>
            <a:ext cx="3291840" cy="274320"/>
          </a:xfrm>
          <a:prstGeom prst="rect">
            <a:avLst/>
          </a:prstGeom>
          <a:noFill/>
        </p:spPr>
        <p:txBody>
          <a:bodyPr wrap="square" lIns="0" tIns="0" rIns="0" bIns="0" anchor="t">
            <a:spAutoFit/>
          </a:bodyPr>
          <a:lstStyle/>
          <a:p>
            <a:pPr algn="l"/>
            <a:r>
              <a:rPr sz="900" b="0" i="0">
                <a:solidFill>
                  <a:srgbClr val="7878A0"/>
                </a:solidFill>
                <a:latin typeface="Calibri"/>
              </a:rPr>
              <a:t>Old fact, never updated (Corkbuzz's pre-pandemic hours)</a:t>
            </a:r>
            <a:endParaRPr sz="900" b="0" i="0">
              <a:solidFill>
                <a:srgbClr val="7878A0"/>
              </a:solidFill>
              <a:latin typeface="Calibri"/>
            </a:endParaRPr>
          </a:p>
        </p:txBody>
      </p:sp>
      <p:sp>
        <p:nvSpPr>
          <p:cNvPr id="21" name="TextBox 20"/>
          <p:cNvSpPr txBox="1"/>
          <p:nvPr/>
        </p:nvSpPr>
        <p:spPr>
          <a:xfrm>
            <a:off x="8321040" y="2880360"/>
            <a:ext cx="3291840" cy="182880"/>
          </a:xfrm>
          <a:prstGeom prst="rect">
            <a:avLst/>
          </a:prstGeom>
          <a:noFill/>
        </p:spPr>
        <p:txBody>
          <a:bodyPr wrap="square" lIns="0" tIns="0" rIns="0" bIns="0" anchor="t">
            <a:spAutoFit/>
          </a:bodyPr>
          <a:lstStyle/>
          <a:p>
            <a:pPr algn="l"/>
            <a:r>
              <a:rPr sz="1000" b="1" i="0">
                <a:solidFill>
                  <a:srgbClr val="FFA84A"/>
                </a:solidFill>
                <a:latin typeface="Consolas"/>
              </a:rPr>
              <a:t>propagation_error</a:t>
            </a:r>
            <a:endParaRPr sz="1000" b="1" i="0">
              <a:solidFill>
                <a:srgbClr val="FFA84A"/>
              </a:solidFill>
              <a:latin typeface="Consolas"/>
            </a:endParaRPr>
          </a:p>
        </p:txBody>
      </p:sp>
      <p:sp>
        <p:nvSpPr>
          <p:cNvPr id="22" name="TextBox 21"/>
          <p:cNvSpPr txBox="1"/>
          <p:nvPr/>
        </p:nvSpPr>
        <p:spPr>
          <a:xfrm>
            <a:off x="8321040" y="3081528"/>
            <a:ext cx="3291840" cy="274320"/>
          </a:xfrm>
          <a:prstGeom prst="rect">
            <a:avLst/>
          </a:prstGeom>
          <a:noFill/>
        </p:spPr>
        <p:txBody>
          <a:bodyPr wrap="square" lIns="0" tIns="0" rIns="0" bIns="0" anchor="t">
            <a:spAutoFit/>
          </a:bodyPr>
          <a:lstStyle/>
          <a:p>
            <a:pPr algn="l"/>
            <a:r>
              <a:rPr sz="900" b="0" i="0">
                <a:solidFill>
                  <a:srgbClr val="7878A0"/>
                </a:solidFill>
                <a:latin typeface="Calibri"/>
              </a:rPr>
              <a:t>A wrong fact echoed across multiple sources</a:t>
            </a:r>
            <a:endParaRPr sz="900" b="0" i="0">
              <a:solidFill>
                <a:srgbClr val="7878A0"/>
              </a:solidFill>
              <a:latin typeface="Calibri"/>
            </a:endParaRPr>
          </a:p>
        </p:txBody>
      </p:sp>
      <p:sp>
        <p:nvSpPr>
          <p:cNvPr id="23" name="TextBox 22"/>
          <p:cNvSpPr txBox="1"/>
          <p:nvPr/>
        </p:nvSpPr>
        <p:spPr>
          <a:xfrm>
            <a:off x="8321040" y="3337560"/>
            <a:ext cx="3291840" cy="182880"/>
          </a:xfrm>
          <a:prstGeom prst="rect">
            <a:avLst/>
          </a:prstGeom>
          <a:noFill/>
        </p:spPr>
        <p:txBody>
          <a:bodyPr wrap="square" lIns="0" tIns="0" rIns="0" bIns="0" anchor="t">
            <a:spAutoFit/>
          </a:bodyPr>
          <a:lstStyle/>
          <a:p>
            <a:pPr algn="l"/>
            <a:r>
              <a:rPr sz="1000" b="1" i="0">
                <a:solidFill>
                  <a:srgbClr val="FFA84A"/>
                </a:solidFill>
                <a:latin typeface="Consolas"/>
              </a:rPr>
              <a:t>conditional</a:t>
            </a:r>
            <a:endParaRPr sz="1000" b="1" i="0">
              <a:solidFill>
                <a:srgbClr val="FFA84A"/>
              </a:solidFill>
              <a:latin typeface="Consolas"/>
            </a:endParaRPr>
          </a:p>
        </p:txBody>
      </p:sp>
      <p:sp>
        <p:nvSpPr>
          <p:cNvPr id="24" name="TextBox 23"/>
          <p:cNvSpPr txBox="1"/>
          <p:nvPr/>
        </p:nvSpPr>
        <p:spPr>
          <a:xfrm>
            <a:off x="8321040" y="3538728"/>
            <a:ext cx="3291840" cy="274320"/>
          </a:xfrm>
          <a:prstGeom prst="rect">
            <a:avLst/>
          </a:prstGeom>
          <a:noFill/>
        </p:spPr>
        <p:txBody>
          <a:bodyPr wrap="square" lIns="0" tIns="0" rIns="0" bIns="0" anchor="t">
            <a:spAutoFit/>
          </a:bodyPr>
          <a:lstStyle/>
          <a:p>
            <a:pPr algn="l"/>
            <a:r>
              <a:rPr sz="900" b="0" i="0">
                <a:solidFill>
                  <a:srgbClr val="7878A0"/>
                </a:solidFill>
                <a:latin typeface="Calibri"/>
              </a:rPr>
              <a:t>Right under one assumption, wrong under another</a:t>
            </a:r>
            <a:endParaRPr sz="900" b="0" i="0">
              <a:solidFill>
                <a:srgbClr val="7878A0"/>
              </a:solidFill>
              <a:latin typeface="Calibri"/>
            </a:endParaRPr>
          </a:p>
        </p:txBody>
      </p:sp>
      <p:sp>
        <p:nvSpPr>
          <p:cNvPr id="25" name="TextBox 24"/>
          <p:cNvSpPr txBox="1"/>
          <p:nvPr/>
        </p:nvSpPr>
        <p:spPr>
          <a:xfrm>
            <a:off x="8321040" y="3794760"/>
            <a:ext cx="3291840" cy="182880"/>
          </a:xfrm>
          <a:prstGeom prst="rect">
            <a:avLst/>
          </a:prstGeom>
          <a:noFill/>
        </p:spPr>
        <p:txBody>
          <a:bodyPr wrap="square" lIns="0" tIns="0" rIns="0" bIns="0" anchor="t">
            <a:spAutoFit/>
          </a:bodyPr>
          <a:lstStyle/>
          <a:p>
            <a:pPr algn="l"/>
            <a:r>
              <a:rPr sz="1000" b="1" i="0">
                <a:solidFill>
                  <a:srgbClr val="FFA84A"/>
                </a:solidFill>
                <a:latin typeface="Consolas"/>
              </a:rPr>
              <a:t>subjective</a:t>
            </a:r>
            <a:endParaRPr sz="1000" b="1" i="0">
              <a:solidFill>
                <a:srgbClr val="FFA84A"/>
              </a:solidFill>
              <a:latin typeface="Consolas"/>
            </a:endParaRPr>
          </a:p>
        </p:txBody>
      </p:sp>
      <p:sp>
        <p:nvSpPr>
          <p:cNvPr id="26" name="TextBox 25"/>
          <p:cNvSpPr txBox="1"/>
          <p:nvPr/>
        </p:nvSpPr>
        <p:spPr>
          <a:xfrm>
            <a:off x="8321040" y="3995928"/>
            <a:ext cx="3291840" cy="274320"/>
          </a:xfrm>
          <a:prstGeom prst="rect">
            <a:avLst/>
          </a:prstGeom>
          <a:noFill/>
        </p:spPr>
        <p:txBody>
          <a:bodyPr wrap="square" lIns="0" tIns="0" rIns="0" bIns="0" anchor="t">
            <a:spAutoFit/>
          </a:bodyPr>
          <a:lstStyle/>
          <a:p>
            <a:pPr algn="l"/>
            <a:r>
              <a:rPr sz="900" b="0" i="0">
                <a:solidFill>
                  <a:srgbClr val="7878A0"/>
                </a:solidFill>
                <a:latin typeface="Calibri"/>
              </a:rPr>
              <a:t>A claim that depends on whose review you trust</a:t>
            </a:r>
            <a:endParaRPr sz="900" b="0" i="0">
              <a:solidFill>
                <a:srgbClr val="7878A0"/>
              </a:solidFill>
              <a:latin typeface="Calibri"/>
            </a:endParaRPr>
          </a:p>
        </p:txBody>
      </p:sp>
      <p:sp>
        <p:nvSpPr>
          <p:cNvPr id="27" name="Rounded Rectangle 26"/>
          <p:cNvSpPr/>
          <p:nvPr/>
        </p:nvSpPr>
        <p:spPr>
          <a:xfrm>
            <a:off x="548640" y="4572000"/>
            <a:ext cx="11064240" cy="777240"/>
          </a:xfrm>
          <a:prstGeom prst="roundRect">
            <a:avLst>
              <a:gd name="adj" fmla="val 6000"/>
            </a:avLst>
          </a:prstGeom>
          <a:solidFill>
            <a:srgbClr val="14222C"/>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663440"/>
            <a:ext cx="10698480" cy="274320"/>
          </a:xfrm>
          <a:prstGeom prst="rect">
            <a:avLst/>
          </a:prstGeom>
          <a:noFill/>
        </p:spPr>
        <p:txBody>
          <a:bodyPr wrap="square" lIns="0" tIns="0" rIns="0" bIns="0" anchor="t">
            <a:spAutoFit/>
          </a:bodyPr>
          <a:lstStyle/>
          <a:p>
            <a:pPr algn="l"/>
            <a:r>
              <a:rPr sz="1000" b="1" i="0">
                <a:solidFill>
                  <a:srgbClr val="6C8EFF"/>
                </a:solidFill>
                <a:latin typeface="Consolas"/>
              </a:rPr>
              <a:t>F-SCORE WIRING (F2c)</a:t>
            </a:r>
            <a:endParaRPr sz="1000" b="1" i="0">
              <a:solidFill>
                <a:srgbClr val="6C8EFF"/>
              </a:solidFill>
              <a:latin typeface="Consolas"/>
            </a:endParaRPr>
          </a:p>
        </p:txBody>
      </p:sp>
      <p:sp>
        <p:nvSpPr>
          <p:cNvPr id="29" name="TextBox 28"/>
          <p:cNvSpPr txBox="1"/>
          <p:nvPr/>
        </p:nvSpPr>
        <p:spPr>
          <a:xfrm>
            <a:off x="731520" y="4937760"/>
            <a:ext cx="10698480" cy="411480"/>
          </a:xfrm>
          <a:prstGeom prst="rect">
            <a:avLst/>
          </a:prstGeom>
          <a:noFill/>
        </p:spPr>
        <p:txBody>
          <a:bodyPr wrap="square" lIns="0" tIns="0" rIns="0" bIns="0" anchor="t">
            <a:spAutoFit/>
          </a:bodyPr>
          <a:lstStyle/>
          <a:p>
            <a:pPr algn="l"/>
            <a:r>
              <a:rPr sz="1000" b="0" i="0">
                <a:solidFill>
                  <a:srgbClr val="7878A0"/>
                </a:solidFill>
                <a:latin typeface="Calibri"/>
              </a:rPr>
              <a:t>Each wrong-info venue scheduled without retrieving its truth_carrier doc → −0.05 F deduction. Penalizes models that trust the first source they find, not models that cross-reference. Once per venue per task (fixed in OVERNIGHT_LOG 2026-05-27, was double-counting).</a:t>
            </a:r>
            <a:endParaRPr sz="1000" b="0" i="0">
              <a:solidFill>
                <a:srgbClr val="7878A0"/>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08  —  P-SCORE ENGINE</a:t>
            </a:r>
            <a:endParaRPr sz="1000" b="0" i="0">
              <a:solidFill>
                <a:srgbClr val="6C8EFF"/>
              </a:solidFill>
              <a:latin typeface="Consolas"/>
            </a:endParaRPr>
          </a:p>
        </p:txBody>
      </p:sp>
      <p:sp>
        <p:nvSpPr>
          <p:cNvPr id="3" name="TextBox 2"/>
          <p:cNvSpPr txBox="1"/>
          <p:nvPr/>
        </p:nvSpPr>
        <p:spPr>
          <a:xfrm>
            <a:off x="548640" y="685800"/>
            <a:ext cx="10972800" cy="822960"/>
          </a:xfrm>
          <a:prstGeom prst="rect">
            <a:avLst/>
          </a:prstGeom>
          <a:noFill/>
        </p:spPr>
        <p:txBody>
          <a:bodyPr wrap="square" lIns="0" tIns="0" rIns="0" bIns="0" anchor="t">
            <a:spAutoFit/>
          </a:bodyPr>
          <a:lstStyle/>
          <a:p>
            <a:pPr algn="l"/>
            <a:r>
              <a:rPr sz="3000" b="0" i="0">
                <a:solidFill>
                  <a:srgbClr val="E8E8F0"/>
                </a:solidFill>
                <a:latin typeface="Georgia" panose="02040502050405090303"/>
              </a:rPr>
              <a:t>P-Score Constraint Engine</a:t>
            </a:r>
            <a:endParaRPr sz="3000" b="0" i="0">
              <a:solidFill>
                <a:srgbClr val="E8E8F0"/>
              </a:solidFill>
              <a:latin typeface="Georgia" panose="02040502050405090303"/>
            </a:endParaRPr>
          </a:p>
        </p:txBody>
      </p:sp>
      <p:sp>
        <p:nvSpPr>
          <p:cNvPr id="4" name="TextBox 3"/>
          <p:cNvSpPr txBox="1"/>
          <p:nvPr/>
        </p:nvSpPr>
        <p:spPr>
          <a:xfrm>
            <a:off x="548640" y="1280160"/>
            <a:ext cx="10972800" cy="457200"/>
          </a:xfrm>
          <a:prstGeom prst="rect">
            <a:avLst/>
          </a:prstGeom>
          <a:noFill/>
        </p:spPr>
        <p:txBody>
          <a:bodyPr wrap="square" lIns="0" tIns="0" rIns="0" bIns="0" anchor="t">
            <a:spAutoFit/>
          </a:bodyPr>
          <a:lstStyle/>
          <a:p>
            <a:pPr algn="l"/>
            <a:r>
              <a:rPr sz="1600" b="1" i="0">
                <a:solidFill>
                  <a:srgbClr val="E8E8F0"/>
                </a:solidFill>
                <a:latin typeface="Calibri"/>
              </a:rPr>
              <a:t>How natural-language preferences become measurable checks</a:t>
            </a:r>
            <a:endParaRPr sz="1600" b="1" i="0">
              <a:solidFill>
                <a:srgbClr val="E8E8F0"/>
              </a:solidFill>
              <a:latin typeface="Calibri"/>
            </a:endParaRPr>
          </a:p>
        </p:txBody>
      </p:sp>
      <p:sp>
        <p:nvSpPr>
          <p:cNvPr id="5" name="Rounded Rectangle 4"/>
          <p:cNvSpPr/>
          <p:nvPr/>
        </p:nvSpPr>
        <p:spPr>
          <a:xfrm>
            <a:off x="548640" y="1828800"/>
            <a:ext cx="11064240" cy="237744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38528"/>
            <a:ext cx="10698480" cy="274320"/>
          </a:xfrm>
          <a:prstGeom prst="rect">
            <a:avLst/>
          </a:prstGeom>
          <a:noFill/>
        </p:spPr>
        <p:txBody>
          <a:bodyPr wrap="square" lIns="0" tIns="0" rIns="0" bIns="0" anchor="t">
            <a:spAutoFit/>
          </a:bodyPr>
          <a:lstStyle/>
          <a:p>
            <a:pPr algn="l"/>
            <a:r>
              <a:rPr sz="1000" b="1" i="0">
                <a:solidFill>
                  <a:srgbClr val="6C8EFF"/>
                </a:solidFill>
                <a:latin typeface="Consolas"/>
              </a:rPr>
              <a:t>EACH P-CONSTRAINT IS A FOUR-PIECE OBJECT</a:t>
            </a:r>
            <a:endParaRPr sz="1000" b="1" i="0">
              <a:solidFill>
                <a:srgbClr val="6C8EFF"/>
              </a:solidFill>
              <a:latin typeface="Consolas"/>
            </a:endParaRPr>
          </a:p>
        </p:txBody>
      </p:sp>
      <p:sp>
        <p:nvSpPr>
          <p:cNvPr id="7" name="TextBox 6"/>
          <p:cNvSpPr txBox="1"/>
          <p:nvPr/>
        </p:nvSpPr>
        <p:spPr>
          <a:xfrm>
            <a:off x="731520" y="2194560"/>
            <a:ext cx="10698480" cy="365760"/>
          </a:xfrm>
          <a:prstGeom prst="rect">
            <a:avLst/>
          </a:prstGeom>
          <a:noFill/>
        </p:spPr>
        <p:txBody>
          <a:bodyPr wrap="square" lIns="0" tIns="0" rIns="0" bIns="0" anchor="t">
            <a:spAutoFit/>
          </a:bodyPr>
          <a:lstStyle/>
          <a:p>
            <a:pPr algn="l"/>
            <a:r>
              <a:rPr sz="1100" b="1" i="0">
                <a:solidFill>
                  <a:srgbClr val="6CFFC8"/>
                </a:solidFill>
                <a:latin typeface="Consolas"/>
              </a:rPr>
              <a:t>source_in_profile</a:t>
            </a:r>
            <a:r>
              <a:rPr sz="1100" b="0" i="0">
                <a:solidFill>
                  <a:srgbClr val="7878A0"/>
                </a:solidFill>
                <a:latin typeface="Calibri"/>
              </a:rPr>
              <a:t>  ·  exact phrase in the user's query that motivated this constraint</a:t>
            </a:r>
            <a:endParaRPr sz="1100" b="0" i="0">
              <a:solidFill>
                <a:srgbClr val="7878A0"/>
              </a:solidFill>
              <a:latin typeface="Calibri"/>
            </a:endParaRPr>
          </a:p>
        </p:txBody>
      </p:sp>
      <p:sp>
        <p:nvSpPr>
          <p:cNvPr id="8" name="TextBox 7"/>
          <p:cNvSpPr txBox="1"/>
          <p:nvPr/>
        </p:nvSpPr>
        <p:spPr>
          <a:xfrm>
            <a:off x="731520" y="2468880"/>
            <a:ext cx="10698480" cy="365760"/>
          </a:xfrm>
          <a:prstGeom prst="rect">
            <a:avLst/>
          </a:prstGeom>
          <a:noFill/>
        </p:spPr>
        <p:txBody>
          <a:bodyPr wrap="square" lIns="0" tIns="0" rIns="0" bIns="0" anchor="t">
            <a:spAutoFit/>
          </a:bodyPr>
          <a:lstStyle/>
          <a:p>
            <a:pPr algn="l"/>
            <a:r>
              <a:rPr sz="1100" b="1" i="0">
                <a:solidFill>
                  <a:srgbClr val="6CFFC8"/>
                </a:solidFill>
                <a:latin typeface="Consolas"/>
              </a:rPr>
              <a:t>scope            </a:t>
            </a:r>
            <a:r>
              <a:rPr sz="1100" b="0" i="0">
                <a:solidFill>
                  <a:srgbClr val="7878A0"/>
                </a:solidFill>
                <a:latin typeface="Calibri"/>
              </a:rPr>
              <a:t>  ·  which subset of the plan the rule applies to  </a:t>
            </a:r>
            <a:r>
              <a:rPr sz="1000" b="0" i="0">
                <a:solidFill>
                  <a:srgbClr val="7878A0"/>
                </a:solidFill>
                <a:latin typeface="Consolas"/>
              </a:rPr>
              <a:t>(all · activity_type=meal · category=museum · per_day · time_window=18:00–23:59)</a:t>
            </a:r>
            <a:endParaRPr sz="1000" b="0" i="0">
              <a:solidFill>
                <a:srgbClr val="7878A0"/>
              </a:solidFill>
              <a:latin typeface="Consolas"/>
            </a:endParaRPr>
          </a:p>
        </p:txBody>
      </p:sp>
      <p:sp>
        <p:nvSpPr>
          <p:cNvPr id="9" name="TextBox 8"/>
          <p:cNvSpPr txBox="1"/>
          <p:nvPr/>
        </p:nvSpPr>
        <p:spPr>
          <a:xfrm>
            <a:off x="731520" y="2743200"/>
            <a:ext cx="10698480" cy="365760"/>
          </a:xfrm>
          <a:prstGeom prst="rect">
            <a:avLst/>
          </a:prstGeom>
          <a:noFill/>
        </p:spPr>
        <p:txBody>
          <a:bodyPr wrap="square" lIns="0" tIns="0" rIns="0" bIns="0" anchor="t">
            <a:spAutoFit/>
          </a:bodyPr>
          <a:lstStyle/>
          <a:p>
            <a:pPr algn="l"/>
            <a:r>
              <a:rPr sz="1100" b="1" i="0">
                <a:solidFill>
                  <a:srgbClr val="6CFFC8"/>
                </a:solidFill>
                <a:latin typeface="Consolas"/>
              </a:rPr>
              <a:t>condition        </a:t>
            </a:r>
            <a:r>
              <a:rPr sz="1100" b="0" i="0">
                <a:solidFill>
                  <a:srgbClr val="7878A0"/>
                </a:solidFill>
                <a:latin typeface="Calibri"/>
              </a:rPr>
              <a:t>  ·  the predicate per element  </a:t>
            </a:r>
            <a:r>
              <a:rPr sz="1000" b="0" i="0">
                <a:solidFill>
                  <a:srgbClr val="7878A0"/>
                </a:solidFill>
                <a:latin typeface="Consolas"/>
              </a:rPr>
              <a:t>(has_tag, field op value, local_cuisine=1)</a:t>
            </a:r>
            <a:endParaRPr sz="1000" b="0" i="0">
              <a:solidFill>
                <a:srgbClr val="7878A0"/>
              </a:solidFill>
              <a:latin typeface="Consolas"/>
            </a:endParaRPr>
          </a:p>
        </p:txBody>
      </p:sp>
      <p:sp>
        <p:nvSpPr>
          <p:cNvPr id="10" name="TextBox 9"/>
          <p:cNvSpPr txBox="1"/>
          <p:nvPr/>
        </p:nvSpPr>
        <p:spPr>
          <a:xfrm>
            <a:off x="731520" y="3017520"/>
            <a:ext cx="10698480" cy="365760"/>
          </a:xfrm>
          <a:prstGeom prst="rect">
            <a:avLst/>
          </a:prstGeom>
          <a:noFill/>
        </p:spPr>
        <p:txBody>
          <a:bodyPr wrap="square" lIns="0" tIns="0" rIns="0" bIns="0" anchor="t">
            <a:spAutoFit/>
          </a:bodyPr>
          <a:lstStyle/>
          <a:p>
            <a:pPr algn="l"/>
            <a:r>
              <a:rPr sz="1100" b="1" i="0">
                <a:solidFill>
                  <a:srgbClr val="6CFFC8"/>
                </a:solidFill>
                <a:latin typeface="Consolas"/>
              </a:rPr>
              <a:t>aggregation      </a:t>
            </a:r>
            <a:r>
              <a:rPr sz="1100" b="0" i="0">
                <a:solidFill>
                  <a:srgbClr val="7878A0"/>
                </a:solidFill>
                <a:latin typeface="Calibri"/>
              </a:rPr>
              <a:t>  ·  how to reduce the predicate across scope  </a:t>
            </a:r>
            <a:endParaRPr sz="1100" b="0" i="0">
              <a:solidFill>
                <a:srgbClr val="7878A0"/>
              </a:solidFill>
              <a:latin typeface="Calibri"/>
            </a:endParaRPr>
          </a:p>
        </p:txBody>
      </p:sp>
      <p:sp>
        <p:nvSpPr>
          <p:cNvPr id="11" name="Rounded Rectangle 10"/>
          <p:cNvSpPr/>
          <p:nvPr/>
        </p:nvSpPr>
        <p:spPr>
          <a:xfrm>
            <a:off x="731520" y="3383280"/>
            <a:ext cx="10698480" cy="73152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74720"/>
            <a:ext cx="10332720" cy="548640"/>
          </a:xfrm>
          <a:prstGeom prst="rect">
            <a:avLst/>
          </a:prstGeom>
          <a:noFill/>
        </p:spPr>
        <p:txBody>
          <a:bodyPr wrap="square" lIns="0" tIns="0" rIns="0" bIns="0" anchor="t">
            <a:spAutoFit/>
          </a:bodyPr>
          <a:lstStyle/>
          <a:p>
            <a:pPr algn="l"/>
            <a:r>
              <a:rPr sz="1100" b="0" i="0">
                <a:solidFill>
                  <a:srgbClr val="7878A0"/>
                </a:solidFill>
                <a:latin typeface="Consolas"/>
              </a:rPr>
              <a:t>at_least N</a:t>
            </a:r>
            <a:r>
              <a:rPr sz="1000" b="0" i="1">
                <a:solidFill>
                  <a:srgbClr val="7878A0"/>
                </a:solidFill>
                <a:latin typeface="Calibri"/>
              </a:rPr>
              <a:t>       at most N elements satisfy</a:t>
            </a:r>
            <a:r>
              <a:rPr sz="1000" b="0" i="0">
                <a:solidFill>
                  <a:srgbClr val="E8E8F0"/>
                </a:solidFill>
                <a:latin typeface="Calibri"/>
              </a:rPr>
              <a:t>                </a:t>
            </a:r>
            <a:endParaRPr sz="1000" b="0" i="0">
              <a:solidFill>
                <a:srgbClr val="E8E8F0"/>
              </a:solidFill>
              <a:latin typeface="Calibri"/>
            </a:endParaRPr>
          </a:p>
          <a:p>
            <a:pPr algn="l"/>
            <a:r>
              <a:rPr sz="1100" b="1" i="0">
                <a:solidFill>
                  <a:srgbClr val="FFA84A"/>
                </a:solidFill>
                <a:latin typeface="Consolas"/>
              </a:rPr>
              <a:t>at_most N</a:t>
            </a:r>
            <a:r>
              <a:rPr sz="1000" b="0" i="1">
                <a:solidFill>
                  <a:srgbClr val="7878A0"/>
                </a:solidFill>
                <a:latin typeface="Calibri"/>
              </a:rPr>
              <a:t>        cap — "no more than"</a:t>
            </a:r>
            <a:r>
              <a:rPr sz="1000" b="0" i="0">
                <a:solidFill>
                  <a:srgbClr val="E8E8F0"/>
                </a:solidFill>
                <a:latin typeface="Calibri"/>
              </a:rPr>
              <a:t>    </a:t>
            </a:r>
            <a:r>
              <a:rPr sz="1100" b="1" i="0">
                <a:solidFill>
                  <a:srgbClr val="6C8EFF"/>
                </a:solidFill>
                <a:latin typeface="Consolas"/>
              </a:rPr>
              <a:t>ratio R</a:t>
            </a:r>
            <a:r>
              <a:rPr sz="1000" b="0" i="1">
                <a:solidFill>
                  <a:srgbClr val="7878A0"/>
                </a:solidFill>
                <a:latin typeface="Calibri"/>
              </a:rPr>
              <a:t>          fraction — "majority" / "spread"</a:t>
            </a:r>
            <a:endParaRPr sz="1000" b="0" i="1">
              <a:solidFill>
                <a:srgbClr val="7878A0"/>
              </a:solidFill>
              <a:latin typeface="Calibri"/>
            </a:endParaRPr>
          </a:p>
          <a:p>
            <a:pPr algn="l"/>
            <a:r>
              <a:rPr sz="1100" b="1" i="0">
                <a:solidFill>
                  <a:srgbClr val="6CFFC8"/>
                </a:solidFill>
                <a:latin typeface="Consolas"/>
              </a:rPr>
              <a:t>count_distinct N</a:t>
            </a:r>
            <a:r>
              <a:rPr sz="1000" b="0" i="1">
                <a:solidFill>
                  <a:srgbClr val="7878A0"/>
                </a:solidFill>
                <a:latin typeface="Calibri"/>
              </a:rPr>
              <a:t>    N distinct values — "variety"</a:t>
            </a:r>
            <a:r>
              <a:rPr sz="1000" b="0" i="0">
                <a:solidFill>
                  <a:srgbClr val="E8E8F0"/>
                </a:solidFill>
                <a:latin typeface="Calibri"/>
              </a:rPr>
              <a:t>   </a:t>
            </a:r>
            <a:r>
              <a:rPr sz="1100" b="1" i="0">
                <a:solidFill>
                  <a:srgbClr val="C87EFF"/>
                </a:solidFill>
                <a:latin typeface="Consolas"/>
              </a:rPr>
              <a:t>sum X op V</a:t>
            </a:r>
            <a:r>
              <a:rPr sz="1000" b="0" i="1">
                <a:solidFill>
                  <a:srgbClr val="7878A0"/>
                </a:solidFill>
                <a:latin typeface="Calibri"/>
              </a:rPr>
              <a:t>     totals — "budget ≤" / "≥ N kcal"</a:t>
            </a:r>
            <a:endParaRPr sz="1000" b="0" i="1">
              <a:solidFill>
                <a:srgbClr val="7878A0"/>
              </a:solidFill>
              <a:latin typeface="Calibri"/>
            </a:endParaRPr>
          </a:p>
        </p:txBody>
      </p:sp>
      <p:sp>
        <p:nvSpPr>
          <p:cNvPr id="13" name="Rounded Rectangle 12"/>
          <p:cNvSpPr/>
          <p:nvPr/>
        </p:nvSpPr>
        <p:spPr>
          <a:xfrm>
            <a:off x="548640" y="4434840"/>
            <a:ext cx="11064240" cy="219456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526280"/>
            <a:ext cx="10698480" cy="274320"/>
          </a:xfrm>
          <a:prstGeom prst="rect">
            <a:avLst/>
          </a:prstGeom>
          <a:noFill/>
        </p:spPr>
        <p:txBody>
          <a:bodyPr wrap="square" lIns="0" tIns="0" rIns="0" bIns="0" anchor="t">
            <a:spAutoFit/>
          </a:bodyPr>
          <a:lstStyle/>
          <a:p>
            <a:pPr algn="l"/>
            <a:r>
              <a:rPr sz="1000" b="1" i="0">
                <a:solidFill>
                  <a:srgbClr val="6CFFC8"/>
                </a:solidFill>
                <a:latin typeface="Consolas"/>
              </a:rPr>
              <a:t>WORKED EXAMPLE  —  lon_type5_booking_westminster  ·  one task, three different primitives</a:t>
            </a:r>
            <a:endParaRPr sz="1000" b="1" i="0">
              <a:solidFill>
                <a:srgbClr val="6CFFC8"/>
              </a:solidFill>
              <a:latin typeface="Consolas"/>
            </a:endParaRPr>
          </a:p>
        </p:txBody>
      </p:sp>
      <p:sp>
        <p:nvSpPr>
          <p:cNvPr id="15" name="Rounded Rectangle 14"/>
          <p:cNvSpPr/>
          <p:nvPr/>
        </p:nvSpPr>
        <p:spPr>
          <a:xfrm>
            <a:off x="731520" y="4818888"/>
            <a:ext cx="10698480" cy="41148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73752"/>
            <a:ext cx="10424160" cy="365760"/>
          </a:xfrm>
          <a:prstGeom prst="rect">
            <a:avLst/>
          </a:prstGeom>
          <a:noFill/>
        </p:spPr>
        <p:txBody>
          <a:bodyPr wrap="square" lIns="0" tIns="0" rIns="0" bIns="0" anchor="t">
            <a:spAutoFit/>
          </a:bodyPr>
          <a:lstStyle/>
          <a:p>
            <a:pPr algn="l"/>
            <a:r>
              <a:rPr sz="1100" b="0" i="1">
                <a:solidFill>
                  <a:srgbClr val="E8E8F0"/>
                </a:solidFill>
                <a:latin typeface="Calibri"/>
              </a:rPr>
              <a:t>“1-day Westminster itinerary. Every place must require advance reservation. At least one restaurant should not be too intense so we can catch our breath.”</a:t>
            </a:r>
            <a:endParaRPr sz="1100" b="0" i="1">
              <a:solidFill>
                <a:srgbClr val="E8E8F0"/>
              </a:solidFill>
              <a:latin typeface="Calibri"/>
            </a:endParaRPr>
          </a:p>
        </p:txBody>
      </p:sp>
      <p:sp>
        <p:nvSpPr>
          <p:cNvPr id="17" name="TextBox 16"/>
          <p:cNvSpPr txBox="1"/>
          <p:nvPr/>
        </p:nvSpPr>
        <p:spPr>
          <a:xfrm>
            <a:off x="731520" y="5321808"/>
            <a:ext cx="4114800" cy="201168"/>
          </a:xfrm>
          <a:prstGeom prst="rect">
            <a:avLst/>
          </a:prstGeom>
          <a:noFill/>
        </p:spPr>
        <p:txBody>
          <a:bodyPr wrap="square" lIns="0" tIns="0" rIns="0" bIns="0" anchor="t">
            <a:spAutoFit/>
          </a:bodyPr>
          <a:lstStyle/>
          <a:p>
            <a:pPr algn="l"/>
            <a:r>
              <a:rPr sz="1000" b="1" i="1">
                <a:solidFill>
                  <a:srgbClr val="6C8EFF"/>
                </a:solidFill>
                <a:latin typeface="Calibri"/>
              </a:rPr>
              <a:t>·  "requires an advance reservation"</a:t>
            </a:r>
            <a:endParaRPr sz="1000" b="1" i="1">
              <a:solidFill>
                <a:srgbClr val="6C8EFF"/>
              </a:solidFill>
              <a:latin typeface="Calibri"/>
            </a:endParaRPr>
          </a:p>
        </p:txBody>
      </p:sp>
      <p:sp>
        <p:nvSpPr>
          <p:cNvPr id="18" name="TextBox 17"/>
          <p:cNvSpPr txBox="1"/>
          <p:nvPr/>
        </p:nvSpPr>
        <p:spPr>
          <a:xfrm>
            <a:off x="731520" y="5504688"/>
            <a:ext cx="10698480" cy="201168"/>
          </a:xfrm>
          <a:prstGeom prst="rect">
            <a:avLst/>
          </a:prstGeom>
          <a:noFill/>
        </p:spPr>
        <p:txBody>
          <a:bodyPr wrap="square" lIns="0" tIns="0" rIns="0" bIns="0" anchor="t">
            <a:spAutoFit/>
          </a:bodyPr>
          <a:lstStyle/>
          <a:p>
            <a:pPr algn="l"/>
            <a:r>
              <a:rPr sz="950" b="0" i="0">
                <a:solidFill>
                  <a:srgbClr val="7878A0"/>
                </a:solidFill>
                <a:latin typeface="Consolas"/>
              </a:rPr>
              <a:t>scope: all  ·  condition: { field: reservation_required, op: ==, value: true }  ·  agg: all</a:t>
            </a:r>
            <a:endParaRPr sz="950" b="0" i="0">
              <a:solidFill>
                <a:srgbClr val="7878A0"/>
              </a:solidFill>
              <a:latin typeface="Consolas"/>
            </a:endParaRPr>
          </a:p>
        </p:txBody>
      </p:sp>
      <p:sp>
        <p:nvSpPr>
          <p:cNvPr id="19" name="TextBox 18"/>
          <p:cNvSpPr txBox="1"/>
          <p:nvPr/>
        </p:nvSpPr>
        <p:spPr>
          <a:xfrm>
            <a:off x="731520" y="5733288"/>
            <a:ext cx="4114800" cy="201168"/>
          </a:xfrm>
          <a:prstGeom prst="rect">
            <a:avLst/>
          </a:prstGeom>
          <a:noFill/>
        </p:spPr>
        <p:txBody>
          <a:bodyPr wrap="square" lIns="0" tIns="0" rIns="0" bIns="0" anchor="t">
            <a:spAutoFit/>
          </a:bodyPr>
          <a:lstStyle/>
          <a:p>
            <a:pPr algn="l"/>
            <a:r>
              <a:rPr sz="1000" b="1" i="1">
                <a:solidFill>
                  <a:srgbClr val="6CFFC8"/>
                </a:solidFill>
                <a:latin typeface="Calibri"/>
              </a:rPr>
              <a:t>·  "only want to visit places in Westminster"</a:t>
            </a:r>
            <a:endParaRPr sz="1000" b="1" i="1">
              <a:solidFill>
                <a:srgbClr val="6CFFC8"/>
              </a:solidFill>
              <a:latin typeface="Calibri"/>
            </a:endParaRPr>
          </a:p>
        </p:txBody>
      </p:sp>
      <p:sp>
        <p:nvSpPr>
          <p:cNvPr id="20" name="TextBox 19"/>
          <p:cNvSpPr txBox="1"/>
          <p:nvPr/>
        </p:nvSpPr>
        <p:spPr>
          <a:xfrm>
            <a:off x="731520" y="5916168"/>
            <a:ext cx="10698480" cy="201168"/>
          </a:xfrm>
          <a:prstGeom prst="rect">
            <a:avLst/>
          </a:prstGeom>
          <a:noFill/>
        </p:spPr>
        <p:txBody>
          <a:bodyPr wrap="square" lIns="0" tIns="0" rIns="0" bIns="0" anchor="t">
            <a:spAutoFit/>
          </a:bodyPr>
          <a:lstStyle/>
          <a:p>
            <a:pPr algn="l"/>
            <a:r>
              <a:rPr sz="950" b="0" i="0">
                <a:solidFill>
                  <a:srgbClr val="7878A0"/>
                </a:solidFill>
                <a:latin typeface="Consolas"/>
              </a:rPr>
              <a:t>scope: all  ·  condition: { field: district, op: ==, value: "Westminster" }  ·  agg: all</a:t>
            </a:r>
            <a:endParaRPr sz="950" b="0" i="0">
              <a:solidFill>
                <a:srgbClr val="7878A0"/>
              </a:solidFill>
              <a:latin typeface="Consolas"/>
            </a:endParaRPr>
          </a:p>
        </p:txBody>
      </p:sp>
      <p:sp>
        <p:nvSpPr>
          <p:cNvPr id="21" name="TextBox 20"/>
          <p:cNvSpPr txBox="1"/>
          <p:nvPr/>
        </p:nvSpPr>
        <p:spPr>
          <a:xfrm>
            <a:off x="731520" y="6144768"/>
            <a:ext cx="4114800" cy="201168"/>
          </a:xfrm>
          <a:prstGeom prst="rect">
            <a:avLst/>
          </a:prstGeom>
          <a:noFill/>
        </p:spPr>
        <p:txBody>
          <a:bodyPr wrap="square" lIns="0" tIns="0" rIns="0" bIns="0" anchor="t">
            <a:spAutoFit/>
          </a:bodyPr>
          <a:lstStyle/>
          <a:p>
            <a:pPr algn="l"/>
            <a:r>
              <a:rPr sz="1000" b="1" i="1">
                <a:solidFill>
                  <a:srgbClr val="FFA84A"/>
                </a:solidFill>
                <a:latin typeface="Calibri"/>
              </a:rPr>
              <a:t>·  "catch our breath"  →  hop-2 inference</a:t>
            </a:r>
            <a:endParaRPr sz="1000" b="1" i="1">
              <a:solidFill>
                <a:srgbClr val="FFA84A"/>
              </a:solidFill>
              <a:latin typeface="Calibri"/>
            </a:endParaRPr>
          </a:p>
        </p:txBody>
      </p:sp>
      <p:sp>
        <p:nvSpPr>
          <p:cNvPr id="22" name="TextBox 21"/>
          <p:cNvSpPr txBox="1"/>
          <p:nvPr/>
        </p:nvSpPr>
        <p:spPr>
          <a:xfrm>
            <a:off x="731520" y="6327648"/>
            <a:ext cx="10698480" cy="201168"/>
          </a:xfrm>
          <a:prstGeom prst="rect">
            <a:avLst/>
          </a:prstGeom>
          <a:noFill/>
        </p:spPr>
        <p:txBody>
          <a:bodyPr wrap="square" lIns="0" tIns="0" rIns="0" bIns="0" anchor="t">
            <a:spAutoFit/>
          </a:bodyPr>
          <a:lstStyle/>
          <a:p>
            <a:pPr algn="l"/>
            <a:r>
              <a:rPr sz="950" b="0" i="0">
                <a:solidFill>
                  <a:srgbClr val="7878A0"/>
                </a:solidFill>
                <a:latin typeface="Consolas"/>
              </a:rPr>
              <a:t>scope: category=restaurant  ·  condition: { field: recommended_pace, op: &lt;=, value: "moderate" }  ·  agg: at_least 1</a:t>
            </a:r>
            <a:endParaRPr sz="950" b="0" i="0">
              <a:solidFill>
                <a:srgbClr val="7878A0"/>
              </a:solidFill>
              <a:latin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09  —  TASK GENERATION</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Six Structural Types  ·  Current Best NYC Examples</a:t>
            </a:r>
            <a:endParaRPr sz="2400" b="0" i="0">
              <a:solidFill>
                <a:srgbClr val="E8E8F0"/>
              </a:solidFill>
              <a:latin typeface="Georgia" panose="02040502050405090303"/>
            </a:endParaRPr>
          </a:p>
        </p:txBody>
      </p:sp>
      <p:sp>
        <p:nvSpPr>
          <p:cNvPr id="4" name="TextBox 3"/>
          <p:cNvSpPr txBox="1"/>
          <p:nvPr/>
        </p:nvSpPr>
        <p:spPr>
          <a:xfrm>
            <a:off x="548640" y="1097280"/>
            <a:ext cx="10972800" cy="457200"/>
          </a:xfrm>
          <a:prstGeom prst="rect">
            <a:avLst/>
          </a:prstGeom>
          <a:noFill/>
        </p:spPr>
        <p:txBody>
          <a:bodyPr wrap="square" lIns="0" tIns="0" rIns="0" bIns="0" anchor="t">
            <a:spAutoFit/>
          </a:bodyPr>
          <a:lstStyle/>
          <a:p>
            <a:pPr algn="l"/>
            <a:r>
              <a:rPr sz="1600" b="1" i="0">
                <a:solidFill>
                  <a:srgbClr val="E8E8F0"/>
                </a:solidFill>
                <a:latin typeface="Calibri"/>
              </a:rPr>
              <a:t>Each card: real query  →  P-constraints  →  measured score</a:t>
            </a:r>
            <a:endParaRPr sz="1600" b="1" i="0">
              <a:solidFill>
                <a:srgbClr val="E8E8F0"/>
              </a:solidFill>
              <a:latin typeface="Calibri"/>
            </a:endParaRPr>
          </a:p>
        </p:txBody>
      </p:sp>
      <p:sp>
        <p:nvSpPr>
          <p:cNvPr id="5" name="Rounded Rectangle 4"/>
          <p:cNvSpPr/>
          <p:nvPr/>
        </p:nvSpPr>
        <p:spPr>
          <a:xfrm>
            <a:off x="548640" y="1600200"/>
            <a:ext cx="3657600" cy="246888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91640"/>
            <a:ext cx="3328416" cy="256032"/>
          </a:xfrm>
          <a:prstGeom prst="rect">
            <a:avLst/>
          </a:prstGeom>
          <a:noFill/>
        </p:spPr>
        <p:txBody>
          <a:bodyPr wrap="square" lIns="0" tIns="0" rIns="0" bIns="0" anchor="t">
            <a:spAutoFit/>
          </a:bodyPr>
          <a:lstStyle/>
          <a:p>
            <a:pPr algn="l"/>
            <a:r>
              <a:rPr sz="900" b="1" i="0">
                <a:solidFill>
                  <a:srgbClr val="6C8EFF"/>
                </a:solidFill>
                <a:latin typeface="Consolas"/>
              </a:rPr>
              <a:t>TYPE 1  </a:t>
            </a:r>
            <a:r>
              <a:rPr sz="1100" b="1" i="0">
                <a:solidFill>
                  <a:srgbClr val="E8E8F0"/>
                </a:solidFill>
                <a:latin typeface="Calibri"/>
              </a:rPr>
              <a:t>Cascading Requirements</a:t>
            </a:r>
            <a:endParaRPr sz="1100" b="1" i="0">
              <a:solidFill>
                <a:srgbClr val="E8E8F0"/>
              </a:solidFill>
              <a:latin typeface="Calibri"/>
            </a:endParaRPr>
          </a:p>
        </p:txBody>
      </p:sp>
      <p:sp>
        <p:nvSpPr>
          <p:cNvPr id="7" name="TextBox 6"/>
          <p:cNvSpPr txBox="1"/>
          <p:nvPr/>
        </p:nvSpPr>
        <p:spPr>
          <a:xfrm>
            <a:off x="713232" y="1920240"/>
            <a:ext cx="3328416" cy="201168"/>
          </a:xfrm>
          <a:prstGeom prst="rect">
            <a:avLst/>
          </a:prstGeom>
          <a:noFill/>
        </p:spPr>
        <p:txBody>
          <a:bodyPr wrap="square" lIns="0" tIns="0" rIns="0" bIns="0" anchor="t">
            <a:spAutoFit/>
          </a:bodyPr>
          <a:lstStyle/>
          <a:p>
            <a:pPr algn="l"/>
            <a:r>
              <a:rPr sz="850" b="0" i="0">
                <a:solidFill>
                  <a:srgbClr val="7878A0"/>
                </a:solidFill>
                <a:latin typeface="Consolas"/>
              </a:rPr>
              <a:t>lon_type1_carnival_anniversary_001  ·  persona-rich   ·   5 PCs · persona pulls cascade into wheelchair + British + upscale + museum + district exclusion</a:t>
            </a:r>
            <a:endParaRPr sz="850" b="0" i="0">
              <a:solidFill>
                <a:srgbClr val="7878A0"/>
              </a:solidFill>
              <a:latin typeface="Consolas"/>
            </a:endParaRPr>
          </a:p>
        </p:txBody>
      </p:sp>
      <p:sp>
        <p:nvSpPr>
          <p:cNvPr id="8" name="Rounded Rectangle 7"/>
          <p:cNvSpPr/>
          <p:nvPr/>
        </p:nvSpPr>
        <p:spPr>
          <a:xfrm>
            <a:off x="713232" y="2194560"/>
            <a:ext cx="3328416" cy="91440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240280"/>
            <a:ext cx="3145536" cy="822960"/>
          </a:xfrm>
          <a:prstGeom prst="rect">
            <a:avLst/>
          </a:prstGeom>
          <a:noFill/>
        </p:spPr>
        <p:txBody>
          <a:bodyPr wrap="square" lIns="0" tIns="0" rIns="0" bIns="0" anchor="t">
            <a:spAutoFit/>
          </a:bodyPr>
          <a:lstStyle/>
          <a:p>
            <a:pPr algn="l"/>
            <a:r>
              <a:rPr sz="850" b="0" i="1">
                <a:solidFill>
                  <a:srgbClr val="E8E8F0"/>
                </a:solidFill>
                <a:latin typeface="Calibri"/>
              </a:rPr>
              <a:t>“Plan a 2-day romantic London weekend for Sarah, a food writer, and her husband celebrating their 2-year anniversary. Sarah uses a mobility aid. They want authentic British cuisine away from tourist traps, avoid Greenwich/Lewisham, special upscale dinners. Sarah is also a museum-loving culture enthusiast. Visiting during Carnival weekend but want to avoid the main event chaos.”</a:t>
            </a:r>
            <a:endParaRPr sz="850" b="0" i="1">
              <a:solidFill>
                <a:srgbClr val="E8E8F0"/>
              </a:solidFill>
              <a:latin typeface="Calibri"/>
            </a:endParaRPr>
          </a:p>
        </p:txBody>
      </p:sp>
      <p:sp>
        <p:nvSpPr>
          <p:cNvPr id="10" name="TextBox 9"/>
          <p:cNvSpPr txBox="1"/>
          <p:nvPr/>
        </p:nvSpPr>
        <p:spPr>
          <a:xfrm>
            <a:off x="713232" y="3172968"/>
            <a:ext cx="3328416" cy="164592"/>
          </a:xfrm>
          <a:prstGeom prst="rect">
            <a:avLst/>
          </a:prstGeom>
          <a:noFill/>
        </p:spPr>
        <p:txBody>
          <a:bodyPr wrap="square" lIns="0" tIns="0" rIns="0" bIns="0" anchor="t">
            <a:spAutoFit/>
          </a:bodyPr>
          <a:lstStyle/>
          <a:p>
            <a:pPr algn="l"/>
            <a:r>
              <a:rPr sz="800" b="0" i="0">
                <a:solidFill>
                  <a:srgbClr val="6C8EFF"/>
                </a:solidFill>
                <a:latin typeface="Consolas"/>
              </a:rPr>
              <a:t>·  [hop-2]  all: wheelchair_accessible = true</a:t>
            </a:r>
            <a:endParaRPr sz="800" b="0" i="0">
              <a:solidFill>
                <a:srgbClr val="6C8EFF"/>
              </a:solidFill>
              <a:latin typeface="Consolas"/>
            </a:endParaRPr>
          </a:p>
        </p:txBody>
      </p:sp>
      <p:sp>
        <p:nvSpPr>
          <p:cNvPr id="11" name="TextBox 10"/>
          <p:cNvSpPr txBox="1"/>
          <p:nvPr/>
        </p:nvSpPr>
        <p:spPr>
          <a:xfrm>
            <a:off x="713232" y="3346704"/>
            <a:ext cx="3328416" cy="164592"/>
          </a:xfrm>
          <a:prstGeom prst="rect">
            <a:avLst/>
          </a:prstGeom>
          <a:noFill/>
        </p:spPr>
        <p:txBody>
          <a:bodyPr wrap="square" lIns="0" tIns="0" rIns="0" bIns="0" anchor="t">
            <a:spAutoFit/>
          </a:bodyPr>
          <a:lstStyle/>
          <a:p>
            <a:pPr algn="l"/>
            <a:r>
              <a:rPr sz="800" b="0" i="0">
                <a:solidFill>
                  <a:srgbClr val="6C8EFF"/>
                </a:solidFill>
                <a:latin typeface="Consolas"/>
              </a:rPr>
              <a:t>·  [hop-2]  all: meals tagged british</a:t>
            </a:r>
            <a:endParaRPr sz="800" b="0" i="0">
              <a:solidFill>
                <a:srgbClr val="6C8EFF"/>
              </a:solidFill>
              <a:latin typeface="Consolas"/>
            </a:endParaRPr>
          </a:p>
        </p:txBody>
      </p:sp>
      <p:sp>
        <p:nvSpPr>
          <p:cNvPr id="12" name="TextBox 11"/>
          <p:cNvSpPr txBox="1"/>
          <p:nvPr/>
        </p:nvSpPr>
        <p:spPr>
          <a:xfrm>
            <a:off x="713232" y="3520440"/>
            <a:ext cx="3328416" cy="164592"/>
          </a:xfrm>
          <a:prstGeom prst="rect">
            <a:avLst/>
          </a:prstGeom>
          <a:noFill/>
        </p:spPr>
        <p:txBody>
          <a:bodyPr wrap="square" lIns="0" tIns="0" rIns="0" bIns="0" anchor="t">
            <a:spAutoFit/>
          </a:bodyPr>
          <a:lstStyle/>
          <a:p>
            <a:pPr algn="l"/>
            <a:r>
              <a:rPr sz="800" b="0" i="0">
                <a:solidFill>
                  <a:srgbClr val="6C8EFF"/>
                </a:solidFill>
                <a:latin typeface="Consolas"/>
              </a:rPr>
              <a:t>·  [hop-2]  all: evening meals (18:00–23:59) at price ≥ upscale</a:t>
            </a:r>
            <a:endParaRPr sz="800" b="0" i="0">
              <a:solidFill>
                <a:srgbClr val="6C8EFF"/>
              </a:solidFill>
              <a:latin typeface="Consolas"/>
            </a:endParaRPr>
          </a:p>
        </p:txBody>
      </p:sp>
      <p:sp>
        <p:nvSpPr>
          <p:cNvPr id="13" name="TextBox 12"/>
          <p:cNvSpPr txBox="1"/>
          <p:nvPr/>
        </p:nvSpPr>
        <p:spPr>
          <a:xfrm>
            <a:off x="713232" y="3694176"/>
            <a:ext cx="3328416" cy="164592"/>
          </a:xfrm>
          <a:prstGeom prst="rect">
            <a:avLst/>
          </a:prstGeom>
          <a:noFill/>
        </p:spPr>
        <p:txBody>
          <a:bodyPr wrap="square" lIns="0" tIns="0" rIns="0" bIns="0" anchor="t">
            <a:spAutoFit/>
          </a:bodyPr>
          <a:lstStyle/>
          <a:p>
            <a:pPr algn="l"/>
            <a:r>
              <a:rPr sz="800" b="0" i="0">
                <a:solidFill>
                  <a:srgbClr val="6C8EFF"/>
                </a:solidFill>
                <a:latin typeface="Consolas"/>
              </a:rPr>
              <a:t>·  [hop-1]  at_least: 1 museum</a:t>
            </a:r>
            <a:endParaRPr sz="800" b="0" i="0">
              <a:solidFill>
                <a:srgbClr val="6C8EFF"/>
              </a:solidFill>
              <a:latin typeface="Consolas"/>
            </a:endParaRPr>
          </a:p>
        </p:txBody>
      </p:sp>
      <p:sp>
        <p:nvSpPr>
          <p:cNvPr id="14" name="TextBox 13"/>
          <p:cNvSpPr txBox="1"/>
          <p:nvPr/>
        </p:nvSpPr>
        <p:spPr>
          <a:xfrm>
            <a:off x="713232" y="3867912"/>
            <a:ext cx="3328416" cy="164592"/>
          </a:xfrm>
          <a:prstGeom prst="rect">
            <a:avLst/>
          </a:prstGeom>
          <a:noFill/>
        </p:spPr>
        <p:txBody>
          <a:bodyPr wrap="square" lIns="0" tIns="0" rIns="0" bIns="0" anchor="t">
            <a:spAutoFit/>
          </a:bodyPr>
          <a:lstStyle/>
          <a:p>
            <a:pPr algn="l"/>
            <a:r>
              <a:rPr sz="800" b="0" i="0">
                <a:solidFill>
                  <a:srgbClr val="6C8EFF"/>
                </a:solidFill>
                <a:latin typeface="Consolas"/>
              </a:rPr>
              <a:t>·  [hop-2]  none: district in any[Greenwich, Lewisham]</a:t>
            </a:r>
            <a:endParaRPr sz="800" b="0" i="0">
              <a:solidFill>
                <a:srgbClr val="6C8EFF"/>
              </a:solidFill>
              <a:latin typeface="Consolas"/>
            </a:endParaRPr>
          </a:p>
        </p:txBody>
      </p:sp>
      <p:sp>
        <p:nvSpPr>
          <p:cNvPr id="15" name="Rounded Rectangle 14"/>
          <p:cNvSpPr/>
          <p:nvPr/>
        </p:nvSpPr>
        <p:spPr>
          <a:xfrm>
            <a:off x="4343400" y="1600200"/>
            <a:ext cx="3657600" cy="246888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1691640"/>
            <a:ext cx="3328416" cy="256032"/>
          </a:xfrm>
          <a:prstGeom prst="rect">
            <a:avLst/>
          </a:prstGeom>
          <a:noFill/>
        </p:spPr>
        <p:txBody>
          <a:bodyPr wrap="square" lIns="0" tIns="0" rIns="0" bIns="0" anchor="t">
            <a:spAutoFit/>
          </a:bodyPr>
          <a:lstStyle/>
          <a:p>
            <a:pPr algn="l"/>
            <a:r>
              <a:rPr sz="900" b="1" i="0">
                <a:solidFill>
                  <a:srgbClr val="6CFFC8"/>
                </a:solidFill>
                <a:latin typeface="Consolas"/>
              </a:rPr>
              <a:t>TYPE 2  </a:t>
            </a:r>
            <a:r>
              <a:rPr sz="1100" b="1" i="0">
                <a:solidFill>
                  <a:srgbClr val="E8E8F0"/>
                </a:solidFill>
                <a:latin typeface="Calibri"/>
              </a:rPr>
              <a:t>Subset Selection Under Ceiling</a:t>
            </a:r>
            <a:endParaRPr sz="1100" b="1" i="0">
              <a:solidFill>
                <a:srgbClr val="E8E8F0"/>
              </a:solidFill>
              <a:latin typeface="Calibri"/>
            </a:endParaRPr>
          </a:p>
        </p:txBody>
      </p:sp>
      <p:sp>
        <p:nvSpPr>
          <p:cNvPr id="17" name="TextBox 16"/>
          <p:cNvSpPr txBox="1"/>
          <p:nvPr/>
        </p:nvSpPr>
        <p:spPr>
          <a:xfrm>
            <a:off x="4507992" y="1920240"/>
            <a:ext cx="3328416" cy="201168"/>
          </a:xfrm>
          <a:prstGeom prst="rect">
            <a:avLst/>
          </a:prstGeom>
          <a:noFill/>
        </p:spPr>
        <p:txBody>
          <a:bodyPr wrap="square" lIns="0" tIns="0" rIns="0" bIns="0" anchor="t">
            <a:spAutoFit/>
          </a:bodyPr>
          <a:lstStyle/>
          <a:p>
            <a:pPr algn="l"/>
            <a:r>
              <a:rPr sz="850" b="0" i="0">
                <a:solidFill>
                  <a:srgbClr val="7878A0"/>
                </a:solidFill>
                <a:latin typeface="Consolas"/>
              </a:rPr>
              <a:t>lon_type2_late_spring_art_quiet_270  ·  gold-std   ·   Clean partial-day (270 min) with noise tier comparison</a:t>
            </a:r>
            <a:endParaRPr sz="850" b="0" i="0">
              <a:solidFill>
                <a:srgbClr val="7878A0"/>
              </a:solidFill>
              <a:latin typeface="Consolas"/>
            </a:endParaRPr>
          </a:p>
        </p:txBody>
      </p:sp>
      <p:sp>
        <p:nvSpPr>
          <p:cNvPr id="18" name="Rounded Rectangle 17"/>
          <p:cNvSpPr/>
          <p:nvPr/>
        </p:nvSpPr>
        <p:spPr>
          <a:xfrm>
            <a:off x="4507992" y="2194560"/>
            <a:ext cx="3328416" cy="91440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2" y="2240280"/>
            <a:ext cx="3145536" cy="522605"/>
          </a:xfrm>
          <a:prstGeom prst="rect">
            <a:avLst/>
          </a:prstGeom>
          <a:noFill/>
        </p:spPr>
        <p:txBody>
          <a:bodyPr wrap="square" lIns="0" tIns="0" rIns="0" bIns="0" anchor="t">
            <a:spAutoFit/>
          </a:bodyPr>
          <a:lstStyle/>
          <a:p>
            <a:pPr algn="l"/>
            <a:r>
              <a:rPr sz="850" b="0" i="1">
                <a:solidFill>
                  <a:srgbClr val="E8E8F0"/>
                </a:solidFill>
                <a:latin typeface="Calibri"/>
              </a:rPr>
              <a:t>“Only 4.5 hours in London. Want a compact art-focused day with coffee. P</a:t>
            </a:r>
            <a:r>
              <a:rPr lang="en-US" sz="850" b="0" i="1">
                <a:solidFill>
                  <a:srgbClr val="E8E8F0"/>
                </a:solidFill>
                <a:latin typeface="Calibri"/>
              </a:rPr>
              <a:t>lan a schedule</a:t>
            </a:r>
            <a:r>
              <a:rPr sz="850" b="0" i="1">
                <a:solidFill>
                  <a:srgbClr val="E8E8F0"/>
                </a:solidFill>
                <a:latin typeface="Calibri"/>
              </a:rPr>
              <a:t> that fits within 270 minutes total, keeps meal stops no louder than moderate, and includes at least 3 art venues.”</a:t>
            </a:r>
            <a:endParaRPr sz="850" b="0" i="1">
              <a:solidFill>
                <a:srgbClr val="E8E8F0"/>
              </a:solidFill>
              <a:latin typeface="Calibri"/>
            </a:endParaRPr>
          </a:p>
        </p:txBody>
      </p:sp>
      <p:sp>
        <p:nvSpPr>
          <p:cNvPr id="20" name="TextBox 19"/>
          <p:cNvSpPr txBox="1"/>
          <p:nvPr/>
        </p:nvSpPr>
        <p:spPr>
          <a:xfrm>
            <a:off x="4507992" y="3172968"/>
            <a:ext cx="3328416" cy="164592"/>
          </a:xfrm>
          <a:prstGeom prst="rect">
            <a:avLst/>
          </a:prstGeom>
          <a:noFill/>
        </p:spPr>
        <p:txBody>
          <a:bodyPr wrap="square" lIns="0" tIns="0" rIns="0" bIns="0" anchor="t">
            <a:spAutoFit/>
          </a:bodyPr>
          <a:lstStyle/>
          <a:p>
            <a:pPr algn="l"/>
            <a:r>
              <a:rPr sz="800" b="0" i="0">
                <a:solidFill>
                  <a:srgbClr val="6CFFC8"/>
                </a:solidFill>
                <a:latin typeface="Consolas"/>
              </a:rPr>
              <a:t>·  [hop-1]  at_least: 3 visits with art tag</a:t>
            </a:r>
            <a:endParaRPr sz="800" b="0" i="0">
              <a:solidFill>
                <a:srgbClr val="6CFFC8"/>
              </a:solidFill>
              <a:latin typeface="Consolas"/>
            </a:endParaRPr>
          </a:p>
        </p:txBody>
      </p:sp>
      <p:sp>
        <p:nvSpPr>
          <p:cNvPr id="21" name="TextBox 20"/>
          <p:cNvSpPr txBox="1"/>
          <p:nvPr/>
        </p:nvSpPr>
        <p:spPr>
          <a:xfrm>
            <a:off x="4507992" y="3346704"/>
            <a:ext cx="3328416" cy="164592"/>
          </a:xfrm>
          <a:prstGeom prst="rect">
            <a:avLst/>
          </a:prstGeom>
          <a:noFill/>
        </p:spPr>
        <p:txBody>
          <a:bodyPr wrap="square" lIns="0" tIns="0" rIns="0" bIns="0" anchor="t">
            <a:spAutoFit/>
          </a:bodyPr>
          <a:lstStyle/>
          <a:p>
            <a:pPr algn="l"/>
            <a:r>
              <a:rPr sz="800" b="0" i="0">
                <a:solidFill>
                  <a:srgbClr val="6CFFC8"/>
                </a:solidFill>
                <a:latin typeface="Consolas"/>
              </a:rPr>
              <a:t>·  [hop-1]  at_least: 1 coffee meal</a:t>
            </a:r>
            <a:endParaRPr sz="800" b="0" i="0">
              <a:solidFill>
                <a:srgbClr val="6CFFC8"/>
              </a:solidFill>
              <a:latin typeface="Consolas"/>
            </a:endParaRPr>
          </a:p>
        </p:txBody>
      </p:sp>
      <p:sp>
        <p:nvSpPr>
          <p:cNvPr id="22" name="TextBox 21"/>
          <p:cNvSpPr txBox="1"/>
          <p:nvPr/>
        </p:nvSpPr>
        <p:spPr>
          <a:xfrm>
            <a:off x="4507992" y="3520440"/>
            <a:ext cx="3328416" cy="164592"/>
          </a:xfrm>
          <a:prstGeom prst="rect">
            <a:avLst/>
          </a:prstGeom>
          <a:noFill/>
        </p:spPr>
        <p:txBody>
          <a:bodyPr wrap="square" lIns="0" tIns="0" rIns="0" bIns="0" anchor="t">
            <a:spAutoFit/>
          </a:bodyPr>
          <a:lstStyle/>
          <a:p>
            <a:pPr algn="l"/>
            <a:r>
              <a:rPr sz="800" b="0" i="0">
                <a:solidFill>
                  <a:srgbClr val="6CFFC8"/>
                </a:solidFill>
                <a:latin typeface="Consolas"/>
              </a:rPr>
              <a:t>·  [hop-2]  all: meals with noise_level ≤ moderate</a:t>
            </a:r>
            <a:endParaRPr sz="800" b="0" i="0">
              <a:solidFill>
                <a:srgbClr val="6CFFC8"/>
              </a:solidFill>
              <a:latin typeface="Consolas"/>
            </a:endParaRPr>
          </a:p>
        </p:txBody>
      </p:sp>
      <p:sp>
        <p:nvSpPr>
          <p:cNvPr id="23" name="Rounded Rectangle 22"/>
          <p:cNvSpPr/>
          <p:nvPr/>
        </p:nvSpPr>
        <p:spPr>
          <a:xfrm>
            <a:off x="8138160" y="1600200"/>
            <a:ext cx="3657600" cy="246888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2752" y="1691640"/>
            <a:ext cx="3328416" cy="256032"/>
          </a:xfrm>
          <a:prstGeom prst="rect">
            <a:avLst/>
          </a:prstGeom>
          <a:noFill/>
        </p:spPr>
        <p:txBody>
          <a:bodyPr wrap="square" lIns="0" tIns="0" rIns="0" bIns="0" anchor="t">
            <a:spAutoFit/>
          </a:bodyPr>
          <a:lstStyle/>
          <a:p>
            <a:pPr algn="l"/>
            <a:r>
              <a:rPr sz="900" b="1" i="0">
                <a:solidFill>
                  <a:srgbClr val="6C8EFF"/>
                </a:solidFill>
                <a:latin typeface="Consolas"/>
              </a:rPr>
              <a:t>TYPE 3  </a:t>
            </a:r>
            <a:r>
              <a:rPr sz="1100" b="1" i="0">
                <a:solidFill>
                  <a:srgbClr val="E8E8F0"/>
                </a:solidFill>
                <a:latin typeface="Calibri"/>
              </a:rPr>
              <a:t>Competing Requirements</a:t>
            </a:r>
            <a:endParaRPr sz="1100" b="1" i="0">
              <a:solidFill>
                <a:srgbClr val="E8E8F0"/>
              </a:solidFill>
              <a:latin typeface="Calibri"/>
            </a:endParaRPr>
          </a:p>
        </p:txBody>
      </p:sp>
      <p:sp>
        <p:nvSpPr>
          <p:cNvPr id="25" name="TextBox 24"/>
          <p:cNvSpPr txBox="1"/>
          <p:nvPr/>
        </p:nvSpPr>
        <p:spPr>
          <a:xfrm>
            <a:off x="8302752" y="1920240"/>
            <a:ext cx="3328416" cy="201168"/>
          </a:xfrm>
          <a:prstGeom prst="rect">
            <a:avLst/>
          </a:prstGeom>
          <a:noFill/>
        </p:spPr>
        <p:txBody>
          <a:bodyPr wrap="square" lIns="0" tIns="0" rIns="0" bIns="0" anchor="t">
            <a:spAutoFit/>
          </a:bodyPr>
          <a:lstStyle/>
          <a:p>
            <a:pPr algn="l"/>
            <a:r>
              <a:rPr sz="850" b="0" i="0">
                <a:solidFill>
                  <a:srgbClr val="7878A0"/>
                </a:solidFill>
                <a:latin typeface="Consolas"/>
              </a:rPr>
              <a:t>claude_sonnet_4_5_new_york_type3  ·  classic conflict   ·   Pure famous-vs-hidden tension: disjoint pools, daily pace cap to keep both happy</a:t>
            </a:r>
            <a:endParaRPr sz="850" b="0" i="0">
              <a:solidFill>
                <a:srgbClr val="7878A0"/>
              </a:solidFill>
              <a:latin typeface="Consolas"/>
            </a:endParaRPr>
          </a:p>
        </p:txBody>
      </p:sp>
      <p:sp>
        <p:nvSpPr>
          <p:cNvPr id="26" name="Rounded Rectangle 25"/>
          <p:cNvSpPr/>
          <p:nvPr/>
        </p:nvSpPr>
        <p:spPr>
          <a:xfrm>
            <a:off x="8302752" y="2194560"/>
            <a:ext cx="3328416" cy="91440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94192" y="2240280"/>
            <a:ext cx="3145536" cy="822960"/>
          </a:xfrm>
          <a:prstGeom prst="rect">
            <a:avLst/>
          </a:prstGeom>
          <a:noFill/>
        </p:spPr>
        <p:txBody>
          <a:bodyPr wrap="square" lIns="0" tIns="0" rIns="0" bIns="0" anchor="t">
            <a:spAutoFit/>
          </a:bodyPr>
          <a:lstStyle/>
          <a:p>
            <a:pPr algn="l"/>
            <a:r>
              <a:rPr sz="850" b="0" i="1">
                <a:solidFill>
                  <a:srgbClr val="E8E8F0"/>
                </a:solidFill>
                <a:latin typeface="Calibri"/>
              </a:rPr>
              <a:t>“My partner and I are visiting NYC for the July 4th weekend (July 4–6). She insists on hitting the major tourist attractions — the places everyone goes to see. I prefer discovering off-the-beaten-path spots where the crowds are lighter. We want to balance both our styles.”</a:t>
            </a:r>
            <a:endParaRPr sz="850" b="0" i="1">
              <a:solidFill>
                <a:srgbClr val="E8E8F0"/>
              </a:solidFill>
              <a:latin typeface="Calibri"/>
            </a:endParaRPr>
          </a:p>
        </p:txBody>
      </p:sp>
      <p:sp>
        <p:nvSpPr>
          <p:cNvPr id="28" name="TextBox 27"/>
          <p:cNvSpPr txBox="1"/>
          <p:nvPr/>
        </p:nvSpPr>
        <p:spPr>
          <a:xfrm>
            <a:off x="8302752" y="3172968"/>
            <a:ext cx="3328416" cy="164592"/>
          </a:xfrm>
          <a:prstGeom prst="rect">
            <a:avLst/>
          </a:prstGeom>
          <a:noFill/>
        </p:spPr>
        <p:txBody>
          <a:bodyPr wrap="square" lIns="0" tIns="0" rIns="0" bIns="0" anchor="t">
            <a:spAutoFit/>
          </a:bodyPr>
          <a:lstStyle/>
          <a:p>
            <a:pPr algn="l"/>
            <a:r>
              <a:rPr sz="800" b="0" i="0">
                <a:solidFill>
                  <a:srgbClr val="6C8EFF"/>
                </a:solidFill>
                <a:latin typeface="Consolas"/>
              </a:rPr>
              <a:t>·  [hop-1]  at_least: 5 high-traffic venues  (the partner's wishlist)</a:t>
            </a:r>
            <a:endParaRPr sz="800" b="0" i="0">
              <a:solidFill>
                <a:srgbClr val="6C8EFF"/>
              </a:solidFill>
              <a:latin typeface="Consolas"/>
            </a:endParaRPr>
          </a:p>
        </p:txBody>
      </p:sp>
      <p:sp>
        <p:nvSpPr>
          <p:cNvPr id="29" name="TextBox 28"/>
          <p:cNvSpPr txBox="1"/>
          <p:nvPr/>
        </p:nvSpPr>
        <p:spPr>
          <a:xfrm>
            <a:off x="8302752" y="3346704"/>
            <a:ext cx="3328416" cy="164592"/>
          </a:xfrm>
          <a:prstGeom prst="rect">
            <a:avLst/>
          </a:prstGeom>
          <a:noFill/>
        </p:spPr>
        <p:txBody>
          <a:bodyPr wrap="square" lIns="0" tIns="0" rIns="0" bIns="0" anchor="t">
            <a:spAutoFit/>
          </a:bodyPr>
          <a:lstStyle/>
          <a:p>
            <a:pPr algn="l"/>
            <a:r>
              <a:rPr sz="800" b="0" i="0">
                <a:solidFill>
                  <a:srgbClr val="6C8EFF"/>
                </a:solidFill>
                <a:latin typeface="Consolas"/>
              </a:rPr>
              <a:t>·  [hop-1]  at_least: 5 low-traffic venues   (off-the-beaten-path)</a:t>
            </a:r>
            <a:endParaRPr sz="800" b="0" i="0">
              <a:solidFill>
                <a:srgbClr val="6C8EFF"/>
              </a:solidFill>
              <a:latin typeface="Consolas"/>
            </a:endParaRPr>
          </a:p>
        </p:txBody>
      </p:sp>
      <p:sp>
        <p:nvSpPr>
          <p:cNvPr id="30" name="TextBox 29"/>
          <p:cNvSpPr txBox="1"/>
          <p:nvPr/>
        </p:nvSpPr>
        <p:spPr>
          <a:xfrm>
            <a:off x="8302752" y="3520440"/>
            <a:ext cx="3328416" cy="164592"/>
          </a:xfrm>
          <a:prstGeom prst="rect">
            <a:avLst/>
          </a:prstGeom>
          <a:noFill/>
        </p:spPr>
        <p:txBody>
          <a:bodyPr wrap="square" lIns="0" tIns="0" rIns="0" bIns="0" anchor="t">
            <a:spAutoFit/>
          </a:bodyPr>
          <a:lstStyle/>
          <a:p>
            <a:pPr algn="l"/>
            <a:r>
              <a:rPr sz="800" b="0" i="0">
                <a:solidFill>
                  <a:srgbClr val="6C8EFF"/>
                </a:solidFill>
                <a:latin typeface="Consolas"/>
              </a:rPr>
              <a:t>·  [hop-2]  at_most: 1 intense-pace activity  per_day  (catch breath)</a:t>
            </a:r>
            <a:endParaRPr sz="800" b="0" i="0">
              <a:solidFill>
                <a:srgbClr val="6C8EFF"/>
              </a:solidFill>
              <a:latin typeface="Consolas"/>
            </a:endParaRPr>
          </a:p>
        </p:txBody>
      </p:sp>
      <p:sp>
        <p:nvSpPr>
          <p:cNvPr id="31" name="Rounded Rectangle 30"/>
          <p:cNvSpPr/>
          <p:nvPr/>
        </p:nvSpPr>
        <p:spPr>
          <a:xfrm>
            <a:off x="548640" y="4206240"/>
            <a:ext cx="3657600" cy="2468880"/>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297680"/>
            <a:ext cx="3328416" cy="256032"/>
          </a:xfrm>
          <a:prstGeom prst="rect">
            <a:avLst/>
          </a:prstGeom>
          <a:noFill/>
        </p:spPr>
        <p:txBody>
          <a:bodyPr wrap="square" lIns="0" tIns="0" rIns="0" bIns="0" anchor="t">
            <a:spAutoFit/>
          </a:bodyPr>
          <a:lstStyle/>
          <a:p>
            <a:pPr algn="l"/>
            <a:r>
              <a:rPr sz="900" b="1" i="0">
                <a:solidFill>
                  <a:srgbClr val="FFA84A"/>
                </a:solidFill>
                <a:latin typeface="Consolas"/>
              </a:rPr>
              <a:t>TYPE 4  </a:t>
            </a:r>
            <a:r>
              <a:rPr sz="1100" b="1" i="0">
                <a:solidFill>
                  <a:srgbClr val="E8E8F0"/>
                </a:solidFill>
                <a:latin typeface="Calibri"/>
              </a:rPr>
              <a:t>Precision Allocation</a:t>
            </a:r>
            <a:endParaRPr sz="1100" b="1" i="0">
              <a:solidFill>
                <a:srgbClr val="E8E8F0"/>
              </a:solidFill>
              <a:latin typeface="Calibri"/>
            </a:endParaRPr>
          </a:p>
        </p:txBody>
      </p:sp>
      <p:sp>
        <p:nvSpPr>
          <p:cNvPr id="33" name="TextBox 32"/>
          <p:cNvSpPr txBox="1"/>
          <p:nvPr/>
        </p:nvSpPr>
        <p:spPr>
          <a:xfrm>
            <a:off x="713232" y="4526280"/>
            <a:ext cx="3328416" cy="201168"/>
          </a:xfrm>
          <a:prstGeom prst="rect">
            <a:avLst/>
          </a:prstGeom>
          <a:noFill/>
        </p:spPr>
        <p:txBody>
          <a:bodyPr wrap="square" lIns="0" tIns="0" rIns="0" bIns="0" anchor="t">
            <a:spAutoFit/>
          </a:bodyPr>
          <a:lstStyle/>
          <a:p>
            <a:pPr algn="l"/>
            <a:r>
              <a:rPr sz="850" b="0" i="0">
                <a:solidFill>
                  <a:srgbClr val="7878A0"/>
                </a:solidFill>
                <a:latin typeface="Consolas"/>
              </a:rPr>
              <a:t>london_t4_may_weekend  ·  gold-std   ·   6 constraints stacked: sum + all×3 + per_day + ratio</a:t>
            </a:r>
            <a:endParaRPr sz="850" b="0" i="0">
              <a:solidFill>
                <a:srgbClr val="7878A0"/>
              </a:solidFill>
              <a:latin typeface="Consolas"/>
            </a:endParaRPr>
          </a:p>
        </p:txBody>
      </p:sp>
      <p:sp>
        <p:nvSpPr>
          <p:cNvPr id="34" name="Rounded Rectangle 33"/>
          <p:cNvSpPr/>
          <p:nvPr/>
        </p:nvSpPr>
        <p:spPr>
          <a:xfrm>
            <a:off x="713232" y="4800600"/>
            <a:ext cx="3328416" cy="91440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846320"/>
            <a:ext cx="3145536" cy="822960"/>
          </a:xfrm>
          <a:prstGeom prst="rect">
            <a:avLst/>
          </a:prstGeom>
          <a:noFill/>
        </p:spPr>
        <p:txBody>
          <a:bodyPr wrap="square" lIns="0" tIns="0" rIns="0" bIns="0" anchor="t">
            <a:spAutoFit/>
          </a:bodyPr>
          <a:lstStyle/>
          <a:p>
            <a:pPr algn="l"/>
            <a:r>
              <a:rPr sz="850" b="0" i="1">
                <a:solidFill>
                  <a:srgbClr val="E8E8F0"/>
                </a:solidFill>
                <a:latin typeface="Calibri"/>
              </a:rPr>
              <a:t>“Wheelchair-user, 2-day May Bank Holiday. Mid-traffic only. £55 per person per day budget. ≥ 1 museum each day. ≥ 2 British meals. At least half our visits in Westminster.”</a:t>
            </a:r>
            <a:endParaRPr sz="850" b="0" i="1">
              <a:solidFill>
                <a:srgbClr val="E8E8F0"/>
              </a:solidFill>
              <a:latin typeface="Calibri"/>
            </a:endParaRPr>
          </a:p>
        </p:txBody>
      </p:sp>
      <p:sp>
        <p:nvSpPr>
          <p:cNvPr id="36" name="TextBox 35"/>
          <p:cNvSpPr txBox="1"/>
          <p:nvPr/>
        </p:nvSpPr>
        <p:spPr>
          <a:xfrm>
            <a:off x="713232" y="5550408"/>
            <a:ext cx="3328416" cy="164592"/>
          </a:xfrm>
          <a:prstGeom prst="rect">
            <a:avLst/>
          </a:prstGeom>
          <a:noFill/>
        </p:spPr>
        <p:txBody>
          <a:bodyPr wrap="square" lIns="0" tIns="0" rIns="0" bIns="0" anchor="t">
            <a:spAutoFit/>
          </a:bodyPr>
          <a:lstStyle/>
          <a:p>
            <a:pPr algn="l"/>
            <a:r>
              <a:rPr sz="800" b="0" i="0">
                <a:solidFill>
                  <a:srgbClr val="FFA84A"/>
                </a:solidFill>
                <a:latin typeface="Consolas"/>
              </a:rPr>
              <a:t>·  [hop-1]  sum: estimated_cost ≤ £55  per_day</a:t>
            </a:r>
            <a:endParaRPr sz="800" b="0" i="0">
              <a:solidFill>
                <a:srgbClr val="FFA84A"/>
              </a:solidFill>
              <a:latin typeface="Consolas"/>
            </a:endParaRPr>
          </a:p>
        </p:txBody>
      </p:sp>
      <p:sp>
        <p:nvSpPr>
          <p:cNvPr id="37" name="TextBox 36"/>
          <p:cNvSpPr txBox="1"/>
          <p:nvPr/>
        </p:nvSpPr>
        <p:spPr>
          <a:xfrm>
            <a:off x="713232" y="5724144"/>
            <a:ext cx="3328416" cy="164592"/>
          </a:xfrm>
          <a:prstGeom prst="rect">
            <a:avLst/>
          </a:prstGeom>
          <a:noFill/>
        </p:spPr>
        <p:txBody>
          <a:bodyPr wrap="square" lIns="0" tIns="0" rIns="0" bIns="0" anchor="t">
            <a:spAutoFit/>
          </a:bodyPr>
          <a:lstStyle/>
          <a:p>
            <a:pPr algn="l"/>
            <a:r>
              <a:rPr sz="800" b="0" i="0">
                <a:solidFill>
                  <a:srgbClr val="FFA84A"/>
                </a:solidFill>
                <a:latin typeface="Consolas"/>
              </a:rPr>
              <a:t>·  [hop-1]  all: wheelchair_accessible = true</a:t>
            </a:r>
            <a:endParaRPr sz="800" b="0" i="0">
              <a:solidFill>
                <a:srgbClr val="FFA84A"/>
              </a:solidFill>
              <a:latin typeface="Consolas"/>
            </a:endParaRPr>
          </a:p>
        </p:txBody>
      </p:sp>
      <p:sp>
        <p:nvSpPr>
          <p:cNvPr id="38" name="TextBox 37"/>
          <p:cNvSpPr txBox="1"/>
          <p:nvPr/>
        </p:nvSpPr>
        <p:spPr>
          <a:xfrm>
            <a:off x="713232" y="5897880"/>
            <a:ext cx="3328416" cy="164592"/>
          </a:xfrm>
          <a:prstGeom prst="rect">
            <a:avLst/>
          </a:prstGeom>
          <a:noFill/>
        </p:spPr>
        <p:txBody>
          <a:bodyPr wrap="square" lIns="0" tIns="0" rIns="0" bIns="0" anchor="t">
            <a:spAutoFit/>
          </a:bodyPr>
          <a:lstStyle/>
          <a:p>
            <a:pPr algn="l"/>
            <a:r>
              <a:rPr sz="800" b="0" i="0">
                <a:solidFill>
                  <a:srgbClr val="FFA84A"/>
                </a:solidFill>
                <a:latin typeface="Consolas"/>
              </a:rPr>
              <a:t>·  [hop-1]  all: traffic_tier == mid</a:t>
            </a:r>
            <a:endParaRPr sz="800" b="0" i="0">
              <a:solidFill>
                <a:srgbClr val="FFA84A"/>
              </a:solidFill>
              <a:latin typeface="Consolas"/>
            </a:endParaRPr>
          </a:p>
        </p:txBody>
      </p:sp>
      <p:sp>
        <p:nvSpPr>
          <p:cNvPr id="39" name="TextBox 38"/>
          <p:cNvSpPr txBox="1"/>
          <p:nvPr/>
        </p:nvSpPr>
        <p:spPr>
          <a:xfrm>
            <a:off x="713232" y="6071616"/>
            <a:ext cx="3328416" cy="164592"/>
          </a:xfrm>
          <a:prstGeom prst="rect">
            <a:avLst/>
          </a:prstGeom>
          <a:noFill/>
        </p:spPr>
        <p:txBody>
          <a:bodyPr wrap="square" lIns="0" tIns="0" rIns="0" bIns="0" anchor="t">
            <a:spAutoFit/>
          </a:bodyPr>
          <a:lstStyle/>
          <a:p>
            <a:pPr algn="l"/>
            <a:r>
              <a:rPr sz="800" b="0" i="0">
                <a:solidFill>
                  <a:srgbClr val="FFA84A"/>
                </a:solidFill>
                <a:latin typeface="Consolas"/>
              </a:rPr>
              <a:t>·  [hop-1]  at_least: 1 museum  per_day</a:t>
            </a:r>
            <a:endParaRPr sz="800" b="0" i="0">
              <a:solidFill>
                <a:srgbClr val="FFA84A"/>
              </a:solidFill>
              <a:latin typeface="Consolas"/>
            </a:endParaRPr>
          </a:p>
        </p:txBody>
      </p:sp>
      <p:sp>
        <p:nvSpPr>
          <p:cNvPr id="40" name="TextBox 39"/>
          <p:cNvSpPr txBox="1"/>
          <p:nvPr/>
        </p:nvSpPr>
        <p:spPr>
          <a:xfrm>
            <a:off x="713232" y="6245352"/>
            <a:ext cx="3328416" cy="164592"/>
          </a:xfrm>
          <a:prstGeom prst="rect">
            <a:avLst/>
          </a:prstGeom>
          <a:noFill/>
        </p:spPr>
        <p:txBody>
          <a:bodyPr wrap="square" lIns="0" tIns="0" rIns="0" bIns="0" anchor="t">
            <a:spAutoFit/>
          </a:bodyPr>
          <a:lstStyle/>
          <a:p>
            <a:pPr algn="l"/>
            <a:r>
              <a:rPr sz="800" b="0" i="0">
                <a:solidFill>
                  <a:srgbClr val="FFA84A"/>
                </a:solidFill>
                <a:latin typeface="Consolas"/>
              </a:rPr>
              <a:t>·  [hop-2]  at_least: 2 British meals</a:t>
            </a:r>
            <a:endParaRPr sz="800" b="0" i="0">
              <a:solidFill>
                <a:srgbClr val="FFA84A"/>
              </a:solidFill>
              <a:latin typeface="Consolas"/>
            </a:endParaRPr>
          </a:p>
        </p:txBody>
      </p:sp>
      <p:sp>
        <p:nvSpPr>
          <p:cNvPr id="41" name="TextBox 40"/>
          <p:cNvSpPr txBox="1"/>
          <p:nvPr/>
        </p:nvSpPr>
        <p:spPr>
          <a:xfrm>
            <a:off x="713232" y="6419088"/>
            <a:ext cx="3328416" cy="164592"/>
          </a:xfrm>
          <a:prstGeom prst="rect">
            <a:avLst/>
          </a:prstGeom>
          <a:noFill/>
        </p:spPr>
        <p:txBody>
          <a:bodyPr wrap="square" lIns="0" tIns="0" rIns="0" bIns="0" anchor="t">
            <a:spAutoFit/>
          </a:bodyPr>
          <a:lstStyle/>
          <a:p>
            <a:pPr algn="l"/>
            <a:r>
              <a:rPr sz="800" b="0" i="0">
                <a:solidFill>
                  <a:srgbClr val="FFA84A"/>
                </a:solidFill>
                <a:latin typeface="Consolas"/>
              </a:rPr>
              <a:t>·  [hop-2]  ratio: 0.5 Westminster</a:t>
            </a:r>
            <a:endParaRPr sz="800" b="0" i="0">
              <a:solidFill>
                <a:srgbClr val="FFA84A"/>
              </a:solidFill>
              <a:latin typeface="Consolas"/>
            </a:endParaRPr>
          </a:p>
        </p:txBody>
      </p:sp>
      <p:sp>
        <p:nvSpPr>
          <p:cNvPr id="42" name="Rounded Rectangle 41"/>
          <p:cNvSpPr/>
          <p:nvPr/>
        </p:nvSpPr>
        <p:spPr>
          <a:xfrm>
            <a:off x="4343400" y="4206240"/>
            <a:ext cx="3657600" cy="2468880"/>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07992" y="4297680"/>
            <a:ext cx="3328416" cy="256032"/>
          </a:xfrm>
          <a:prstGeom prst="rect">
            <a:avLst/>
          </a:prstGeom>
          <a:noFill/>
        </p:spPr>
        <p:txBody>
          <a:bodyPr wrap="square" lIns="0" tIns="0" rIns="0" bIns="0" anchor="t">
            <a:spAutoFit/>
          </a:bodyPr>
          <a:lstStyle/>
          <a:p>
            <a:pPr algn="l"/>
            <a:r>
              <a:rPr sz="900" b="1" i="0">
                <a:solidFill>
                  <a:srgbClr val="FFA84A"/>
                </a:solidFill>
                <a:latin typeface="Consolas"/>
              </a:rPr>
              <a:t>TYPE 5  </a:t>
            </a:r>
            <a:r>
              <a:rPr sz="1100" b="1" i="0">
                <a:solidFill>
                  <a:srgbClr val="E8E8F0"/>
                </a:solidFill>
                <a:latin typeface="Calibri"/>
              </a:rPr>
              <a:t>Hard Feasibility Reduction</a:t>
            </a:r>
            <a:endParaRPr sz="1100" b="1" i="0">
              <a:solidFill>
                <a:srgbClr val="E8E8F0"/>
              </a:solidFill>
              <a:latin typeface="Calibri"/>
            </a:endParaRPr>
          </a:p>
        </p:txBody>
      </p:sp>
      <p:sp>
        <p:nvSpPr>
          <p:cNvPr id="44" name="TextBox 43"/>
          <p:cNvSpPr txBox="1"/>
          <p:nvPr/>
        </p:nvSpPr>
        <p:spPr>
          <a:xfrm>
            <a:off x="4507992" y="4526280"/>
            <a:ext cx="3328416" cy="201168"/>
          </a:xfrm>
          <a:prstGeom prst="rect">
            <a:avLst/>
          </a:prstGeom>
          <a:noFill/>
        </p:spPr>
        <p:txBody>
          <a:bodyPr wrap="square" lIns="0" tIns="0" rIns="0" bIns="0" anchor="t">
            <a:spAutoFit/>
          </a:bodyPr>
          <a:lstStyle/>
          <a:p>
            <a:pPr algn="l"/>
            <a:r>
              <a:rPr sz="850" b="0" i="0">
                <a:solidFill>
                  <a:srgbClr val="7878A0"/>
                </a:solidFill>
                <a:latin typeface="Consolas"/>
              </a:rPr>
              <a:t>lon_type5_booking_westminster  ·  best task in dataset   ·   Reservation gate + district lock — pool collapses to ~3 venues</a:t>
            </a:r>
            <a:endParaRPr sz="850" b="0" i="0">
              <a:solidFill>
                <a:srgbClr val="7878A0"/>
              </a:solidFill>
              <a:latin typeface="Consolas"/>
            </a:endParaRPr>
          </a:p>
        </p:txBody>
      </p:sp>
      <p:sp>
        <p:nvSpPr>
          <p:cNvPr id="45" name="Rounded Rectangle 44"/>
          <p:cNvSpPr/>
          <p:nvPr/>
        </p:nvSpPr>
        <p:spPr>
          <a:xfrm>
            <a:off x="4507992" y="4800600"/>
            <a:ext cx="3328416" cy="91440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99432" y="4846320"/>
            <a:ext cx="3145536" cy="822960"/>
          </a:xfrm>
          <a:prstGeom prst="rect">
            <a:avLst/>
          </a:prstGeom>
          <a:noFill/>
        </p:spPr>
        <p:txBody>
          <a:bodyPr wrap="square" lIns="0" tIns="0" rIns="0" bIns="0" anchor="t">
            <a:spAutoFit/>
          </a:bodyPr>
          <a:lstStyle/>
          <a:p>
            <a:pPr algn="l"/>
            <a:r>
              <a:rPr sz="850" b="0" i="1">
                <a:solidFill>
                  <a:srgbClr val="E8E8F0"/>
                </a:solidFill>
                <a:latin typeface="Calibri"/>
              </a:rPr>
              <a:t>“1-day Westminster itinerary. Every place we visit must require an advance reservation. To balance the day, at least one restaurant should not be too intense — catch our breath.”</a:t>
            </a:r>
            <a:endParaRPr sz="850" b="0" i="1">
              <a:solidFill>
                <a:srgbClr val="E8E8F0"/>
              </a:solidFill>
              <a:latin typeface="Calibri"/>
            </a:endParaRPr>
          </a:p>
        </p:txBody>
      </p:sp>
      <p:sp>
        <p:nvSpPr>
          <p:cNvPr id="47" name="TextBox 46"/>
          <p:cNvSpPr txBox="1"/>
          <p:nvPr/>
        </p:nvSpPr>
        <p:spPr>
          <a:xfrm>
            <a:off x="4507992" y="5779008"/>
            <a:ext cx="3328416" cy="164592"/>
          </a:xfrm>
          <a:prstGeom prst="rect">
            <a:avLst/>
          </a:prstGeom>
          <a:noFill/>
        </p:spPr>
        <p:txBody>
          <a:bodyPr wrap="square" lIns="0" tIns="0" rIns="0" bIns="0" anchor="t">
            <a:spAutoFit/>
          </a:bodyPr>
          <a:lstStyle/>
          <a:p>
            <a:pPr algn="l"/>
            <a:r>
              <a:rPr sz="800" b="0" i="0">
                <a:solidFill>
                  <a:srgbClr val="FFA84A"/>
                </a:solidFill>
                <a:latin typeface="Consolas"/>
              </a:rPr>
              <a:t>·  [hop-1]  all: reservation_required = true</a:t>
            </a:r>
            <a:endParaRPr sz="800" b="0" i="0">
              <a:solidFill>
                <a:srgbClr val="FFA84A"/>
              </a:solidFill>
              <a:latin typeface="Consolas"/>
            </a:endParaRPr>
          </a:p>
        </p:txBody>
      </p:sp>
      <p:sp>
        <p:nvSpPr>
          <p:cNvPr id="48" name="TextBox 47"/>
          <p:cNvSpPr txBox="1"/>
          <p:nvPr/>
        </p:nvSpPr>
        <p:spPr>
          <a:xfrm>
            <a:off x="4507992" y="5952744"/>
            <a:ext cx="3328416" cy="164592"/>
          </a:xfrm>
          <a:prstGeom prst="rect">
            <a:avLst/>
          </a:prstGeom>
          <a:noFill/>
        </p:spPr>
        <p:txBody>
          <a:bodyPr wrap="square" lIns="0" tIns="0" rIns="0" bIns="0" anchor="t">
            <a:spAutoFit/>
          </a:bodyPr>
          <a:lstStyle/>
          <a:p>
            <a:pPr algn="l"/>
            <a:r>
              <a:rPr sz="800" b="0" i="0">
                <a:solidFill>
                  <a:srgbClr val="FFA84A"/>
                </a:solidFill>
                <a:latin typeface="Consolas"/>
              </a:rPr>
              <a:t>·  [hop-1]  all: district == Westminster</a:t>
            </a:r>
            <a:endParaRPr sz="800" b="0" i="0">
              <a:solidFill>
                <a:srgbClr val="FFA84A"/>
              </a:solidFill>
              <a:latin typeface="Consolas"/>
            </a:endParaRPr>
          </a:p>
        </p:txBody>
      </p:sp>
      <p:sp>
        <p:nvSpPr>
          <p:cNvPr id="49" name="TextBox 48"/>
          <p:cNvSpPr txBox="1"/>
          <p:nvPr/>
        </p:nvSpPr>
        <p:spPr>
          <a:xfrm>
            <a:off x="4507992" y="6126480"/>
            <a:ext cx="3328416" cy="164592"/>
          </a:xfrm>
          <a:prstGeom prst="rect">
            <a:avLst/>
          </a:prstGeom>
          <a:noFill/>
        </p:spPr>
        <p:txBody>
          <a:bodyPr wrap="square" lIns="0" tIns="0" rIns="0" bIns="0" anchor="t">
            <a:spAutoFit/>
          </a:bodyPr>
          <a:lstStyle/>
          <a:p>
            <a:pPr algn="l"/>
            <a:r>
              <a:rPr sz="800" b="0" i="0">
                <a:solidFill>
                  <a:srgbClr val="FFA84A"/>
                </a:solidFill>
                <a:latin typeface="Consolas"/>
              </a:rPr>
              <a:t>·  [hop-2]  at_least: 1 restaurant with recommended_pace ≤ moderate</a:t>
            </a:r>
            <a:endParaRPr sz="800" b="0" i="0">
              <a:solidFill>
                <a:srgbClr val="FFA84A"/>
              </a:solidFill>
              <a:latin typeface="Consolas"/>
            </a:endParaRPr>
          </a:p>
        </p:txBody>
      </p:sp>
      <p:sp>
        <p:nvSpPr>
          <p:cNvPr id="50" name="Rounded Rectangle 49"/>
          <p:cNvSpPr/>
          <p:nvPr/>
        </p:nvSpPr>
        <p:spPr>
          <a:xfrm>
            <a:off x="8138160" y="4206240"/>
            <a:ext cx="3657600" cy="2468880"/>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02752" y="4297680"/>
            <a:ext cx="3328416" cy="256032"/>
          </a:xfrm>
          <a:prstGeom prst="rect">
            <a:avLst/>
          </a:prstGeom>
          <a:noFill/>
        </p:spPr>
        <p:txBody>
          <a:bodyPr wrap="square" lIns="0" tIns="0" rIns="0" bIns="0" anchor="t">
            <a:spAutoFit/>
          </a:bodyPr>
          <a:lstStyle/>
          <a:p>
            <a:pPr algn="l"/>
            <a:r>
              <a:rPr sz="900" b="1" i="0">
                <a:solidFill>
                  <a:srgbClr val="FFA84A"/>
                </a:solidFill>
                <a:latin typeface="Consolas"/>
              </a:rPr>
              <a:t>TYPE 6  </a:t>
            </a:r>
            <a:r>
              <a:rPr sz="1100" b="1" i="0">
                <a:solidFill>
                  <a:srgbClr val="E8E8F0"/>
                </a:solidFill>
                <a:latin typeface="Calibri"/>
              </a:rPr>
              <a:t>Context-Window Tension</a:t>
            </a:r>
            <a:endParaRPr sz="1100" b="1" i="0">
              <a:solidFill>
                <a:srgbClr val="E8E8F0"/>
              </a:solidFill>
              <a:latin typeface="Calibri"/>
            </a:endParaRPr>
          </a:p>
        </p:txBody>
      </p:sp>
      <p:sp>
        <p:nvSpPr>
          <p:cNvPr id="52" name="TextBox 51"/>
          <p:cNvSpPr txBox="1"/>
          <p:nvPr/>
        </p:nvSpPr>
        <p:spPr>
          <a:xfrm>
            <a:off x="8302752" y="4526280"/>
            <a:ext cx="3328416" cy="201168"/>
          </a:xfrm>
          <a:prstGeom prst="rect">
            <a:avLst/>
          </a:prstGeom>
          <a:noFill/>
        </p:spPr>
        <p:txBody>
          <a:bodyPr wrap="square" lIns="0" tIns="0" rIns="0" bIns="0" anchor="t">
            <a:spAutoFit/>
          </a:bodyPr>
          <a:lstStyle/>
          <a:p>
            <a:pPr algn="l"/>
            <a:r>
              <a:rPr sz="850" b="0" i="0">
                <a:solidFill>
                  <a:srgbClr val="7878A0"/>
                </a:solidFill>
                <a:latin typeface="Consolas"/>
              </a:rPr>
              <a:t>lon_easter_type6_britishmuseum_backup  ·  real window conflict   ·   Window-driven exclusion of a specific named venue — the persona's plan A vs the closure</a:t>
            </a:r>
            <a:endParaRPr sz="850" b="0" i="0">
              <a:solidFill>
                <a:srgbClr val="7878A0"/>
              </a:solidFill>
              <a:latin typeface="Consolas"/>
            </a:endParaRPr>
          </a:p>
        </p:txBody>
      </p:sp>
      <p:sp>
        <p:nvSpPr>
          <p:cNvPr id="53" name="Rounded Rectangle 52"/>
          <p:cNvSpPr/>
          <p:nvPr/>
        </p:nvSpPr>
        <p:spPr>
          <a:xfrm>
            <a:off x="8302752" y="4800600"/>
            <a:ext cx="3328416" cy="91440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94192" y="4846320"/>
            <a:ext cx="3145536" cy="822960"/>
          </a:xfrm>
          <a:prstGeom prst="rect">
            <a:avLst/>
          </a:prstGeom>
          <a:noFill/>
        </p:spPr>
        <p:txBody>
          <a:bodyPr wrap="square" lIns="0" tIns="0" rIns="0" bIns="0" anchor="t">
            <a:spAutoFit/>
          </a:bodyPr>
          <a:lstStyle/>
          <a:p>
            <a:pPr algn="l"/>
            <a:r>
              <a:rPr sz="850" b="0" i="1">
                <a:solidFill>
                  <a:srgbClr val="E8E8F0"/>
                </a:solidFill>
                <a:latin typeface="Calibri"/>
              </a:rPr>
              <a:t>“We're in London on Easter Monday and had planned to spend the afternoon at the British Museum, but we know bank holiday closures can ruin plans. Please build us a central London backup day with one art-focused museum visit and an easy dinner nearby, so we're not criss-crossing the city if the British Museum is shut.”</a:t>
            </a:r>
            <a:endParaRPr sz="850" b="0" i="1">
              <a:solidFill>
                <a:srgbClr val="E8E8F0"/>
              </a:solidFill>
              <a:latin typeface="Calibri"/>
            </a:endParaRPr>
          </a:p>
        </p:txBody>
      </p:sp>
      <p:sp>
        <p:nvSpPr>
          <p:cNvPr id="55" name="TextBox 54"/>
          <p:cNvSpPr txBox="1"/>
          <p:nvPr/>
        </p:nvSpPr>
        <p:spPr>
          <a:xfrm>
            <a:off x="8302752" y="5779008"/>
            <a:ext cx="3328416" cy="164592"/>
          </a:xfrm>
          <a:prstGeom prst="rect">
            <a:avLst/>
          </a:prstGeom>
          <a:noFill/>
        </p:spPr>
        <p:txBody>
          <a:bodyPr wrap="square" lIns="0" tIns="0" rIns="0" bIns="0" anchor="t">
            <a:spAutoFit/>
          </a:bodyPr>
          <a:lstStyle/>
          <a:p>
            <a:pPr algn="l"/>
            <a:r>
              <a:rPr sz="800" b="0" i="0">
                <a:solidFill>
                  <a:srgbClr val="FFA84A"/>
                </a:solidFill>
                <a:latin typeface="Consolas"/>
              </a:rPr>
              <a:t>·  [hop-2]  all: traffic_tier == low  (backup-day calm)</a:t>
            </a:r>
            <a:endParaRPr sz="800" b="0" i="0">
              <a:solidFill>
                <a:srgbClr val="FFA84A"/>
              </a:solidFill>
              <a:latin typeface="Consolas"/>
            </a:endParaRPr>
          </a:p>
        </p:txBody>
      </p:sp>
      <p:sp>
        <p:nvSpPr>
          <p:cNvPr id="56" name="TextBox 55"/>
          <p:cNvSpPr txBox="1"/>
          <p:nvPr/>
        </p:nvSpPr>
        <p:spPr>
          <a:xfrm>
            <a:off x="8302752" y="5952744"/>
            <a:ext cx="3328416" cy="164592"/>
          </a:xfrm>
          <a:prstGeom prst="rect">
            <a:avLst/>
          </a:prstGeom>
          <a:noFill/>
        </p:spPr>
        <p:txBody>
          <a:bodyPr wrap="square" lIns="0" tIns="0" rIns="0" bIns="0" anchor="t">
            <a:spAutoFit/>
          </a:bodyPr>
          <a:lstStyle/>
          <a:p>
            <a:pPr algn="l"/>
            <a:r>
              <a:rPr sz="800" b="0" i="0">
                <a:solidFill>
                  <a:srgbClr val="FFA84A"/>
                </a:solidFill>
                <a:latin typeface="Consolas"/>
              </a:rPr>
              <a:t>·  [hop-1]  at_least: 1 art museum</a:t>
            </a:r>
            <a:endParaRPr sz="800" b="0" i="0">
              <a:solidFill>
                <a:srgbClr val="FFA84A"/>
              </a:solidFill>
              <a:latin typeface="Consolas"/>
            </a:endParaRPr>
          </a:p>
        </p:txBody>
      </p:sp>
      <p:sp>
        <p:nvSpPr>
          <p:cNvPr id="57" name="TextBox 56"/>
          <p:cNvSpPr txBox="1"/>
          <p:nvPr/>
        </p:nvSpPr>
        <p:spPr>
          <a:xfrm>
            <a:off x="8302752" y="6126480"/>
            <a:ext cx="3328416" cy="164592"/>
          </a:xfrm>
          <a:prstGeom prst="rect">
            <a:avLst/>
          </a:prstGeom>
          <a:noFill/>
        </p:spPr>
        <p:txBody>
          <a:bodyPr wrap="square" lIns="0" tIns="0" rIns="0" bIns="0" anchor="t">
            <a:spAutoFit/>
          </a:bodyPr>
          <a:lstStyle/>
          <a:p>
            <a:pPr algn="l"/>
            <a:r>
              <a:rPr sz="800" b="0" i="0">
                <a:solidFill>
                  <a:srgbClr val="FFA84A"/>
                </a:solidFill>
                <a:latin typeface="Consolas"/>
              </a:rPr>
              <a:t>·  [hop-2]  sum: travel ≤ 60 min  per_day</a:t>
            </a:r>
            <a:endParaRPr sz="800" b="0" i="0">
              <a:solidFill>
                <a:srgbClr val="FFA84A"/>
              </a:solidFill>
              <a:latin typeface="Consolas"/>
            </a:endParaRPr>
          </a:p>
        </p:txBody>
      </p:sp>
      <p:sp>
        <p:nvSpPr>
          <p:cNvPr id="58" name="TextBox 57"/>
          <p:cNvSpPr txBox="1"/>
          <p:nvPr/>
        </p:nvSpPr>
        <p:spPr>
          <a:xfrm>
            <a:off x="8302752" y="6300216"/>
            <a:ext cx="3328416" cy="164592"/>
          </a:xfrm>
          <a:prstGeom prst="rect">
            <a:avLst/>
          </a:prstGeom>
          <a:noFill/>
        </p:spPr>
        <p:txBody>
          <a:bodyPr wrap="square" lIns="0" tIns="0" rIns="0" bIns="0" anchor="t">
            <a:spAutoFit/>
          </a:bodyPr>
          <a:lstStyle/>
          <a:p>
            <a:pPr algn="l"/>
            <a:r>
              <a:rPr sz="800" b="0" i="0">
                <a:solidFill>
                  <a:srgbClr val="FFA84A"/>
                </a:solidFill>
                <a:latin typeface="Consolas"/>
              </a:rPr>
              <a:t>·  [hop-2]  none: venue_id = British Museum  (closed Easter Monday)</a:t>
            </a:r>
            <a:endParaRPr sz="800" b="0" i="0">
              <a:solidFill>
                <a:srgbClr val="FFA84A"/>
              </a:solidFill>
              <a:latin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10  —  POSITIONING</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Task examples vs. recent benchmarks</a:t>
            </a:r>
            <a:endParaRPr sz="2200" b="0" i="0">
              <a:solidFill>
                <a:srgbClr val="E8E8F0"/>
              </a:solidFill>
              <a:latin typeface="Georgia" panose="02040502050405090303"/>
            </a:endParaRPr>
          </a:p>
        </p:txBody>
      </p:sp>
      <p:sp>
        <p:nvSpPr>
          <p:cNvPr id="4" name="TextBox 3"/>
          <p:cNvSpPr txBox="1"/>
          <p:nvPr/>
        </p:nvSpPr>
        <p:spPr>
          <a:xfrm>
            <a:off x="548640" y="960120"/>
            <a:ext cx="10972800" cy="228600"/>
          </a:xfrm>
          <a:prstGeom prst="rect">
            <a:avLst/>
          </a:prstGeom>
          <a:noFill/>
        </p:spPr>
        <p:txBody>
          <a:bodyPr wrap="square" lIns="0" tIns="0" rIns="0" bIns="0" anchor="t">
            <a:spAutoFit/>
          </a:bodyPr>
          <a:lstStyle/>
          <a:p>
            <a:pPr algn="l"/>
            <a:r>
              <a:rPr sz="1000" b="0" i="0">
                <a:solidFill>
                  <a:srgbClr val="7878A0"/>
                </a:solidFill>
                <a:latin typeface="Consolas"/>
              </a:rPr>
              <a:t>Real quotes.  Each highlights what their format CAN'T express that ours can.</a:t>
            </a:r>
            <a:endParaRPr sz="1000" b="0" i="0">
              <a:solidFill>
                <a:srgbClr val="7878A0"/>
              </a:solidFill>
              <a:latin typeface="Consolas"/>
            </a:endParaRPr>
          </a:p>
        </p:txBody>
      </p:sp>
      <p:sp>
        <p:nvSpPr>
          <p:cNvPr id="5" name="Rounded Rectangle 4"/>
          <p:cNvSpPr/>
          <p:nvPr/>
        </p:nvSpPr>
        <p:spPr>
          <a:xfrm>
            <a:off x="548640" y="1325880"/>
            <a:ext cx="5532120" cy="260604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399032"/>
            <a:ext cx="5202936" cy="228600"/>
          </a:xfrm>
          <a:prstGeom prst="rect">
            <a:avLst/>
          </a:prstGeom>
          <a:noFill/>
        </p:spPr>
        <p:txBody>
          <a:bodyPr wrap="square" lIns="0" tIns="0" rIns="0" bIns="0" anchor="t">
            <a:spAutoFit/>
          </a:bodyPr>
          <a:lstStyle/>
          <a:p>
            <a:pPr algn="l"/>
            <a:r>
              <a:rPr sz="1150" b="1" i="0">
                <a:solidFill>
                  <a:srgbClr val="6C8EFF"/>
                </a:solidFill>
                <a:latin typeface="Calibri"/>
              </a:rPr>
              <a:t>DeepPlanning  ·  Zhang et al. (Alibaba Qwen)</a:t>
            </a:r>
            <a:endParaRPr sz="1150" b="1" i="0">
              <a:solidFill>
                <a:srgbClr val="6C8EFF"/>
              </a:solidFill>
              <a:latin typeface="Calibri"/>
            </a:endParaRPr>
          </a:p>
        </p:txBody>
      </p:sp>
      <p:sp>
        <p:nvSpPr>
          <p:cNvPr id="7" name="TextBox 6"/>
          <p:cNvSpPr txBox="1"/>
          <p:nvPr/>
        </p:nvSpPr>
        <p:spPr>
          <a:xfrm>
            <a:off x="713232" y="1627632"/>
            <a:ext cx="5202936" cy="201168"/>
          </a:xfrm>
          <a:prstGeom prst="rect">
            <a:avLst/>
          </a:prstGeom>
          <a:noFill/>
        </p:spPr>
        <p:txBody>
          <a:bodyPr wrap="square" lIns="0" tIns="0" rIns="0" bIns="0" anchor="t">
            <a:spAutoFit/>
          </a:bodyPr>
          <a:lstStyle/>
          <a:p>
            <a:pPr algn="l"/>
            <a:r>
              <a:rPr sz="850" b="0" i="0">
                <a:solidFill>
                  <a:srgbClr val="7878A0"/>
                </a:solidFill>
                <a:latin typeface="Consolas"/>
              </a:rPr>
              <a:t>arXiv 2601.18137 · Jan 2026</a:t>
            </a:r>
            <a:endParaRPr sz="850" b="0" i="0">
              <a:solidFill>
                <a:srgbClr val="7878A0"/>
              </a:solidFill>
              <a:latin typeface="Consolas"/>
            </a:endParaRPr>
          </a:p>
        </p:txBody>
      </p:sp>
      <p:sp>
        <p:nvSpPr>
          <p:cNvPr id="8" name="Rounded Rectangle 7"/>
          <p:cNvSpPr/>
          <p:nvPr/>
        </p:nvSpPr>
        <p:spPr>
          <a:xfrm>
            <a:off x="713232" y="1874520"/>
            <a:ext cx="5202936" cy="96012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929384"/>
            <a:ext cx="5020056" cy="868680"/>
          </a:xfrm>
          <a:prstGeom prst="rect">
            <a:avLst/>
          </a:prstGeom>
          <a:noFill/>
        </p:spPr>
        <p:txBody>
          <a:bodyPr wrap="square" lIns="0" tIns="0" rIns="0" bIns="0" anchor="t">
            <a:spAutoFit/>
          </a:bodyPr>
          <a:lstStyle/>
          <a:p>
            <a:pPr algn="l"/>
            <a:r>
              <a:rPr sz="950" b="0" i="1">
                <a:solidFill>
                  <a:srgbClr val="E8E8F0"/>
                </a:solidFill>
                <a:latin typeface="Calibri"/>
              </a:rPr>
              <a:t>“Plan our Xi'an→Beijing trip Nov 12–18. Four of us, 2 medium rooms. Total within $3,600. 3-star is fine, but washing machine + on-site pool would be great.”</a:t>
            </a:r>
            <a:endParaRPr sz="950" b="0" i="1">
              <a:solidFill>
                <a:srgbClr val="E8E8F0"/>
              </a:solidFill>
              <a:latin typeface="Calibri"/>
            </a:endParaRPr>
          </a:p>
        </p:txBody>
      </p:sp>
      <p:sp>
        <p:nvSpPr>
          <p:cNvPr id="10" name="TextBox 9"/>
          <p:cNvSpPr txBox="1"/>
          <p:nvPr/>
        </p:nvSpPr>
        <p:spPr>
          <a:xfrm>
            <a:off x="713232" y="2926080"/>
            <a:ext cx="5202936" cy="201168"/>
          </a:xfrm>
          <a:prstGeom prst="rect">
            <a:avLst/>
          </a:prstGeom>
          <a:noFill/>
        </p:spPr>
        <p:txBody>
          <a:bodyPr wrap="square" lIns="0" tIns="0" rIns="0" bIns="0" anchor="t">
            <a:spAutoFit/>
          </a:bodyPr>
          <a:lstStyle/>
          <a:p>
            <a:pPr algn="l"/>
            <a:r>
              <a:rPr sz="900" b="1" i="0">
                <a:solidFill>
                  <a:srgbClr val="6C8EFF"/>
                </a:solidFill>
                <a:latin typeface="Consolas"/>
              </a:rPr>
              <a:t>THEIR GAP</a:t>
            </a:r>
            <a:endParaRPr sz="900" b="1" i="0">
              <a:solidFill>
                <a:srgbClr val="6C8EFF"/>
              </a:solidFill>
              <a:latin typeface="Consolas"/>
            </a:endParaRPr>
          </a:p>
        </p:txBody>
      </p:sp>
      <p:sp>
        <p:nvSpPr>
          <p:cNvPr id="11" name="TextBox 10"/>
          <p:cNvSpPr txBox="1"/>
          <p:nvPr/>
        </p:nvSpPr>
        <p:spPr>
          <a:xfrm>
            <a:off x="713232" y="3127248"/>
            <a:ext cx="5202936" cy="777240"/>
          </a:xfrm>
          <a:prstGeom prst="rect">
            <a:avLst/>
          </a:prstGeom>
          <a:noFill/>
        </p:spPr>
        <p:txBody>
          <a:bodyPr wrap="square" lIns="0" tIns="0" rIns="0" bIns="0" anchor="t">
            <a:spAutoFit/>
          </a:bodyPr>
          <a:lstStyle/>
          <a:p>
            <a:pPr algn="l"/>
            <a:r>
              <a:rPr sz="950" b="0" i="0">
                <a:solidFill>
                  <a:srgbClr val="7878A0"/>
                </a:solidFill>
                <a:latin typeface="Calibri"/>
              </a:rPr>
              <a:t>Soft prefs (washing machine + pool) have no partial-credit scoring. Plan is graded against checklists not constraint primitives.</a:t>
            </a:r>
            <a:endParaRPr sz="950" b="0" i="0">
              <a:solidFill>
                <a:srgbClr val="7878A0"/>
              </a:solidFill>
              <a:latin typeface="Calibri"/>
            </a:endParaRPr>
          </a:p>
        </p:txBody>
      </p:sp>
      <p:sp>
        <p:nvSpPr>
          <p:cNvPr id="12" name="Rounded Rectangle 11"/>
          <p:cNvSpPr/>
          <p:nvPr/>
        </p:nvSpPr>
        <p:spPr>
          <a:xfrm>
            <a:off x="6190488" y="1325880"/>
            <a:ext cx="5532120" cy="260604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399032"/>
            <a:ext cx="5202936" cy="228600"/>
          </a:xfrm>
          <a:prstGeom prst="rect">
            <a:avLst/>
          </a:prstGeom>
          <a:noFill/>
        </p:spPr>
        <p:txBody>
          <a:bodyPr wrap="square" lIns="0" tIns="0" rIns="0" bIns="0" anchor="t">
            <a:spAutoFit/>
          </a:bodyPr>
          <a:lstStyle/>
          <a:p>
            <a:pPr algn="l"/>
            <a:r>
              <a:rPr sz="1150" b="1" i="0">
                <a:solidFill>
                  <a:srgbClr val="6CFFC8"/>
                </a:solidFill>
                <a:latin typeface="Calibri"/>
              </a:rPr>
              <a:t>TravelBench (Cheng et al.)  ·  Renmin / NUS / AMAP</a:t>
            </a:r>
            <a:endParaRPr sz="1150" b="1" i="0">
              <a:solidFill>
                <a:srgbClr val="6CFFC8"/>
              </a:solidFill>
              <a:latin typeface="Calibri"/>
            </a:endParaRPr>
          </a:p>
        </p:txBody>
      </p:sp>
      <p:sp>
        <p:nvSpPr>
          <p:cNvPr id="14" name="TextBox 13"/>
          <p:cNvSpPr txBox="1"/>
          <p:nvPr/>
        </p:nvSpPr>
        <p:spPr>
          <a:xfrm>
            <a:off x="6355080" y="1627632"/>
            <a:ext cx="5202936" cy="201168"/>
          </a:xfrm>
          <a:prstGeom prst="rect">
            <a:avLst/>
          </a:prstGeom>
          <a:noFill/>
        </p:spPr>
        <p:txBody>
          <a:bodyPr wrap="square" lIns="0" tIns="0" rIns="0" bIns="0" anchor="t">
            <a:spAutoFit/>
          </a:bodyPr>
          <a:lstStyle/>
          <a:p>
            <a:pPr algn="l"/>
            <a:r>
              <a:rPr sz="850" b="0" i="0">
                <a:solidFill>
                  <a:srgbClr val="7878A0"/>
                </a:solidFill>
                <a:latin typeface="Consolas"/>
              </a:rPr>
              <a:t>arXiv 2512.22673 · Dec 2025</a:t>
            </a:r>
            <a:endParaRPr sz="850" b="0" i="0">
              <a:solidFill>
                <a:srgbClr val="7878A0"/>
              </a:solidFill>
              <a:latin typeface="Consolas"/>
            </a:endParaRPr>
          </a:p>
        </p:txBody>
      </p:sp>
      <p:sp>
        <p:nvSpPr>
          <p:cNvPr id="15" name="Rounded Rectangle 14"/>
          <p:cNvSpPr/>
          <p:nvPr/>
        </p:nvSpPr>
        <p:spPr>
          <a:xfrm>
            <a:off x="6355080" y="1874520"/>
            <a:ext cx="5202936" cy="96012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929384"/>
            <a:ext cx="5020056" cy="868680"/>
          </a:xfrm>
          <a:prstGeom prst="rect">
            <a:avLst/>
          </a:prstGeom>
          <a:noFill/>
        </p:spPr>
        <p:txBody>
          <a:bodyPr wrap="square" lIns="0" tIns="0" rIns="0" bIns="0" anchor="t">
            <a:spAutoFit/>
          </a:bodyPr>
          <a:lstStyle/>
          <a:p>
            <a:pPr algn="l"/>
            <a:r>
              <a:rPr sz="950" b="0" i="1">
                <a:solidFill>
                  <a:srgbClr val="E8E8F0"/>
                </a:solidFill>
                <a:latin typeface="Calibri"/>
              </a:rPr>
              <a:t>“Which railway station near 'Xinfeng West Station' is the nearest and the only railway station I can get off?”   (turn 2 of a multi-turn dialog)</a:t>
            </a:r>
            <a:endParaRPr sz="950" b="0" i="1">
              <a:solidFill>
                <a:srgbClr val="E8E8F0"/>
              </a:solidFill>
              <a:latin typeface="Calibri"/>
            </a:endParaRPr>
          </a:p>
        </p:txBody>
      </p:sp>
      <p:sp>
        <p:nvSpPr>
          <p:cNvPr id="17" name="TextBox 16"/>
          <p:cNvSpPr txBox="1"/>
          <p:nvPr/>
        </p:nvSpPr>
        <p:spPr>
          <a:xfrm>
            <a:off x="6355080" y="2926080"/>
            <a:ext cx="5202936" cy="201168"/>
          </a:xfrm>
          <a:prstGeom prst="rect">
            <a:avLst/>
          </a:prstGeom>
          <a:noFill/>
        </p:spPr>
        <p:txBody>
          <a:bodyPr wrap="square" lIns="0" tIns="0" rIns="0" bIns="0" anchor="t">
            <a:spAutoFit/>
          </a:bodyPr>
          <a:lstStyle/>
          <a:p>
            <a:pPr algn="l"/>
            <a:r>
              <a:rPr sz="900" b="1" i="0">
                <a:solidFill>
                  <a:srgbClr val="6CFFC8"/>
                </a:solidFill>
                <a:latin typeface="Consolas"/>
              </a:rPr>
              <a:t>THEIR GAP</a:t>
            </a:r>
            <a:endParaRPr sz="900" b="1" i="0">
              <a:solidFill>
                <a:srgbClr val="6CFFC8"/>
              </a:solidFill>
              <a:latin typeface="Consolas"/>
            </a:endParaRPr>
          </a:p>
        </p:txBody>
      </p:sp>
      <p:sp>
        <p:nvSpPr>
          <p:cNvPr id="18" name="TextBox 17"/>
          <p:cNvSpPr txBox="1"/>
          <p:nvPr/>
        </p:nvSpPr>
        <p:spPr>
          <a:xfrm>
            <a:off x="6355080" y="3127248"/>
            <a:ext cx="5202936" cy="777240"/>
          </a:xfrm>
          <a:prstGeom prst="rect">
            <a:avLst/>
          </a:prstGeom>
          <a:noFill/>
        </p:spPr>
        <p:txBody>
          <a:bodyPr wrap="square" lIns="0" tIns="0" rIns="0" bIns="0" anchor="t">
            <a:spAutoFit/>
          </a:bodyPr>
          <a:lstStyle/>
          <a:p>
            <a:pPr algn="l"/>
            <a:r>
              <a:rPr sz="950" b="0" i="0">
                <a:solidFill>
                  <a:srgbClr val="7878A0"/>
                </a:solidFill>
                <a:latin typeface="Calibri"/>
              </a:rPr>
              <a:t>Asks the agent to infer "nearest" + "only" implicitly. Scoring requires LLM-as-judge (κ=0.83) — reproducible but ungraded by code. No formal constraint engine.</a:t>
            </a:r>
            <a:endParaRPr sz="950" b="0" i="0">
              <a:solidFill>
                <a:srgbClr val="7878A0"/>
              </a:solidFill>
              <a:latin typeface="Calibri"/>
            </a:endParaRPr>
          </a:p>
        </p:txBody>
      </p:sp>
      <p:sp>
        <p:nvSpPr>
          <p:cNvPr id="19" name="Rounded Rectangle 18"/>
          <p:cNvSpPr/>
          <p:nvPr/>
        </p:nvSpPr>
        <p:spPr>
          <a:xfrm>
            <a:off x="548640" y="4041648"/>
            <a:ext cx="5532120" cy="2606040"/>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114800"/>
            <a:ext cx="5202936" cy="228600"/>
          </a:xfrm>
          <a:prstGeom prst="rect">
            <a:avLst/>
          </a:prstGeom>
          <a:noFill/>
        </p:spPr>
        <p:txBody>
          <a:bodyPr wrap="square" lIns="0" tIns="0" rIns="0" bIns="0" anchor="t">
            <a:spAutoFit/>
          </a:bodyPr>
          <a:lstStyle/>
          <a:p>
            <a:pPr algn="l"/>
            <a:r>
              <a:rPr sz="1150" b="1" i="0">
                <a:solidFill>
                  <a:srgbClr val="FFA84A"/>
                </a:solidFill>
                <a:latin typeface="Calibri"/>
              </a:rPr>
              <a:t>VitaBench  ·  Meituan LongCat</a:t>
            </a:r>
            <a:endParaRPr sz="1150" b="1" i="0">
              <a:solidFill>
                <a:srgbClr val="FFA84A"/>
              </a:solidFill>
              <a:latin typeface="Calibri"/>
            </a:endParaRPr>
          </a:p>
        </p:txBody>
      </p:sp>
      <p:sp>
        <p:nvSpPr>
          <p:cNvPr id="21" name="TextBox 20"/>
          <p:cNvSpPr txBox="1"/>
          <p:nvPr/>
        </p:nvSpPr>
        <p:spPr>
          <a:xfrm>
            <a:off x="713232" y="4343400"/>
            <a:ext cx="5202936" cy="201168"/>
          </a:xfrm>
          <a:prstGeom prst="rect">
            <a:avLst/>
          </a:prstGeom>
          <a:noFill/>
        </p:spPr>
        <p:txBody>
          <a:bodyPr wrap="square" lIns="0" tIns="0" rIns="0" bIns="0" anchor="t">
            <a:spAutoFit/>
          </a:bodyPr>
          <a:lstStyle/>
          <a:p>
            <a:pPr algn="l"/>
            <a:r>
              <a:rPr sz="850" b="0" i="0">
                <a:solidFill>
                  <a:srgbClr val="7878A0"/>
                </a:solidFill>
                <a:latin typeface="Consolas"/>
              </a:rPr>
              <a:t>arXiv 2509.26490 · Sep 2025</a:t>
            </a:r>
            <a:endParaRPr sz="850" b="0" i="0">
              <a:solidFill>
                <a:srgbClr val="7878A0"/>
              </a:solidFill>
              <a:latin typeface="Consolas"/>
            </a:endParaRPr>
          </a:p>
        </p:txBody>
      </p:sp>
      <p:sp>
        <p:nvSpPr>
          <p:cNvPr id="22" name="Rounded Rectangle 21"/>
          <p:cNvSpPr/>
          <p:nvPr/>
        </p:nvSpPr>
        <p:spPr>
          <a:xfrm>
            <a:off x="713232" y="4590288"/>
            <a:ext cx="5202936" cy="96012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645152"/>
            <a:ext cx="5020056" cy="868680"/>
          </a:xfrm>
          <a:prstGeom prst="rect">
            <a:avLst/>
          </a:prstGeom>
          <a:noFill/>
        </p:spPr>
        <p:txBody>
          <a:bodyPr wrap="square" lIns="0" tIns="0" rIns="0" bIns="0" anchor="t">
            <a:spAutoFit/>
          </a:bodyPr>
          <a:lstStyle/>
          <a:p>
            <a:pPr algn="l"/>
            <a:r>
              <a:rPr sz="950" b="0" i="1">
                <a:solidFill>
                  <a:srgbClr val="E8E8F0"/>
                </a:solidFill>
                <a:latin typeface="Calibri"/>
              </a:rPr>
              <a:t>“Book their usual hotel with river view, and a romantic dinner for him and his wife — $200 budget, near Huangpu River where they first met, 10th anniversary.”  Profile: age 35-45, dietary=non-spicy.</a:t>
            </a:r>
            <a:endParaRPr sz="950" b="0" i="1">
              <a:solidFill>
                <a:srgbClr val="E8E8F0"/>
              </a:solidFill>
              <a:latin typeface="Calibri"/>
            </a:endParaRPr>
          </a:p>
        </p:txBody>
      </p:sp>
      <p:sp>
        <p:nvSpPr>
          <p:cNvPr id="24" name="TextBox 23"/>
          <p:cNvSpPr txBox="1"/>
          <p:nvPr/>
        </p:nvSpPr>
        <p:spPr>
          <a:xfrm>
            <a:off x="713232" y="5641848"/>
            <a:ext cx="5202936" cy="201168"/>
          </a:xfrm>
          <a:prstGeom prst="rect">
            <a:avLst/>
          </a:prstGeom>
          <a:noFill/>
        </p:spPr>
        <p:txBody>
          <a:bodyPr wrap="square" lIns="0" tIns="0" rIns="0" bIns="0" anchor="t">
            <a:spAutoFit/>
          </a:bodyPr>
          <a:lstStyle/>
          <a:p>
            <a:pPr algn="l"/>
            <a:r>
              <a:rPr sz="900" b="1" i="0">
                <a:solidFill>
                  <a:srgbClr val="FFA84A"/>
                </a:solidFill>
                <a:latin typeface="Consolas"/>
              </a:rPr>
              <a:t>THEIR GAP</a:t>
            </a:r>
            <a:endParaRPr sz="900" b="1" i="0">
              <a:solidFill>
                <a:srgbClr val="FFA84A"/>
              </a:solidFill>
              <a:latin typeface="Consolas"/>
            </a:endParaRPr>
          </a:p>
        </p:txBody>
      </p:sp>
      <p:sp>
        <p:nvSpPr>
          <p:cNvPr id="25" name="TextBox 24"/>
          <p:cNvSpPr txBox="1"/>
          <p:nvPr/>
        </p:nvSpPr>
        <p:spPr>
          <a:xfrm>
            <a:off x="713232" y="5843016"/>
            <a:ext cx="5202936" cy="777240"/>
          </a:xfrm>
          <a:prstGeom prst="rect">
            <a:avLst/>
          </a:prstGeom>
          <a:noFill/>
        </p:spPr>
        <p:txBody>
          <a:bodyPr wrap="square" lIns="0" tIns="0" rIns="0" bIns="0" anchor="t">
            <a:spAutoFit/>
          </a:bodyPr>
          <a:lstStyle/>
          <a:p>
            <a:pPr algn="l"/>
            <a:r>
              <a:rPr sz="950" b="0" i="0">
                <a:solidFill>
                  <a:srgbClr val="7878A0"/>
                </a:solidFill>
                <a:latin typeface="Calibri"/>
              </a:rPr>
              <a:t>"Usual hotel" / "romantic" / "where they first met" all require profile inference + ambience judgment. Rubric items are atomic-binary (booked or not), not graded across a primitive vocabulary.</a:t>
            </a:r>
            <a:endParaRPr sz="950" b="0" i="0">
              <a:solidFill>
                <a:srgbClr val="7878A0"/>
              </a:solidFill>
              <a:latin typeface="Calibri"/>
            </a:endParaRPr>
          </a:p>
        </p:txBody>
      </p:sp>
      <p:sp>
        <p:nvSpPr>
          <p:cNvPr id="26" name="Rounded Rectangle 25"/>
          <p:cNvSpPr/>
          <p:nvPr/>
        </p:nvSpPr>
        <p:spPr>
          <a:xfrm>
            <a:off x="6190488" y="4041648"/>
            <a:ext cx="5532120" cy="2606040"/>
          </a:xfrm>
          <a:prstGeom prst="roundRect">
            <a:avLst>
              <a:gd name="adj" fmla="val 6000"/>
            </a:avLst>
          </a:prstGeom>
          <a:solidFill>
            <a:srgbClr val="12182E"/>
          </a:solidFill>
          <a:ln w="19050">
            <a:solidFill>
              <a:srgbClr val="FF6C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4114800"/>
            <a:ext cx="5202936" cy="228600"/>
          </a:xfrm>
          <a:prstGeom prst="rect">
            <a:avLst/>
          </a:prstGeom>
          <a:noFill/>
        </p:spPr>
        <p:txBody>
          <a:bodyPr wrap="square" lIns="0" tIns="0" rIns="0" bIns="0" anchor="t">
            <a:spAutoFit/>
          </a:bodyPr>
          <a:lstStyle/>
          <a:p>
            <a:pPr algn="l"/>
            <a:r>
              <a:rPr sz="1150" b="1" i="0">
                <a:solidFill>
                  <a:srgbClr val="FF6C8E"/>
                </a:solidFill>
                <a:latin typeface="Calibri"/>
              </a:rPr>
              <a:t>Ours  ·  TravelBench  ·  NYC Type 4</a:t>
            </a:r>
            <a:endParaRPr sz="1150" b="1" i="0">
              <a:solidFill>
                <a:srgbClr val="FF6C8E"/>
              </a:solidFill>
              <a:latin typeface="Calibri"/>
            </a:endParaRPr>
          </a:p>
        </p:txBody>
      </p:sp>
      <p:sp>
        <p:nvSpPr>
          <p:cNvPr id="28" name="TextBox 27"/>
          <p:cNvSpPr txBox="1"/>
          <p:nvPr/>
        </p:nvSpPr>
        <p:spPr>
          <a:xfrm>
            <a:off x="6355080" y="4343400"/>
            <a:ext cx="5202936" cy="201168"/>
          </a:xfrm>
          <a:prstGeom prst="rect">
            <a:avLst/>
          </a:prstGeom>
          <a:noFill/>
        </p:spPr>
        <p:txBody>
          <a:bodyPr wrap="square" lIns="0" tIns="0" rIns="0" bIns="0" anchor="t">
            <a:spAutoFit/>
          </a:bodyPr>
          <a:lstStyle/>
          <a:p>
            <a:pPr algn="l"/>
            <a:r>
              <a:rPr sz="850" b="0" i="0">
                <a:solidFill>
                  <a:srgbClr val="7878A0"/>
                </a:solidFill>
                <a:latin typeface="Consolas"/>
              </a:rPr>
              <a:t>Generated + tension-validated · scored by C/F/P engine</a:t>
            </a:r>
            <a:endParaRPr sz="850" b="0" i="0">
              <a:solidFill>
                <a:srgbClr val="7878A0"/>
              </a:solidFill>
              <a:latin typeface="Consolas"/>
            </a:endParaRPr>
          </a:p>
        </p:txBody>
      </p:sp>
      <p:sp>
        <p:nvSpPr>
          <p:cNvPr id="29" name="Rounded Rectangle 28"/>
          <p:cNvSpPr/>
          <p:nvPr/>
        </p:nvSpPr>
        <p:spPr>
          <a:xfrm>
            <a:off x="6355080" y="4590288"/>
            <a:ext cx="5202936" cy="96012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4645152"/>
            <a:ext cx="5020056" cy="868680"/>
          </a:xfrm>
          <a:prstGeom prst="rect">
            <a:avLst/>
          </a:prstGeom>
          <a:noFill/>
        </p:spPr>
        <p:txBody>
          <a:bodyPr wrap="square" lIns="0" tIns="0" rIns="0" bIns="0" anchor="t">
            <a:spAutoFit/>
          </a:bodyPr>
          <a:lstStyle/>
          <a:p>
            <a:pPr algn="l"/>
            <a:r>
              <a:rPr sz="950" b="0" i="1">
                <a:solidFill>
                  <a:srgbClr val="E8E8F0"/>
                </a:solidFill>
                <a:latin typeface="Calibri"/>
              </a:rPr>
              <a:t>“2-day NYC trip on a strict budget of $24 per day. Keep admission near zero with free-entry sights, avoid tourist traps, budget-priced meals only.”</a:t>
            </a:r>
            <a:endParaRPr sz="950" b="0" i="1">
              <a:solidFill>
                <a:srgbClr val="E8E8F0"/>
              </a:solidFill>
              <a:latin typeface="Calibri"/>
            </a:endParaRPr>
          </a:p>
        </p:txBody>
      </p:sp>
      <p:sp>
        <p:nvSpPr>
          <p:cNvPr id="31" name="TextBox 30"/>
          <p:cNvSpPr txBox="1"/>
          <p:nvPr/>
        </p:nvSpPr>
        <p:spPr>
          <a:xfrm>
            <a:off x="6355080" y="5641848"/>
            <a:ext cx="5202936" cy="201168"/>
          </a:xfrm>
          <a:prstGeom prst="rect">
            <a:avLst/>
          </a:prstGeom>
          <a:noFill/>
        </p:spPr>
        <p:txBody>
          <a:bodyPr wrap="square" lIns="0" tIns="0" rIns="0" bIns="0" anchor="t">
            <a:spAutoFit/>
          </a:bodyPr>
          <a:lstStyle/>
          <a:p>
            <a:pPr algn="l"/>
            <a:r>
              <a:rPr sz="900" b="1" i="0">
                <a:solidFill>
                  <a:srgbClr val="FF6C8E"/>
                </a:solidFill>
                <a:latin typeface="Consolas"/>
              </a:rPr>
              <a:t>OUR EDGE</a:t>
            </a:r>
            <a:endParaRPr sz="900" b="1" i="0">
              <a:solidFill>
                <a:srgbClr val="FF6C8E"/>
              </a:solidFill>
              <a:latin typeface="Consolas"/>
            </a:endParaRPr>
          </a:p>
        </p:txBody>
      </p:sp>
      <p:sp>
        <p:nvSpPr>
          <p:cNvPr id="32" name="TextBox 31"/>
          <p:cNvSpPr txBox="1"/>
          <p:nvPr/>
        </p:nvSpPr>
        <p:spPr>
          <a:xfrm>
            <a:off x="6355080" y="5843016"/>
            <a:ext cx="5202936" cy="777240"/>
          </a:xfrm>
          <a:prstGeom prst="rect">
            <a:avLst/>
          </a:prstGeom>
          <a:noFill/>
        </p:spPr>
        <p:txBody>
          <a:bodyPr wrap="square" lIns="0" tIns="0" rIns="0" bIns="0" anchor="t">
            <a:spAutoFit/>
          </a:bodyPr>
          <a:lstStyle/>
          <a:p>
            <a:pPr algn="l"/>
            <a:r>
              <a:rPr sz="950" b="0" i="0">
                <a:solidFill>
                  <a:srgbClr val="E8E8F0"/>
                </a:solidFill>
                <a:latin typeface="Calibri"/>
              </a:rPr>
              <a:t>All 4 constraints are per-day deterministic: sum ≤ $24 · all visits free-entry · none tourist-trap · all meals budget price_tier. Primitive variety the others don't have (sum + at_most + all + none). Code-graded, reproducible, traceable to a single phrase each.</a:t>
            </a:r>
            <a:endParaRPr sz="950" b="0" i="0">
              <a:solidFill>
                <a:srgbClr val="E8E8F0"/>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11  —  TASK-GENERATION SANDBOX</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First — what the agent is trying to produce</a:t>
            </a:r>
            <a:endParaRPr sz="2200" b="0" i="0">
              <a:solidFill>
                <a:srgbClr val="E8E8F0"/>
              </a:solidFill>
              <a:latin typeface="Georgia" panose="02040502050405090303"/>
            </a:endParaRPr>
          </a:p>
        </p:txBody>
      </p:sp>
      <p:sp>
        <p:nvSpPr>
          <p:cNvPr id="4" name="TextBox 3"/>
          <p:cNvSpPr txBox="1"/>
          <p:nvPr/>
        </p:nvSpPr>
        <p:spPr>
          <a:xfrm>
            <a:off x="548640" y="960120"/>
            <a:ext cx="10972800" cy="274320"/>
          </a:xfrm>
          <a:prstGeom prst="rect">
            <a:avLst/>
          </a:prstGeom>
          <a:noFill/>
        </p:spPr>
        <p:txBody>
          <a:bodyPr wrap="square" lIns="0" tIns="0" rIns="0" bIns="0" anchor="t">
            <a:spAutoFit/>
          </a:bodyPr>
          <a:lstStyle/>
          <a:p>
            <a:pPr algn="l"/>
            <a:r>
              <a:rPr sz="1200" b="0" i="1">
                <a:solidFill>
                  <a:srgbClr val="7878A0"/>
                </a:solidFill>
                <a:latin typeface="Calibri"/>
              </a:rPr>
              <a:t>The next 7 slides walk through the generation of this one task. Read it before watching the build.</a:t>
            </a:r>
            <a:endParaRPr sz="1200" b="0" i="1">
              <a:solidFill>
                <a:srgbClr val="7878A0"/>
              </a:solidFill>
              <a:latin typeface="Calibri"/>
            </a:endParaRPr>
          </a:p>
        </p:txBody>
      </p:sp>
      <p:sp>
        <p:nvSpPr>
          <p:cNvPr id="5" name="Rounded Rectangle 4"/>
          <p:cNvSpPr/>
          <p:nvPr/>
        </p:nvSpPr>
        <p:spPr>
          <a:xfrm>
            <a:off x="548640" y="1508760"/>
            <a:ext cx="11064240" cy="502920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10698480" cy="274320"/>
          </a:xfrm>
          <a:prstGeom prst="rect">
            <a:avLst/>
          </a:prstGeom>
          <a:noFill/>
        </p:spPr>
        <p:txBody>
          <a:bodyPr wrap="square" lIns="0" tIns="0" rIns="0" bIns="0" anchor="t">
            <a:spAutoFit/>
          </a:bodyPr>
          <a:lstStyle/>
          <a:p>
            <a:pPr algn="l"/>
            <a:r>
              <a:rPr sz="1000" b="1" i="0">
                <a:solidFill>
                  <a:srgbClr val="6CFFC8"/>
                </a:solidFill>
                <a:latin typeface="Consolas"/>
              </a:rPr>
              <a:t>GENERATED TASK</a:t>
            </a:r>
            <a:endParaRPr sz="1000" b="1" i="0">
              <a:solidFill>
                <a:srgbClr val="6CFFC8"/>
              </a:solidFill>
              <a:latin typeface="Consolas"/>
            </a:endParaRPr>
          </a:p>
        </p:txBody>
      </p:sp>
      <p:sp>
        <p:nvSpPr>
          <p:cNvPr id="7" name="TextBox 6"/>
          <p:cNvSpPr txBox="1"/>
          <p:nvPr/>
        </p:nvSpPr>
        <p:spPr>
          <a:xfrm>
            <a:off x="731520" y="1920240"/>
            <a:ext cx="10698480" cy="274320"/>
          </a:xfrm>
          <a:prstGeom prst="rect">
            <a:avLst/>
          </a:prstGeom>
          <a:noFill/>
        </p:spPr>
        <p:txBody>
          <a:bodyPr wrap="square" lIns="0" tIns="0" rIns="0" bIns="0" anchor="t">
            <a:spAutoFit/>
          </a:bodyPr>
          <a:lstStyle/>
          <a:p>
            <a:pPr algn="l"/>
            <a:r>
              <a:rPr sz="1000" b="0" i="0">
                <a:solidFill>
                  <a:srgbClr val="7878A0"/>
                </a:solidFill>
                <a:latin typeface="Consolas"/>
              </a:rPr>
              <a:t>task_id  </a:t>
            </a:r>
            <a:r>
              <a:rPr sz="1100" b="1" i="0">
                <a:solidFill>
                  <a:srgbClr val="E8E8F0"/>
                </a:solidFill>
                <a:latin typeface="Consolas"/>
              </a:rPr>
              <a:t>gpt_5_4_new_york_type4_20260521_1779375371</a:t>
            </a:r>
            <a:endParaRPr sz="1100" b="1" i="0">
              <a:solidFill>
                <a:srgbClr val="E8E8F0"/>
              </a:solidFill>
              <a:latin typeface="Consolas"/>
            </a:endParaRPr>
          </a:p>
        </p:txBody>
      </p:sp>
      <p:sp>
        <p:nvSpPr>
          <p:cNvPr id="8" name="TextBox 7"/>
          <p:cNvSpPr txBox="1"/>
          <p:nvPr/>
        </p:nvSpPr>
        <p:spPr>
          <a:xfrm>
            <a:off x="731520" y="2194560"/>
            <a:ext cx="10698480" cy="274320"/>
          </a:xfrm>
          <a:prstGeom prst="rect">
            <a:avLst/>
          </a:prstGeom>
          <a:noFill/>
        </p:spPr>
        <p:txBody>
          <a:bodyPr wrap="square" lIns="0" tIns="0" rIns="0" bIns="0" anchor="t">
            <a:spAutoFit/>
          </a:bodyPr>
          <a:lstStyle/>
          <a:p>
            <a:pPr algn="l"/>
            <a:r>
              <a:rPr sz="1000" b="0" i="0">
                <a:solidFill>
                  <a:srgbClr val="7878A0"/>
                </a:solidFill>
                <a:latin typeface="Consolas"/>
              </a:rPr>
              <a:t>type     </a:t>
            </a:r>
            <a:r>
              <a:rPr sz="1100" b="1" i="0">
                <a:solidFill>
                  <a:srgbClr val="FFA84A"/>
                </a:solidFill>
                <a:latin typeface="Consolas"/>
              </a:rPr>
              <a:t>type4_precision_allocation</a:t>
            </a:r>
            <a:r>
              <a:rPr sz="1000" b="0" i="0">
                <a:solidFill>
                  <a:srgbClr val="7878A0"/>
                </a:solidFill>
                <a:latin typeface="Consolas"/>
              </a:rPr>
              <a:t>    window  </a:t>
            </a:r>
            <a:r>
              <a:rPr sz="1100" b="0" i="0">
                <a:solidFill>
                  <a:srgbClr val="E8E8F0"/>
                </a:solidFill>
                <a:latin typeface="Consolas"/>
              </a:rPr>
              <a:t>Independence Day 2026  (Jul 3–4)</a:t>
            </a:r>
            <a:r>
              <a:rPr sz="1000" b="0" i="0">
                <a:solidFill>
                  <a:srgbClr val="7878A0"/>
                </a:solidFill>
                <a:latin typeface="Consolas"/>
              </a:rPr>
              <a:t>    days  </a:t>
            </a:r>
            <a:r>
              <a:rPr sz="1100" b="1" i="0">
                <a:solidFill>
                  <a:srgbClr val="E8E8F0"/>
                </a:solidFill>
                <a:latin typeface="Consolas"/>
              </a:rPr>
              <a:t>2</a:t>
            </a:r>
            <a:r>
              <a:rPr sz="1000" b="0" i="0">
                <a:solidFill>
                  <a:srgbClr val="7878A0"/>
                </a:solidFill>
                <a:latin typeface="Consolas"/>
              </a:rPr>
              <a:t>    budget  </a:t>
            </a:r>
            <a:r>
              <a:rPr sz="1100" b="1" i="0">
                <a:solidFill>
                  <a:srgbClr val="6CFFC8"/>
                </a:solidFill>
                <a:latin typeface="Consolas"/>
              </a:rPr>
              <a:t>$24/day</a:t>
            </a:r>
            <a:endParaRPr sz="1100" b="1" i="0">
              <a:solidFill>
                <a:srgbClr val="6CFFC8"/>
              </a:solidFill>
              <a:latin typeface="Consolas"/>
            </a:endParaRPr>
          </a:p>
        </p:txBody>
      </p:sp>
      <p:sp>
        <p:nvSpPr>
          <p:cNvPr id="9" name="TextBox 8"/>
          <p:cNvSpPr txBox="1"/>
          <p:nvPr/>
        </p:nvSpPr>
        <p:spPr>
          <a:xfrm>
            <a:off x="731520" y="2606040"/>
            <a:ext cx="10698480" cy="274320"/>
          </a:xfrm>
          <a:prstGeom prst="rect">
            <a:avLst/>
          </a:prstGeom>
          <a:noFill/>
        </p:spPr>
        <p:txBody>
          <a:bodyPr wrap="square" lIns="0" tIns="0" rIns="0" bIns="0" anchor="t">
            <a:spAutoFit/>
          </a:bodyPr>
          <a:lstStyle/>
          <a:p>
            <a:pPr algn="l"/>
            <a:r>
              <a:rPr sz="1000" b="0" i="0">
                <a:solidFill>
                  <a:srgbClr val="7878A0"/>
                </a:solidFill>
                <a:latin typeface="Consolas"/>
              </a:rPr>
              <a:t>public_input.query  ·  the only field the solving agent sees:</a:t>
            </a:r>
            <a:endParaRPr sz="1000" b="0" i="0">
              <a:solidFill>
                <a:srgbClr val="7878A0"/>
              </a:solidFill>
              <a:latin typeface="Consolas"/>
            </a:endParaRPr>
          </a:p>
        </p:txBody>
      </p:sp>
      <p:sp>
        <p:nvSpPr>
          <p:cNvPr id="10" name="Rounded Rectangle 9"/>
          <p:cNvSpPr/>
          <p:nvPr/>
        </p:nvSpPr>
        <p:spPr>
          <a:xfrm>
            <a:off x="731520" y="2880360"/>
            <a:ext cx="10698480" cy="86868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971800"/>
            <a:ext cx="10332720" cy="777240"/>
          </a:xfrm>
          <a:prstGeom prst="rect">
            <a:avLst/>
          </a:prstGeom>
          <a:noFill/>
        </p:spPr>
        <p:txBody>
          <a:bodyPr wrap="square" lIns="0" tIns="0" rIns="0" bIns="0" anchor="t">
            <a:spAutoFit/>
          </a:bodyPr>
          <a:lstStyle/>
          <a:p>
            <a:pPr algn="l"/>
            <a:r>
              <a:rPr sz="1400" b="0" i="1">
                <a:solidFill>
                  <a:srgbClr val="E8E8F0"/>
                </a:solidFill>
                <a:latin typeface="Georgia" panose="02040502050405090303"/>
              </a:rPr>
              <a:t>“I'm doing a 2-day New York trip over Independence Day weekend on a strict budget of $24 per day. I want to keep admission costs near zero by using free-entry sights, I want to avoid tourist traps, and I only want budget-priced meals.”</a:t>
            </a:r>
            <a:endParaRPr sz="1400" b="0" i="1">
              <a:solidFill>
                <a:srgbClr val="E8E8F0"/>
              </a:solidFill>
              <a:latin typeface="Georgia" panose="02040502050405090303"/>
            </a:endParaRPr>
          </a:p>
        </p:txBody>
      </p:sp>
      <p:sp>
        <p:nvSpPr>
          <p:cNvPr id="12" name="TextBox 11"/>
          <p:cNvSpPr txBox="1"/>
          <p:nvPr/>
        </p:nvSpPr>
        <p:spPr>
          <a:xfrm>
            <a:off x="731520" y="3931920"/>
            <a:ext cx="10698480" cy="274320"/>
          </a:xfrm>
          <a:prstGeom prst="rect">
            <a:avLst/>
          </a:prstGeom>
          <a:noFill/>
        </p:spPr>
        <p:txBody>
          <a:bodyPr wrap="square" lIns="0" tIns="0" rIns="0" bIns="0" anchor="t">
            <a:spAutoFit/>
          </a:bodyPr>
          <a:lstStyle/>
          <a:p>
            <a:pPr algn="l"/>
            <a:r>
              <a:rPr sz="1000" b="0" i="0">
                <a:solidFill>
                  <a:srgbClr val="7878A0"/>
                </a:solidFill>
                <a:latin typeface="Consolas"/>
              </a:rPr>
              <a:t>rubric.personal_constraints  ·  the hidden rubric:</a:t>
            </a:r>
            <a:endParaRPr sz="1000" b="0" i="0">
              <a:solidFill>
                <a:srgbClr val="7878A0"/>
              </a:solidFill>
              <a:latin typeface="Consolas"/>
            </a:endParaRPr>
          </a:p>
        </p:txBody>
      </p:sp>
      <p:sp>
        <p:nvSpPr>
          <p:cNvPr id="13" name="Rounded Rectangle 12"/>
          <p:cNvSpPr/>
          <p:nvPr/>
        </p:nvSpPr>
        <p:spPr>
          <a:xfrm>
            <a:off x="731520" y="4206240"/>
            <a:ext cx="1069848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270248"/>
            <a:ext cx="10424160" cy="228600"/>
          </a:xfrm>
          <a:prstGeom prst="rect">
            <a:avLst/>
          </a:prstGeom>
          <a:noFill/>
        </p:spPr>
        <p:txBody>
          <a:bodyPr wrap="square" lIns="0" tIns="0" rIns="0" bIns="0" anchor="t">
            <a:spAutoFit/>
          </a:bodyPr>
          <a:lstStyle/>
          <a:p>
            <a:pPr algn="l"/>
            <a:r>
              <a:rPr sz="1000" b="1" i="0">
                <a:solidFill>
                  <a:srgbClr val="6C8EFF"/>
                </a:solidFill>
                <a:latin typeface="Consolas"/>
              </a:rPr>
              <a:t>pc_001</a:t>
            </a:r>
            <a:r>
              <a:rPr sz="1000" b="0" i="0">
                <a:solidFill>
                  <a:srgbClr val="E8E8F0"/>
                </a:solidFill>
                <a:latin typeface="Calibri"/>
              </a:rPr>
              <a:t>   </a:t>
            </a:r>
            <a:r>
              <a:rPr sz="900" b="0" i="0">
                <a:solidFill>
                  <a:srgbClr val="FFA84A"/>
                </a:solidFill>
                <a:latin typeface="Consolas"/>
              </a:rPr>
              <a:t>[hop-2]</a:t>
            </a:r>
            <a:r>
              <a:rPr sz="1000" b="0" i="0">
                <a:solidFill>
                  <a:srgbClr val="E8E8F0"/>
                </a:solidFill>
                <a:latin typeface="Calibri"/>
              </a:rPr>
              <a:t>   </a:t>
            </a:r>
            <a:r>
              <a:rPr sz="1100" b="0" i="0">
                <a:solidFill>
                  <a:srgbClr val="E8E8F0"/>
                </a:solidFill>
                <a:latin typeface="Calibri"/>
              </a:rPr>
              <a:t>Total estimated cost per day must stay within the $24 budget</a:t>
            </a:r>
            <a:endParaRPr sz="1100" b="0" i="0">
              <a:solidFill>
                <a:srgbClr val="E8E8F0"/>
              </a:solidFill>
              <a:latin typeface="Calibri"/>
            </a:endParaRPr>
          </a:p>
        </p:txBody>
      </p:sp>
      <p:sp>
        <p:nvSpPr>
          <p:cNvPr id="15" name="TextBox 14"/>
          <p:cNvSpPr txBox="1"/>
          <p:nvPr/>
        </p:nvSpPr>
        <p:spPr>
          <a:xfrm>
            <a:off x="868680" y="4489704"/>
            <a:ext cx="10424160" cy="201168"/>
          </a:xfrm>
          <a:prstGeom prst="rect">
            <a:avLst/>
          </a:prstGeom>
          <a:noFill/>
        </p:spPr>
        <p:txBody>
          <a:bodyPr wrap="square" lIns="0" tIns="0" rIns="0" bIns="0" anchor="t">
            <a:spAutoFit/>
          </a:bodyPr>
          <a:lstStyle/>
          <a:p>
            <a:pPr algn="l"/>
            <a:r>
              <a:rPr sz="950" b="0" i="0">
                <a:solidFill>
                  <a:srgbClr val="7878A0"/>
                </a:solidFill>
                <a:latin typeface="Consolas"/>
              </a:rPr>
              <a:t>sum: estimated_cost_local · operator: &lt;=  · value: 24  · scope: per_day</a:t>
            </a:r>
            <a:endParaRPr sz="950" b="0" i="0">
              <a:solidFill>
                <a:srgbClr val="7878A0"/>
              </a:solidFill>
              <a:latin typeface="Consolas"/>
            </a:endParaRPr>
          </a:p>
        </p:txBody>
      </p:sp>
      <p:sp>
        <p:nvSpPr>
          <p:cNvPr id="16" name="Rounded Rectangle 15"/>
          <p:cNvSpPr/>
          <p:nvPr/>
        </p:nvSpPr>
        <p:spPr>
          <a:xfrm>
            <a:off x="731520" y="4754880"/>
            <a:ext cx="1069848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18888"/>
            <a:ext cx="10424160" cy="228600"/>
          </a:xfrm>
          <a:prstGeom prst="rect">
            <a:avLst/>
          </a:prstGeom>
          <a:noFill/>
        </p:spPr>
        <p:txBody>
          <a:bodyPr wrap="square" lIns="0" tIns="0" rIns="0" bIns="0" anchor="t">
            <a:spAutoFit/>
          </a:bodyPr>
          <a:lstStyle/>
          <a:p>
            <a:pPr algn="l"/>
            <a:r>
              <a:rPr sz="1000" b="1" i="0">
                <a:solidFill>
                  <a:srgbClr val="6C8EFF"/>
                </a:solidFill>
                <a:latin typeface="Consolas"/>
              </a:rPr>
              <a:t>pc_002</a:t>
            </a:r>
            <a:r>
              <a:rPr sz="1000" b="0" i="0">
                <a:solidFill>
                  <a:srgbClr val="E8E8F0"/>
                </a:solidFill>
                <a:latin typeface="Calibri"/>
              </a:rPr>
              <a:t>   </a:t>
            </a:r>
            <a:r>
              <a:rPr sz="900" b="0" i="0">
                <a:solidFill>
                  <a:srgbClr val="FFA84A"/>
                </a:solidFill>
                <a:latin typeface="Consolas"/>
              </a:rPr>
              <a:t>[hop-1]</a:t>
            </a:r>
            <a:r>
              <a:rPr sz="1000" b="0" i="0">
                <a:solidFill>
                  <a:srgbClr val="E8E8F0"/>
                </a:solidFill>
                <a:latin typeface="Calibri"/>
              </a:rPr>
              <a:t>   </a:t>
            </a:r>
            <a:r>
              <a:rPr sz="1100" b="0" i="0">
                <a:solidFill>
                  <a:srgbClr val="E8E8F0"/>
                </a:solidFill>
                <a:latin typeface="Calibri"/>
              </a:rPr>
              <a:t>All visit activities must be at free-entry venues</a:t>
            </a:r>
            <a:endParaRPr sz="1100" b="0" i="0">
              <a:solidFill>
                <a:srgbClr val="E8E8F0"/>
              </a:solidFill>
              <a:latin typeface="Calibri"/>
            </a:endParaRPr>
          </a:p>
        </p:txBody>
      </p:sp>
      <p:sp>
        <p:nvSpPr>
          <p:cNvPr id="18" name="TextBox 17"/>
          <p:cNvSpPr txBox="1"/>
          <p:nvPr/>
        </p:nvSpPr>
        <p:spPr>
          <a:xfrm>
            <a:off x="868680" y="5038344"/>
            <a:ext cx="10424160" cy="201168"/>
          </a:xfrm>
          <a:prstGeom prst="rect">
            <a:avLst/>
          </a:prstGeom>
          <a:noFill/>
        </p:spPr>
        <p:txBody>
          <a:bodyPr wrap="square" lIns="0" tIns="0" rIns="0" bIns="0" anchor="t">
            <a:spAutoFit/>
          </a:bodyPr>
          <a:lstStyle/>
          <a:p>
            <a:pPr algn="l"/>
            <a:r>
              <a:rPr sz="950" b="0" i="0">
                <a:solidFill>
                  <a:srgbClr val="7878A0"/>
                </a:solidFill>
                <a:latin typeface="Consolas"/>
              </a:rPr>
              <a:t>all  ·  scope: activity_type=visit  ·  condition: has_tag = free-entry</a:t>
            </a:r>
            <a:endParaRPr sz="950" b="0" i="0">
              <a:solidFill>
                <a:srgbClr val="7878A0"/>
              </a:solidFill>
              <a:latin typeface="Consolas"/>
            </a:endParaRPr>
          </a:p>
        </p:txBody>
      </p:sp>
      <p:sp>
        <p:nvSpPr>
          <p:cNvPr id="19" name="Rounded Rectangle 18"/>
          <p:cNvSpPr/>
          <p:nvPr/>
        </p:nvSpPr>
        <p:spPr>
          <a:xfrm>
            <a:off x="731520" y="5303520"/>
            <a:ext cx="1069848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367528"/>
            <a:ext cx="10424160" cy="228600"/>
          </a:xfrm>
          <a:prstGeom prst="rect">
            <a:avLst/>
          </a:prstGeom>
          <a:noFill/>
        </p:spPr>
        <p:txBody>
          <a:bodyPr wrap="square" lIns="0" tIns="0" rIns="0" bIns="0" anchor="t">
            <a:spAutoFit/>
          </a:bodyPr>
          <a:lstStyle/>
          <a:p>
            <a:pPr algn="l"/>
            <a:r>
              <a:rPr sz="1000" b="1" i="0">
                <a:solidFill>
                  <a:srgbClr val="6C8EFF"/>
                </a:solidFill>
                <a:latin typeface="Consolas"/>
              </a:rPr>
              <a:t>pc_003</a:t>
            </a:r>
            <a:r>
              <a:rPr sz="1000" b="0" i="0">
                <a:solidFill>
                  <a:srgbClr val="E8E8F0"/>
                </a:solidFill>
                <a:latin typeface="Calibri"/>
              </a:rPr>
              <a:t>   </a:t>
            </a:r>
            <a:r>
              <a:rPr sz="900" b="0" i="0">
                <a:solidFill>
                  <a:srgbClr val="FFA84A"/>
                </a:solidFill>
                <a:latin typeface="Consolas"/>
              </a:rPr>
              <a:t>[hop-2]</a:t>
            </a:r>
            <a:r>
              <a:rPr sz="1000" b="0" i="0">
                <a:solidFill>
                  <a:srgbClr val="E8E8F0"/>
                </a:solidFill>
                <a:latin typeface="Calibri"/>
              </a:rPr>
              <a:t>   </a:t>
            </a:r>
            <a:r>
              <a:rPr sz="1100" b="0" i="0">
                <a:solidFill>
                  <a:srgbClr val="E8E8F0"/>
                </a:solidFill>
                <a:latin typeface="Calibri"/>
              </a:rPr>
              <a:t>No venue in the plan may be tagged as a tourist trap</a:t>
            </a:r>
            <a:endParaRPr sz="1100" b="0" i="0">
              <a:solidFill>
                <a:srgbClr val="E8E8F0"/>
              </a:solidFill>
              <a:latin typeface="Calibri"/>
            </a:endParaRPr>
          </a:p>
        </p:txBody>
      </p:sp>
      <p:sp>
        <p:nvSpPr>
          <p:cNvPr id="21" name="TextBox 20"/>
          <p:cNvSpPr txBox="1"/>
          <p:nvPr/>
        </p:nvSpPr>
        <p:spPr>
          <a:xfrm>
            <a:off x="868680" y="5586984"/>
            <a:ext cx="10424160" cy="201168"/>
          </a:xfrm>
          <a:prstGeom prst="rect">
            <a:avLst/>
          </a:prstGeom>
          <a:noFill/>
        </p:spPr>
        <p:txBody>
          <a:bodyPr wrap="square" lIns="0" tIns="0" rIns="0" bIns="0" anchor="t">
            <a:spAutoFit/>
          </a:bodyPr>
          <a:lstStyle/>
          <a:p>
            <a:pPr algn="l"/>
            <a:r>
              <a:rPr sz="950" b="0" i="0">
                <a:solidFill>
                  <a:srgbClr val="7878A0"/>
                </a:solidFill>
                <a:latin typeface="Consolas"/>
              </a:rPr>
              <a:t>none  ·  scope: all  ·  condition: has_tag = tourist-trap</a:t>
            </a:r>
            <a:endParaRPr sz="950" b="0" i="0">
              <a:solidFill>
                <a:srgbClr val="7878A0"/>
              </a:solidFill>
              <a:latin typeface="Consolas"/>
            </a:endParaRPr>
          </a:p>
        </p:txBody>
      </p:sp>
      <p:sp>
        <p:nvSpPr>
          <p:cNvPr id="22" name="Rounded Rectangle 21"/>
          <p:cNvSpPr/>
          <p:nvPr/>
        </p:nvSpPr>
        <p:spPr>
          <a:xfrm>
            <a:off x="731520" y="5852160"/>
            <a:ext cx="1069848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916168"/>
            <a:ext cx="10424160" cy="228600"/>
          </a:xfrm>
          <a:prstGeom prst="rect">
            <a:avLst/>
          </a:prstGeom>
          <a:noFill/>
        </p:spPr>
        <p:txBody>
          <a:bodyPr wrap="square" lIns="0" tIns="0" rIns="0" bIns="0" anchor="t">
            <a:spAutoFit/>
          </a:bodyPr>
          <a:lstStyle/>
          <a:p>
            <a:pPr algn="l"/>
            <a:r>
              <a:rPr sz="1000" b="1" i="0">
                <a:solidFill>
                  <a:srgbClr val="6C8EFF"/>
                </a:solidFill>
                <a:latin typeface="Consolas"/>
              </a:rPr>
              <a:t>pc_004</a:t>
            </a:r>
            <a:r>
              <a:rPr sz="1000" b="0" i="0">
                <a:solidFill>
                  <a:srgbClr val="E8E8F0"/>
                </a:solidFill>
                <a:latin typeface="Calibri"/>
              </a:rPr>
              <a:t>   </a:t>
            </a:r>
            <a:r>
              <a:rPr sz="900" b="0" i="0">
                <a:solidFill>
                  <a:srgbClr val="FFA84A"/>
                </a:solidFill>
                <a:latin typeface="Consolas"/>
              </a:rPr>
              <a:t>[hop-1]</a:t>
            </a:r>
            <a:r>
              <a:rPr sz="1000" b="0" i="0">
                <a:solidFill>
                  <a:srgbClr val="E8E8F0"/>
                </a:solidFill>
                <a:latin typeface="Calibri"/>
              </a:rPr>
              <a:t>   </a:t>
            </a:r>
            <a:r>
              <a:rPr sz="1100" b="0" i="0">
                <a:solidFill>
                  <a:srgbClr val="E8E8F0"/>
                </a:solidFill>
                <a:latin typeface="Calibri"/>
              </a:rPr>
              <a:t>All meal activities must be at budget-priced venues</a:t>
            </a:r>
            <a:endParaRPr sz="1100" b="0" i="0">
              <a:solidFill>
                <a:srgbClr val="E8E8F0"/>
              </a:solidFill>
              <a:latin typeface="Calibri"/>
            </a:endParaRPr>
          </a:p>
        </p:txBody>
      </p:sp>
      <p:sp>
        <p:nvSpPr>
          <p:cNvPr id="24" name="TextBox 23"/>
          <p:cNvSpPr txBox="1"/>
          <p:nvPr/>
        </p:nvSpPr>
        <p:spPr>
          <a:xfrm>
            <a:off x="868680" y="6135624"/>
            <a:ext cx="10424160" cy="201168"/>
          </a:xfrm>
          <a:prstGeom prst="rect">
            <a:avLst/>
          </a:prstGeom>
          <a:noFill/>
        </p:spPr>
        <p:txBody>
          <a:bodyPr wrap="square" lIns="0" tIns="0" rIns="0" bIns="0" anchor="t">
            <a:spAutoFit/>
          </a:bodyPr>
          <a:lstStyle/>
          <a:p>
            <a:pPr algn="l"/>
            <a:r>
              <a:rPr sz="950" b="0" i="0">
                <a:solidFill>
                  <a:srgbClr val="7878A0"/>
                </a:solidFill>
                <a:latin typeface="Consolas"/>
              </a:rPr>
              <a:t>all  ·  scope: activity_type=meal  ·  condition: price_tier &lt;= budget</a:t>
            </a:r>
            <a:endParaRPr sz="950" b="0" i="0">
              <a:solidFill>
                <a:srgbClr val="7878A0"/>
              </a:solidFill>
              <a:latin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11  —  TASK-GENERATION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NYC Type 4  ·  Free-Entry Maximiser  ·  GPT-5.4</a:t>
            </a:r>
            <a:endParaRPr sz="2400" b="0" i="0">
              <a:solidFill>
                <a:srgbClr val="E8E8F0"/>
              </a:solidFill>
              <a:latin typeface="Georgia" panose="02040502050405090303"/>
            </a:endParaRPr>
          </a:p>
        </p:txBody>
      </p:sp>
      <p:sp>
        <p:nvSpPr>
          <p:cNvPr id="4" name="TextBox 3"/>
          <p:cNvSpPr txBox="1"/>
          <p:nvPr/>
        </p:nvSpPr>
        <p:spPr>
          <a:xfrm>
            <a:off x="548640" y="114300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1 / 7  —  Read the handbook</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GENERATION TOOLS</a:t>
            </a:r>
            <a:endParaRPr sz="900" b="0" i="0">
              <a:solidFill>
                <a:srgbClr val="7878A0"/>
              </a:solidFill>
              <a:latin typeface="Consolas"/>
            </a:endParaRPr>
          </a:p>
        </p:txBody>
      </p:sp>
      <p:sp>
        <p:nvSpPr>
          <p:cNvPr id="6" name="Rounded Rectangle 5"/>
          <p:cNvSpPr/>
          <p:nvPr/>
        </p:nvSpPr>
        <p:spPr>
          <a:xfrm>
            <a:off x="548640" y="201168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84832"/>
            <a:ext cx="2103120" cy="228600"/>
          </a:xfrm>
          <a:prstGeom prst="rect">
            <a:avLst/>
          </a:prstGeom>
          <a:noFill/>
        </p:spPr>
        <p:txBody>
          <a:bodyPr wrap="square" lIns="0" tIns="0" rIns="0" bIns="0" anchor="t">
            <a:spAutoFit/>
          </a:bodyPr>
          <a:lstStyle/>
          <a:p>
            <a:pPr algn="l"/>
            <a:r>
              <a:rPr sz="1000" b="1" i="0">
                <a:solidFill>
                  <a:srgbClr val="6C8EFF"/>
                </a:solidFill>
                <a:latin typeface="Consolas"/>
              </a:rPr>
              <a:t>HELP</a:t>
            </a:r>
            <a:endParaRPr sz="1000" b="1" i="0">
              <a:solidFill>
                <a:srgbClr val="6C8EFF"/>
              </a:solidFill>
              <a:latin typeface="Consolas"/>
            </a:endParaRPr>
          </a:p>
        </p:txBody>
      </p:sp>
      <p:sp>
        <p:nvSpPr>
          <p:cNvPr id="8" name="TextBox 7"/>
          <p:cNvSpPr txBox="1"/>
          <p:nvPr/>
        </p:nvSpPr>
        <p:spPr>
          <a:xfrm>
            <a:off x="685800" y="2304288"/>
            <a:ext cx="2103120" cy="457200"/>
          </a:xfrm>
          <a:prstGeom prst="rect">
            <a:avLst/>
          </a:prstGeom>
          <a:noFill/>
        </p:spPr>
        <p:txBody>
          <a:bodyPr wrap="square" lIns="0" tIns="0" rIns="0" bIns="0" anchor="t">
            <a:spAutoFit/>
          </a:bodyPr>
          <a:lstStyle/>
          <a:p>
            <a:pPr algn="l"/>
            <a:r>
              <a:rPr sz="850" b="0" i="0">
                <a:solidFill>
                  <a:srgbClr val="7878A0"/>
                </a:solidFill>
                <a:latin typeface="Calibri"/>
              </a:rPr>
              <a:t>Query the pool handbook — tags, regulations, validation rules</a:t>
            </a:r>
            <a:endParaRPr sz="850" b="0" i="0">
              <a:solidFill>
                <a:srgbClr val="7878A0"/>
              </a:solidFill>
              <a:latin typeface="Calibri"/>
            </a:endParaRPr>
          </a:p>
        </p:txBody>
      </p:sp>
      <p:sp>
        <p:nvSpPr>
          <p:cNvPr id="9" name="Rounded Rectangle 8"/>
          <p:cNvSpPr/>
          <p:nvPr/>
        </p:nvSpPr>
        <p:spPr>
          <a:xfrm>
            <a:off x="548640" y="283464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907792"/>
            <a:ext cx="2103120" cy="228600"/>
          </a:xfrm>
          <a:prstGeom prst="rect">
            <a:avLst/>
          </a:prstGeom>
          <a:noFill/>
        </p:spPr>
        <p:txBody>
          <a:bodyPr wrap="square" lIns="0" tIns="0" rIns="0" bIns="0" anchor="t">
            <a:spAutoFit/>
          </a:bodyPr>
          <a:lstStyle/>
          <a:p>
            <a:pPr algn="l"/>
            <a:r>
              <a:rPr sz="1000" b="1" i="0">
                <a:solidFill>
                  <a:srgbClr val="C87EFF"/>
                </a:solidFill>
                <a:latin typeface="Consolas"/>
              </a:rPr>
              <a:t>THINK</a:t>
            </a:r>
            <a:endParaRPr sz="1000" b="1" i="0">
              <a:solidFill>
                <a:srgbClr val="C87EFF"/>
              </a:solidFill>
              <a:latin typeface="Consolas"/>
            </a:endParaRPr>
          </a:p>
        </p:txBody>
      </p:sp>
      <p:sp>
        <p:nvSpPr>
          <p:cNvPr id="11" name="TextBox 10"/>
          <p:cNvSpPr txBox="1"/>
          <p:nvPr/>
        </p:nvSpPr>
        <p:spPr>
          <a:xfrm>
            <a:off x="685800" y="3127248"/>
            <a:ext cx="2103120" cy="457200"/>
          </a:xfrm>
          <a:prstGeom prst="rect">
            <a:avLst/>
          </a:prstGeom>
          <a:noFill/>
        </p:spPr>
        <p:txBody>
          <a:bodyPr wrap="square" lIns="0" tIns="0" rIns="0" bIns="0" anchor="t">
            <a:spAutoFit/>
          </a:bodyPr>
          <a:lstStyle/>
          <a:p>
            <a:pPr algn="l"/>
            <a:r>
              <a:rPr sz="850" b="0" i="0">
                <a:solidFill>
                  <a:srgbClr val="7878A0"/>
                </a:solidFill>
                <a:latin typeface="Calibri"/>
              </a:rPr>
              <a:t>Internal reasoning — persona, constraint strategy, solvability</a:t>
            </a:r>
            <a:endParaRPr sz="850" b="0" i="0">
              <a:solidFill>
                <a:srgbClr val="7878A0"/>
              </a:solidFill>
              <a:latin typeface="Calibri"/>
            </a:endParaRPr>
          </a:p>
        </p:txBody>
      </p:sp>
      <p:sp>
        <p:nvSpPr>
          <p:cNvPr id="12" name="Rounded Rectangle 11"/>
          <p:cNvSpPr/>
          <p:nvPr/>
        </p:nvSpPr>
        <p:spPr>
          <a:xfrm>
            <a:off x="548640" y="365760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30752"/>
            <a:ext cx="2103120" cy="228600"/>
          </a:xfrm>
          <a:prstGeom prst="rect">
            <a:avLst/>
          </a:prstGeom>
          <a:noFill/>
        </p:spPr>
        <p:txBody>
          <a:bodyPr wrap="square" lIns="0" tIns="0" rIns="0" bIns="0" anchor="t">
            <a:spAutoFit/>
          </a:bodyPr>
          <a:lstStyle/>
          <a:p>
            <a:pPr algn="l"/>
            <a:r>
              <a:rPr sz="1000" b="1" i="0">
                <a:solidFill>
                  <a:srgbClr val="6CFFC8"/>
                </a:solidFill>
                <a:latin typeface="Consolas"/>
              </a:rPr>
              <a:t>query_pool</a:t>
            </a:r>
            <a:endParaRPr sz="1000" b="1" i="0">
              <a:solidFill>
                <a:srgbClr val="6CFFC8"/>
              </a:solidFill>
              <a:latin typeface="Consolas"/>
            </a:endParaRPr>
          </a:p>
        </p:txBody>
      </p:sp>
      <p:sp>
        <p:nvSpPr>
          <p:cNvPr id="14" name="TextBox 13"/>
          <p:cNvSpPr txBox="1"/>
          <p:nvPr/>
        </p:nvSpPr>
        <p:spPr>
          <a:xfrm>
            <a:off x="685800" y="3950208"/>
            <a:ext cx="2103120" cy="457200"/>
          </a:xfrm>
          <a:prstGeom prst="rect">
            <a:avLst/>
          </a:prstGeom>
          <a:noFill/>
        </p:spPr>
        <p:txBody>
          <a:bodyPr wrap="square" lIns="0" tIns="0" rIns="0" bIns="0" anchor="t">
            <a:spAutoFit/>
          </a:bodyPr>
          <a:lstStyle/>
          <a:p>
            <a:pPr algn="l"/>
            <a:r>
              <a:rPr sz="850" b="0" i="0">
                <a:solidFill>
                  <a:srgbClr val="7878A0"/>
                </a:solidFill>
                <a:latin typeface="Calibri"/>
              </a:rPr>
              <a:t>Filter the venue pool by category, tag, regulation, tier</a:t>
            </a:r>
            <a:endParaRPr sz="850" b="0" i="0">
              <a:solidFill>
                <a:srgbClr val="7878A0"/>
              </a:solidFill>
              <a:latin typeface="Calibri"/>
            </a:endParaRPr>
          </a:p>
        </p:txBody>
      </p:sp>
      <p:sp>
        <p:nvSpPr>
          <p:cNvPr id="15" name="Rounded Rectangle 14"/>
          <p:cNvSpPr/>
          <p:nvPr/>
        </p:nvSpPr>
        <p:spPr>
          <a:xfrm>
            <a:off x="548640" y="448056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53712"/>
            <a:ext cx="2103120" cy="228600"/>
          </a:xfrm>
          <a:prstGeom prst="rect">
            <a:avLst/>
          </a:prstGeom>
          <a:noFill/>
        </p:spPr>
        <p:txBody>
          <a:bodyPr wrap="square" lIns="0" tIns="0" rIns="0" bIns="0" anchor="t">
            <a:spAutoFit/>
          </a:bodyPr>
          <a:lstStyle/>
          <a:p>
            <a:pPr algn="l"/>
            <a:r>
              <a:rPr sz="1000" b="1" i="0">
                <a:solidFill>
                  <a:srgbClr val="FFA84A"/>
                </a:solidFill>
                <a:latin typeface="Consolas"/>
              </a:rPr>
              <a:t>SUBMIT</a:t>
            </a:r>
            <a:endParaRPr sz="1000" b="1" i="0">
              <a:solidFill>
                <a:srgbClr val="FFA84A"/>
              </a:solidFill>
              <a:latin typeface="Consolas"/>
            </a:endParaRPr>
          </a:p>
        </p:txBody>
      </p:sp>
      <p:sp>
        <p:nvSpPr>
          <p:cNvPr id="17" name="TextBox 16"/>
          <p:cNvSpPr txBox="1"/>
          <p:nvPr/>
        </p:nvSpPr>
        <p:spPr>
          <a:xfrm>
            <a:off x="685800" y="4773168"/>
            <a:ext cx="2103120" cy="457200"/>
          </a:xfrm>
          <a:prstGeom prst="rect">
            <a:avLst/>
          </a:prstGeom>
          <a:noFill/>
        </p:spPr>
        <p:txBody>
          <a:bodyPr wrap="square" lIns="0" tIns="0" rIns="0" bIns="0" anchor="t">
            <a:spAutoFit/>
          </a:bodyPr>
          <a:lstStyle/>
          <a:p>
            <a:pPr algn="l"/>
            <a:r>
              <a:rPr sz="850" b="0" i="0">
                <a:solidFill>
                  <a:srgbClr val="7878A0"/>
                </a:solidFill>
                <a:latin typeface="Calibri"/>
              </a:rPr>
              <a:t>Publish task — validator checks solvability, upper bars, schema</a:t>
            </a:r>
            <a:endParaRPr sz="850" b="0" i="0">
              <a:solidFill>
                <a:srgbClr val="7878A0"/>
              </a:solidFill>
              <a:latin typeface="Calibri"/>
            </a:endParaRPr>
          </a:p>
        </p:txBody>
      </p:sp>
      <p:sp>
        <p:nvSpPr>
          <p:cNvPr id="18" name="Rounded Rectangle 17"/>
          <p:cNvSpPr/>
          <p:nvPr/>
        </p:nvSpPr>
        <p:spPr>
          <a:xfrm>
            <a:off x="548640" y="5440680"/>
            <a:ext cx="2377440" cy="10515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13832"/>
            <a:ext cx="2103120" cy="914400"/>
          </a:xfrm>
          <a:prstGeom prst="rect">
            <a:avLst/>
          </a:prstGeom>
          <a:noFill/>
        </p:spPr>
        <p:txBody>
          <a:bodyPr wrap="square" lIns="0" tIns="0" rIns="0" bIns="0" anchor="t">
            <a:spAutoFit/>
          </a:bodyPr>
          <a:lstStyle/>
          <a:p>
            <a:pPr algn="l"/>
            <a:r>
              <a:rPr sz="900" b="0" i="0">
                <a:solidFill>
                  <a:srgbClr val="7878A0"/>
                </a:solidFill>
                <a:latin typeface="Consolas"/>
              </a:rPr>
              <a:t>Task: </a:t>
            </a:r>
            <a:r>
              <a:rPr sz="900" b="0" i="0">
                <a:solidFill>
                  <a:srgbClr val="E8E8F0"/>
                </a:solidFill>
                <a:latin typeface="Consolas"/>
              </a:rPr>
              <a:t>nyc · type4 · $24/day</a:t>
            </a:r>
            <a:endParaRPr sz="900" b="0" i="0">
              <a:solidFill>
                <a:srgbClr val="E8E8F0"/>
              </a:solidFill>
              <a:latin typeface="Consolas"/>
            </a:endParaRPr>
          </a:p>
          <a:p>
            <a:pPr algn="l"/>
            <a:r>
              <a:rPr sz="900" b="0" i="0">
                <a:solidFill>
                  <a:srgbClr val="7878A0"/>
                </a:solidFill>
                <a:latin typeface="Consolas"/>
              </a:rPr>
              <a:t>Type: </a:t>
            </a:r>
            <a:r>
              <a:rPr sz="900" b="0" i="0">
                <a:solidFill>
                  <a:srgbClr val="FFA84A"/>
                </a:solidFill>
                <a:latin typeface="Consolas"/>
              </a:rPr>
              <a:t>type4_precision_allocation</a:t>
            </a:r>
            <a:endParaRPr sz="900" b="0" i="0">
              <a:solidFill>
                <a:srgbClr val="FFA84A"/>
              </a:solidFill>
              <a:latin typeface="Consolas"/>
            </a:endParaRPr>
          </a:p>
          <a:p>
            <a:pPr algn="l"/>
            <a:r>
              <a:rPr sz="900" b="0" i="0">
                <a:solidFill>
                  <a:srgbClr val="7878A0"/>
                </a:solidFill>
                <a:latin typeface="Consolas"/>
              </a:rPr>
              <a:t>Window: </a:t>
            </a:r>
            <a:r>
              <a:rPr sz="900" b="0" i="0">
                <a:solidFill>
                  <a:srgbClr val="E8E8F0"/>
                </a:solidFill>
                <a:latin typeface="Consolas"/>
              </a:rPr>
              <a:t>Independence Day 2026</a:t>
            </a:r>
            <a:endParaRPr sz="900" b="0" i="0">
              <a:solidFill>
                <a:srgbClr val="E8E8F0"/>
              </a:solidFill>
              <a:latin typeface="Consolas"/>
            </a:endParaRPr>
          </a:p>
          <a:p>
            <a:pPr algn="l"/>
            <a:r>
              <a:rPr sz="900" b="0" i="0">
                <a:solidFill>
                  <a:srgbClr val="7878A0"/>
                </a:solidFill>
                <a:latin typeface="Consolas"/>
              </a:rPr>
              <a:t>Model: </a:t>
            </a:r>
            <a:r>
              <a:rPr sz="900" b="0" i="0">
                <a:solidFill>
                  <a:srgbClr val="E8E8F0"/>
                </a:solidFill>
                <a:latin typeface="Consolas"/>
              </a:rPr>
              <a:t>gpt-5.4</a:t>
            </a:r>
            <a:endParaRPr sz="900" b="0" i="0">
              <a:solidFill>
                <a:srgbClr val="E8E8F0"/>
              </a:solidFill>
              <a:latin typeface="Consolas"/>
            </a:endParaRPr>
          </a:p>
          <a:p>
            <a:pPr algn="l"/>
            <a:r>
              <a:rPr sz="900" b="0" i="0">
                <a:solidFill>
                  <a:srgbClr val="7878A0"/>
                </a:solidFill>
                <a:latin typeface="Consolas"/>
              </a:rPr>
              <a:t>Turns: </a:t>
            </a:r>
            <a:r>
              <a:rPr sz="900" b="0" i="0">
                <a:solidFill>
                  <a:srgbClr val="E8E8F0"/>
                </a:solidFill>
                <a:latin typeface="Consolas"/>
              </a:rPr>
              <a:t>8 (max 30)</a:t>
            </a:r>
            <a:endParaRPr sz="900" b="0" i="0">
              <a:solidFill>
                <a:srgbClr val="E8E8F0"/>
              </a:solidFill>
              <a:latin typeface="Consolas"/>
            </a:endParaRPr>
          </a:p>
        </p:txBody>
      </p:sp>
      <p:sp>
        <p:nvSpPr>
          <p:cNvPr id="20" name="Rounded Rectangle 19"/>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1691640"/>
            <a:ext cx="1214845"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1828800"/>
            <a:ext cx="8503920" cy="274320"/>
          </a:xfrm>
          <a:prstGeom prst="rect">
            <a:avLst/>
          </a:prstGeom>
          <a:noFill/>
        </p:spPr>
        <p:txBody>
          <a:bodyPr wrap="square" lIns="0" tIns="0" rIns="0" bIns="0" anchor="t">
            <a:spAutoFit/>
          </a:bodyPr>
          <a:lstStyle/>
          <a:p>
            <a:pPr algn="l"/>
            <a:r>
              <a:rPr sz="900" b="0" i="0">
                <a:solidFill>
                  <a:srgbClr val="7878A0"/>
                </a:solidFill>
                <a:latin typeface="Consolas"/>
              </a:rPr>
              <a:t>Step 1 / 7</a:t>
            </a:r>
            <a:endParaRPr sz="900" b="0" i="0">
              <a:solidFill>
                <a:srgbClr val="7878A0"/>
              </a:solidFill>
              <a:latin typeface="Consolas"/>
            </a:endParaRPr>
          </a:p>
        </p:txBody>
      </p:sp>
      <p:sp>
        <p:nvSpPr>
          <p:cNvPr id="23" name="TextBox 22"/>
          <p:cNvSpPr txBox="1"/>
          <p:nvPr/>
        </p:nvSpPr>
        <p:spPr>
          <a:xfrm>
            <a:off x="3108960" y="2103120"/>
            <a:ext cx="8503920" cy="320040"/>
          </a:xfrm>
          <a:prstGeom prst="rect">
            <a:avLst/>
          </a:prstGeom>
          <a:noFill/>
        </p:spPr>
        <p:txBody>
          <a:bodyPr wrap="square" lIns="0" tIns="0" rIns="0" bIns="0" anchor="t">
            <a:spAutoFit/>
          </a:bodyPr>
          <a:lstStyle/>
          <a:p>
            <a:pPr algn="l"/>
            <a:r>
              <a:rPr sz="1300" b="1" i="0">
                <a:solidFill>
                  <a:srgbClr val="6C8EFF"/>
                </a:solidFill>
                <a:latin typeface="Consolas"/>
              </a:rPr>
              <a:t>📖  Read the handbook</a:t>
            </a:r>
            <a:endParaRPr sz="1300" b="1" i="0">
              <a:solidFill>
                <a:srgbClr val="6C8EFF"/>
              </a:solidFill>
              <a:latin typeface="Consolas"/>
            </a:endParaRPr>
          </a:p>
        </p:txBody>
      </p:sp>
      <p:sp>
        <p:nvSpPr>
          <p:cNvPr id="24" name="Rounded Rectangle 23"/>
          <p:cNvSpPr/>
          <p:nvPr/>
        </p:nvSpPr>
        <p:spPr>
          <a:xfrm>
            <a:off x="3108960" y="2560320"/>
            <a:ext cx="8503920" cy="68580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6120" y="263347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6" name="TextBox 25"/>
          <p:cNvSpPr txBox="1"/>
          <p:nvPr/>
        </p:nvSpPr>
        <p:spPr>
          <a:xfrm>
            <a:off x="3246120" y="2834640"/>
            <a:ext cx="8229600" cy="365760"/>
          </a:xfrm>
          <a:prstGeom prst="rect">
            <a:avLst/>
          </a:prstGeom>
          <a:noFill/>
        </p:spPr>
        <p:txBody>
          <a:bodyPr wrap="square" lIns="0" tIns="0" rIns="0" bIns="0" anchor="t">
            <a:spAutoFit/>
          </a:bodyPr>
          <a:lstStyle/>
          <a:p>
            <a:pPr algn="l"/>
            <a:r>
              <a:rPr sz="1000" b="0" i="0">
                <a:solidFill>
                  <a:srgbClr val="7878A0"/>
                </a:solidFill>
                <a:latin typeface="Calibri"/>
              </a:rPr>
              <a:t>For a Type 4 task I need a binding budget constraint tight enough that imprecise calculation fails. Read tags + pool_fields + window + validation rules before designing the persona.</a:t>
            </a:r>
            <a:endParaRPr sz="1000" b="0" i="0">
              <a:solidFill>
                <a:srgbClr val="7878A0"/>
              </a:solidFill>
              <a:latin typeface="Calibri"/>
            </a:endParaRPr>
          </a:p>
        </p:txBody>
      </p:sp>
      <p:sp>
        <p:nvSpPr>
          <p:cNvPr id="27" name="Rounded Rectangle 26"/>
          <p:cNvSpPr/>
          <p:nvPr/>
        </p:nvSpPr>
        <p:spPr>
          <a:xfrm>
            <a:off x="3108960" y="3355848"/>
            <a:ext cx="8503920" cy="7772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3429000"/>
            <a:ext cx="8229600" cy="228600"/>
          </a:xfrm>
          <a:prstGeom prst="rect">
            <a:avLst/>
          </a:prstGeom>
          <a:noFill/>
        </p:spPr>
        <p:txBody>
          <a:bodyPr wrap="square" lIns="0" tIns="0" rIns="0" bIns="0" anchor="t">
            <a:spAutoFit/>
          </a:bodyPr>
          <a:lstStyle/>
          <a:p>
            <a:pPr algn="l"/>
            <a:r>
              <a:rPr sz="1000" b="1" i="0">
                <a:solidFill>
                  <a:srgbClr val="6C8EFF"/>
                </a:solidFill>
                <a:latin typeface="Consolas"/>
              </a:rPr>
              <a:t>HELP   </a:t>
            </a:r>
            <a:r>
              <a:rPr sz="1000" b="0" i="0">
                <a:solidFill>
                  <a:srgbClr val="6C8EFF"/>
                </a:solidFill>
                <a:latin typeface="Consolas"/>
              </a:rPr>
              <a:t>HELP("-h tags")</a:t>
            </a:r>
            <a:endParaRPr sz="1000" b="0" i="0">
              <a:solidFill>
                <a:srgbClr val="6C8EFF"/>
              </a:solidFill>
              <a:latin typeface="Consolas"/>
            </a:endParaRPr>
          </a:p>
        </p:txBody>
      </p:sp>
      <p:sp>
        <p:nvSpPr>
          <p:cNvPr id="29" name="Rounded Rectangle 28"/>
          <p:cNvSpPr/>
          <p:nvPr/>
        </p:nvSpPr>
        <p:spPr>
          <a:xfrm>
            <a:off x="3246120" y="3721608"/>
            <a:ext cx="8229600" cy="34747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7560" y="3767328"/>
            <a:ext cx="8046720" cy="274320"/>
          </a:xfrm>
          <a:prstGeom prst="rect">
            <a:avLst/>
          </a:prstGeom>
          <a:noFill/>
        </p:spPr>
        <p:txBody>
          <a:bodyPr wrap="square" lIns="0" tIns="0" rIns="0" bIns="0" anchor="t">
            <a:spAutoFit/>
          </a:bodyPr>
          <a:lstStyle/>
          <a:p>
            <a:pPr algn="l"/>
            <a:r>
              <a:rPr sz="950" b="0" i="0">
                <a:solidFill>
                  <a:srgbClr val="7878A0"/>
                </a:solidFill>
                <a:latin typeface="Consolas"/>
              </a:rPr>
              <a:t>67 tags: free-entry · tourist-trap · popular-with-locals · waterfront...</a:t>
            </a:r>
            <a:endParaRPr sz="950" b="0" i="0">
              <a:solidFill>
                <a:srgbClr val="7878A0"/>
              </a:solidFill>
              <a:latin typeface="Consolas"/>
            </a:endParaRPr>
          </a:p>
        </p:txBody>
      </p:sp>
      <p:sp>
        <p:nvSpPr>
          <p:cNvPr id="31" name="Rounded Rectangle 30"/>
          <p:cNvSpPr/>
          <p:nvPr/>
        </p:nvSpPr>
        <p:spPr>
          <a:xfrm>
            <a:off x="3108960" y="4224528"/>
            <a:ext cx="8503920" cy="7772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6120" y="4297680"/>
            <a:ext cx="8229600" cy="228600"/>
          </a:xfrm>
          <a:prstGeom prst="rect">
            <a:avLst/>
          </a:prstGeom>
          <a:noFill/>
        </p:spPr>
        <p:txBody>
          <a:bodyPr wrap="square" lIns="0" tIns="0" rIns="0" bIns="0" anchor="t">
            <a:spAutoFit/>
          </a:bodyPr>
          <a:lstStyle/>
          <a:p>
            <a:pPr algn="l"/>
            <a:r>
              <a:rPr sz="1000" b="1" i="0">
                <a:solidFill>
                  <a:srgbClr val="6C8EFF"/>
                </a:solidFill>
                <a:latin typeface="Consolas"/>
              </a:rPr>
              <a:t>HELP   </a:t>
            </a:r>
            <a:r>
              <a:rPr sz="1000" b="0" i="0">
                <a:solidFill>
                  <a:srgbClr val="6C8EFF"/>
                </a:solidFill>
                <a:latin typeface="Consolas"/>
              </a:rPr>
              <a:t>HELP("-h pool_fields")</a:t>
            </a:r>
            <a:endParaRPr sz="1000" b="0" i="0">
              <a:solidFill>
                <a:srgbClr val="6C8EFF"/>
              </a:solidFill>
              <a:latin typeface="Consolas"/>
            </a:endParaRPr>
          </a:p>
        </p:txBody>
      </p:sp>
      <p:sp>
        <p:nvSpPr>
          <p:cNvPr id="33" name="Rounded Rectangle 32"/>
          <p:cNvSpPr/>
          <p:nvPr/>
        </p:nvSpPr>
        <p:spPr>
          <a:xfrm>
            <a:off x="3246120" y="4590288"/>
            <a:ext cx="8229600" cy="34747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7560" y="4636008"/>
            <a:ext cx="8046720" cy="274320"/>
          </a:xfrm>
          <a:prstGeom prst="rect">
            <a:avLst/>
          </a:prstGeom>
          <a:noFill/>
        </p:spPr>
        <p:txBody>
          <a:bodyPr wrap="square" lIns="0" tIns="0" rIns="0" bIns="0" anchor="t">
            <a:spAutoFit/>
          </a:bodyPr>
          <a:lstStyle/>
          <a:p>
            <a:pPr algn="l"/>
            <a:r>
              <a:rPr sz="950" b="0" i="0">
                <a:solidFill>
                  <a:srgbClr val="7878A0"/>
                </a:solidFill>
                <a:latin typeface="Consolas"/>
              </a:rPr>
              <a:t>Filterable: category · tag · regulation · district · traffic_tier · price_tier</a:t>
            </a:r>
            <a:endParaRPr sz="950" b="0" i="0">
              <a:solidFill>
                <a:srgbClr val="7878A0"/>
              </a:solidFill>
              <a:latin typeface="Consolas"/>
            </a:endParaRPr>
          </a:p>
        </p:txBody>
      </p:sp>
      <p:sp>
        <p:nvSpPr>
          <p:cNvPr id="35" name="Rounded Rectangle 34"/>
          <p:cNvSpPr/>
          <p:nvPr/>
        </p:nvSpPr>
        <p:spPr>
          <a:xfrm>
            <a:off x="3108960" y="5093208"/>
            <a:ext cx="8503920" cy="7772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46120" y="5166360"/>
            <a:ext cx="8229600" cy="228600"/>
          </a:xfrm>
          <a:prstGeom prst="rect">
            <a:avLst/>
          </a:prstGeom>
          <a:noFill/>
        </p:spPr>
        <p:txBody>
          <a:bodyPr wrap="square" lIns="0" tIns="0" rIns="0" bIns="0" anchor="t">
            <a:spAutoFit/>
          </a:bodyPr>
          <a:lstStyle/>
          <a:p>
            <a:pPr algn="l"/>
            <a:r>
              <a:rPr sz="1000" b="1" i="0">
                <a:solidFill>
                  <a:srgbClr val="6C8EFF"/>
                </a:solidFill>
                <a:latin typeface="Consolas"/>
              </a:rPr>
              <a:t>HELP   </a:t>
            </a:r>
            <a:r>
              <a:rPr sz="1000" b="0" i="0">
                <a:solidFill>
                  <a:srgbClr val="6C8EFF"/>
                </a:solidFill>
                <a:latin typeface="Consolas"/>
              </a:rPr>
              <a:t>HELP("-h window")</a:t>
            </a:r>
            <a:endParaRPr sz="1000" b="0" i="0">
              <a:solidFill>
                <a:srgbClr val="6C8EFF"/>
              </a:solidFill>
              <a:latin typeface="Consolas"/>
            </a:endParaRPr>
          </a:p>
        </p:txBody>
      </p:sp>
      <p:sp>
        <p:nvSpPr>
          <p:cNvPr id="37" name="Rounded Rectangle 36"/>
          <p:cNvSpPr/>
          <p:nvPr/>
        </p:nvSpPr>
        <p:spPr>
          <a:xfrm>
            <a:off x="3246120" y="5458968"/>
            <a:ext cx="8229600" cy="34747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5504688"/>
            <a:ext cx="8046720" cy="274320"/>
          </a:xfrm>
          <a:prstGeom prst="rect">
            <a:avLst/>
          </a:prstGeom>
          <a:noFill/>
        </p:spPr>
        <p:txBody>
          <a:bodyPr wrap="square" lIns="0" tIns="0" rIns="0" bIns="0" anchor="t">
            <a:spAutoFit/>
          </a:bodyPr>
          <a:lstStyle/>
          <a:p>
            <a:pPr algn="l"/>
            <a:r>
              <a:rPr sz="950" b="0" i="0">
                <a:solidFill>
                  <a:srgbClr val="7878A0"/>
                </a:solidFill>
                <a:latin typeface="Consolas"/>
              </a:rPr>
              <a:t>Independence Day · Nathan's Hot Dog Contest 2026-07-04 · dates 07-02 to 07-08</a:t>
            </a:r>
            <a:endParaRPr sz="950" b="0" i="0">
              <a:solidFill>
                <a:srgbClr val="7878A0"/>
              </a:solidFill>
              <a:latin typeface="Consolas"/>
            </a:endParaRPr>
          </a:p>
        </p:txBody>
      </p:sp>
      <p:sp>
        <p:nvSpPr>
          <p:cNvPr id="39" name="Rounded Rectangle 38"/>
          <p:cNvSpPr/>
          <p:nvPr/>
        </p:nvSpPr>
        <p:spPr>
          <a:xfrm>
            <a:off x="3108960" y="5961888"/>
            <a:ext cx="8503920" cy="7772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6120" y="6035040"/>
            <a:ext cx="8229600" cy="228600"/>
          </a:xfrm>
          <a:prstGeom prst="rect">
            <a:avLst/>
          </a:prstGeom>
          <a:noFill/>
        </p:spPr>
        <p:txBody>
          <a:bodyPr wrap="square" lIns="0" tIns="0" rIns="0" bIns="0" anchor="t">
            <a:spAutoFit/>
          </a:bodyPr>
          <a:lstStyle/>
          <a:p>
            <a:pPr algn="l"/>
            <a:r>
              <a:rPr sz="1000" b="1" i="0">
                <a:solidFill>
                  <a:srgbClr val="6C8EFF"/>
                </a:solidFill>
                <a:latin typeface="Consolas"/>
              </a:rPr>
              <a:t>HELP   </a:t>
            </a:r>
            <a:r>
              <a:rPr sz="1000" b="0" i="0">
                <a:solidFill>
                  <a:srgbClr val="6C8EFF"/>
                </a:solidFill>
                <a:latin typeface="Consolas"/>
              </a:rPr>
              <a:t>HELP("-h validate")</a:t>
            </a:r>
            <a:endParaRPr sz="1000" b="0" i="0">
              <a:solidFill>
                <a:srgbClr val="6C8EFF"/>
              </a:solidFill>
              <a:latin typeface="Consolas"/>
            </a:endParaRPr>
          </a:p>
        </p:txBody>
      </p:sp>
      <p:sp>
        <p:nvSpPr>
          <p:cNvPr id="41" name="Rounded Rectangle 40"/>
          <p:cNvSpPr/>
          <p:nvPr/>
        </p:nvSpPr>
        <p:spPr>
          <a:xfrm>
            <a:off x="3246120" y="6327648"/>
            <a:ext cx="8229600" cy="34747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37560" y="6373368"/>
            <a:ext cx="8046720" cy="274320"/>
          </a:xfrm>
          <a:prstGeom prst="rect">
            <a:avLst/>
          </a:prstGeom>
          <a:noFill/>
        </p:spPr>
        <p:txBody>
          <a:bodyPr wrap="square" lIns="0" tIns="0" rIns="0" bIns="0" anchor="t">
            <a:spAutoFit/>
          </a:bodyPr>
          <a:lstStyle/>
          <a:p>
            <a:pPr algn="l"/>
            <a:r>
              <a:rPr sz="950" b="0" i="0">
                <a:solidFill>
                  <a:srgbClr val="7878A0"/>
                </a:solidFill>
                <a:latin typeface="Consolas"/>
              </a:rPr>
              <a:t>Type 4 budget_per_day must be 1.1–1.3× cheapest viable plan to create real pressure.</a:t>
            </a:r>
            <a:endParaRPr sz="950" b="0" i="0">
              <a:solidFill>
                <a:srgbClr val="7878A0"/>
              </a:solidFill>
              <a:latin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11  —  TASK-GENERATION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NYC Type 4  ·  Free-Entry Maximiser  ·  GPT-5.4</a:t>
            </a:r>
            <a:endParaRPr sz="2400" b="0" i="0">
              <a:solidFill>
                <a:srgbClr val="E8E8F0"/>
              </a:solidFill>
              <a:latin typeface="Georgia" panose="02040502050405090303"/>
            </a:endParaRPr>
          </a:p>
        </p:txBody>
      </p:sp>
      <p:sp>
        <p:nvSpPr>
          <p:cNvPr id="4" name="TextBox 3"/>
          <p:cNvSpPr txBox="1"/>
          <p:nvPr/>
        </p:nvSpPr>
        <p:spPr>
          <a:xfrm>
            <a:off x="548640" y="114300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2 / 7  —  Plan the persona — free-entry maximiser</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GENERATION TOOLS</a:t>
            </a:r>
            <a:endParaRPr sz="900" b="0" i="0">
              <a:solidFill>
                <a:srgbClr val="7878A0"/>
              </a:solidFill>
              <a:latin typeface="Consolas"/>
            </a:endParaRPr>
          </a:p>
        </p:txBody>
      </p:sp>
      <p:sp>
        <p:nvSpPr>
          <p:cNvPr id="6" name="Rounded Rectangle 5"/>
          <p:cNvSpPr/>
          <p:nvPr/>
        </p:nvSpPr>
        <p:spPr>
          <a:xfrm>
            <a:off x="548640" y="201168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84832"/>
            <a:ext cx="2103120" cy="228600"/>
          </a:xfrm>
          <a:prstGeom prst="rect">
            <a:avLst/>
          </a:prstGeom>
          <a:noFill/>
        </p:spPr>
        <p:txBody>
          <a:bodyPr wrap="square" lIns="0" tIns="0" rIns="0" bIns="0" anchor="t">
            <a:spAutoFit/>
          </a:bodyPr>
          <a:lstStyle/>
          <a:p>
            <a:pPr algn="l"/>
            <a:r>
              <a:rPr sz="1000" b="1" i="0">
                <a:solidFill>
                  <a:srgbClr val="6C8EFF"/>
                </a:solidFill>
                <a:latin typeface="Consolas"/>
              </a:rPr>
              <a:t>HELP</a:t>
            </a:r>
            <a:endParaRPr sz="1000" b="1" i="0">
              <a:solidFill>
                <a:srgbClr val="6C8EFF"/>
              </a:solidFill>
              <a:latin typeface="Consolas"/>
            </a:endParaRPr>
          </a:p>
        </p:txBody>
      </p:sp>
      <p:sp>
        <p:nvSpPr>
          <p:cNvPr id="8" name="TextBox 7"/>
          <p:cNvSpPr txBox="1"/>
          <p:nvPr/>
        </p:nvSpPr>
        <p:spPr>
          <a:xfrm>
            <a:off x="685800" y="2304288"/>
            <a:ext cx="2103120" cy="457200"/>
          </a:xfrm>
          <a:prstGeom prst="rect">
            <a:avLst/>
          </a:prstGeom>
          <a:noFill/>
        </p:spPr>
        <p:txBody>
          <a:bodyPr wrap="square" lIns="0" tIns="0" rIns="0" bIns="0" anchor="t">
            <a:spAutoFit/>
          </a:bodyPr>
          <a:lstStyle/>
          <a:p>
            <a:pPr algn="l"/>
            <a:r>
              <a:rPr sz="850" b="0" i="0">
                <a:solidFill>
                  <a:srgbClr val="7878A0"/>
                </a:solidFill>
                <a:latin typeface="Calibri"/>
              </a:rPr>
              <a:t>Query the pool handbook — tags, regulations, validation rules</a:t>
            </a:r>
            <a:endParaRPr sz="850" b="0" i="0">
              <a:solidFill>
                <a:srgbClr val="7878A0"/>
              </a:solidFill>
              <a:latin typeface="Calibri"/>
            </a:endParaRPr>
          </a:p>
        </p:txBody>
      </p:sp>
      <p:sp>
        <p:nvSpPr>
          <p:cNvPr id="9" name="Rounded Rectangle 8"/>
          <p:cNvSpPr/>
          <p:nvPr/>
        </p:nvSpPr>
        <p:spPr>
          <a:xfrm>
            <a:off x="548640" y="283464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907792"/>
            <a:ext cx="2103120" cy="228600"/>
          </a:xfrm>
          <a:prstGeom prst="rect">
            <a:avLst/>
          </a:prstGeom>
          <a:noFill/>
        </p:spPr>
        <p:txBody>
          <a:bodyPr wrap="square" lIns="0" tIns="0" rIns="0" bIns="0" anchor="t">
            <a:spAutoFit/>
          </a:bodyPr>
          <a:lstStyle/>
          <a:p>
            <a:pPr algn="l"/>
            <a:r>
              <a:rPr sz="1000" b="1" i="0">
                <a:solidFill>
                  <a:srgbClr val="C87EFF"/>
                </a:solidFill>
                <a:latin typeface="Consolas"/>
              </a:rPr>
              <a:t>THINK</a:t>
            </a:r>
            <a:endParaRPr sz="1000" b="1" i="0">
              <a:solidFill>
                <a:srgbClr val="C87EFF"/>
              </a:solidFill>
              <a:latin typeface="Consolas"/>
            </a:endParaRPr>
          </a:p>
        </p:txBody>
      </p:sp>
      <p:sp>
        <p:nvSpPr>
          <p:cNvPr id="11" name="TextBox 10"/>
          <p:cNvSpPr txBox="1"/>
          <p:nvPr/>
        </p:nvSpPr>
        <p:spPr>
          <a:xfrm>
            <a:off x="685800" y="3127248"/>
            <a:ext cx="2103120" cy="457200"/>
          </a:xfrm>
          <a:prstGeom prst="rect">
            <a:avLst/>
          </a:prstGeom>
          <a:noFill/>
        </p:spPr>
        <p:txBody>
          <a:bodyPr wrap="square" lIns="0" tIns="0" rIns="0" bIns="0" anchor="t">
            <a:spAutoFit/>
          </a:bodyPr>
          <a:lstStyle/>
          <a:p>
            <a:pPr algn="l"/>
            <a:r>
              <a:rPr sz="850" b="0" i="0">
                <a:solidFill>
                  <a:srgbClr val="7878A0"/>
                </a:solidFill>
                <a:latin typeface="Calibri"/>
              </a:rPr>
              <a:t>Internal reasoning — persona, constraint strategy, solvability</a:t>
            </a:r>
            <a:endParaRPr sz="850" b="0" i="0">
              <a:solidFill>
                <a:srgbClr val="7878A0"/>
              </a:solidFill>
              <a:latin typeface="Calibri"/>
            </a:endParaRPr>
          </a:p>
        </p:txBody>
      </p:sp>
      <p:sp>
        <p:nvSpPr>
          <p:cNvPr id="12" name="Rounded Rectangle 11"/>
          <p:cNvSpPr/>
          <p:nvPr/>
        </p:nvSpPr>
        <p:spPr>
          <a:xfrm>
            <a:off x="548640" y="365760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30752"/>
            <a:ext cx="2103120" cy="228600"/>
          </a:xfrm>
          <a:prstGeom prst="rect">
            <a:avLst/>
          </a:prstGeom>
          <a:noFill/>
        </p:spPr>
        <p:txBody>
          <a:bodyPr wrap="square" lIns="0" tIns="0" rIns="0" bIns="0" anchor="t">
            <a:spAutoFit/>
          </a:bodyPr>
          <a:lstStyle/>
          <a:p>
            <a:pPr algn="l"/>
            <a:r>
              <a:rPr sz="1000" b="1" i="0">
                <a:solidFill>
                  <a:srgbClr val="6CFFC8"/>
                </a:solidFill>
                <a:latin typeface="Consolas"/>
              </a:rPr>
              <a:t>query_pool</a:t>
            </a:r>
            <a:endParaRPr sz="1000" b="1" i="0">
              <a:solidFill>
                <a:srgbClr val="6CFFC8"/>
              </a:solidFill>
              <a:latin typeface="Consolas"/>
            </a:endParaRPr>
          </a:p>
        </p:txBody>
      </p:sp>
      <p:sp>
        <p:nvSpPr>
          <p:cNvPr id="14" name="TextBox 13"/>
          <p:cNvSpPr txBox="1"/>
          <p:nvPr/>
        </p:nvSpPr>
        <p:spPr>
          <a:xfrm>
            <a:off x="685800" y="3950208"/>
            <a:ext cx="2103120" cy="457200"/>
          </a:xfrm>
          <a:prstGeom prst="rect">
            <a:avLst/>
          </a:prstGeom>
          <a:noFill/>
        </p:spPr>
        <p:txBody>
          <a:bodyPr wrap="square" lIns="0" tIns="0" rIns="0" bIns="0" anchor="t">
            <a:spAutoFit/>
          </a:bodyPr>
          <a:lstStyle/>
          <a:p>
            <a:pPr algn="l"/>
            <a:r>
              <a:rPr sz="850" b="0" i="0">
                <a:solidFill>
                  <a:srgbClr val="7878A0"/>
                </a:solidFill>
                <a:latin typeface="Calibri"/>
              </a:rPr>
              <a:t>Filter the venue pool by category, tag, regulation, tier</a:t>
            </a:r>
            <a:endParaRPr sz="850" b="0" i="0">
              <a:solidFill>
                <a:srgbClr val="7878A0"/>
              </a:solidFill>
              <a:latin typeface="Calibri"/>
            </a:endParaRPr>
          </a:p>
        </p:txBody>
      </p:sp>
      <p:sp>
        <p:nvSpPr>
          <p:cNvPr id="15" name="Rounded Rectangle 14"/>
          <p:cNvSpPr/>
          <p:nvPr/>
        </p:nvSpPr>
        <p:spPr>
          <a:xfrm>
            <a:off x="548640" y="448056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53712"/>
            <a:ext cx="2103120" cy="228600"/>
          </a:xfrm>
          <a:prstGeom prst="rect">
            <a:avLst/>
          </a:prstGeom>
          <a:noFill/>
        </p:spPr>
        <p:txBody>
          <a:bodyPr wrap="square" lIns="0" tIns="0" rIns="0" bIns="0" anchor="t">
            <a:spAutoFit/>
          </a:bodyPr>
          <a:lstStyle/>
          <a:p>
            <a:pPr algn="l"/>
            <a:r>
              <a:rPr sz="1000" b="1" i="0">
                <a:solidFill>
                  <a:srgbClr val="FFA84A"/>
                </a:solidFill>
                <a:latin typeface="Consolas"/>
              </a:rPr>
              <a:t>SUBMIT</a:t>
            </a:r>
            <a:endParaRPr sz="1000" b="1" i="0">
              <a:solidFill>
                <a:srgbClr val="FFA84A"/>
              </a:solidFill>
              <a:latin typeface="Consolas"/>
            </a:endParaRPr>
          </a:p>
        </p:txBody>
      </p:sp>
      <p:sp>
        <p:nvSpPr>
          <p:cNvPr id="17" name="TextBox 16"/>
          <p:cNvSpPr txBox="1"/>
          <p:nvPr/>
        </p:nvSpPr>
        <p:spPr>
          <a:xfrm>
            <a:off x="685800" y="4773168"/>
            <a:ext cx="2103120" cy="457200"/>
          </a:xfrm>
          <a:prstGeom prst="rect">
            <a:avLst/>
          </a:prstGeom>
          <a:noFill/>
        </p:spPr>
        <p:txBody>
          <a:bodyPr wrap="square" lIns="0" tIns="0" rIns="0" bIns="0" anchor="t">
            <a:spAutoFit/>
          </a:bodyPr>
          <a:lstStyle/>
          <a:p>
            <a:pPr algn="l"/>
            <a:r>
              <a:rPr sz="850" b="0" i="0">
                <a:solidFill>
                  <a:srgbClr val="7878A0"/>
                </a:solidFill>
                <a:latin typeface="Calibri"/>
              </a:rPr>
              <a:t>Publish task — validator checks solvability, upper bars, schema</a:t>
            </a:r>
            <a:endParaRPr sz="850" b="0" i="0">
              <a:solidFill>
                <a:srgbClr val="7878A0"/>
              </a:solidFill>
              <a:latin typeface="Calibri"/>
            </a:endParaRPr>
          </a:p>
        </p:txBody>
      </p:sp>
      <p:sp>
        <p:nvSpPr>
          <p:cNvPr id="18" name="Rounded Rectangle 17"/>
          <p:cNvSpPr/>
          <p:nvPr/>
        </p:nvSpPr>
        <p:spPr>
          <a:xfrm>
            <a:off x="548640" y="5440680"/>
            <a:ext cx="2377440" cy="10515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13832"/>
            <a:ext cx="2103120" cy="914400"/>
          </a:xfrm>
          <a:prstGeom prst="rect">
            <a:avLst/>
          </a:prstGeom>
          <a:noFill/>
        </p:spPr>
        <p:txBody>
          <a:bodyPr wrap="square" lIns="0" tIns="0" rIns="0" bIns="0" anchor="t">
            <a:spAutoFit/>
          </a:bodyPr>
          <a:lstStyle/>
          <a:p>
            <a:pPr algn="l"/>
            <a:r>
              <a:rPr sz="900" b="0" i="0">
                <a:solidFill>
                  <a:srgbClr val="7878A0"/>
                </a:solidFill>
                <a:latin typeface="Consolas"/>
              </a:rPr>
              <a:t>Task: </a:t>
            </a:r>
            <a:r>
              <a:rPr sz="900" b="0" i="0">
                <a:solidFill>
                  <a:srgbClr val="E8E8F0"/>
                </a:solidFill>
                <a:latin typeface="Consolas"/>
              </a:rPr>
              <a:t>nyc · type4 · $24/day</a:t>
            </a:r>
            <a:endParaRPr sz="900" b="0" i="0">
              <a:solidFill>
                <a:srgbClr val="E8E8F0"/>
              </a:solidFill>
              <a:latin typeface="Consolas"/>
            </a:endParaRPr>
          </a:p>
          <a:p>
            <a:pPr algn="l"/>
            <a:r>
              <a:rPr sz="900" b="0" i="0">
                <a:solidFill>
                  <a:srgbClr val="7878A0"/>
                </a:solidFill>
                <a:latin typeface="Consolas"/>
              </a:rPr>
              <a:t>Type: </a:t>
            </a:r>
            <a:r>
              <a:rPr sz="900" b="0" i="0">
                <a:solidFill>
                  <a:srgbClr val="FFA84A"/>
                </a:solidFill>
                <a:latin typeface="Consolas"/>
              </a:rPr>
              <a:t>type4_precision_allocation</a:t>
            </a:r>
            <a:endParaRPr sz="900" b="0" i="0">
              <a:solidFill>
                <a:srgbClr val="FFA84A"/>
              </a:solidFill>
              <a:latin typeface="Consolas"/>
            </a:endParaRPr>
          </a:p>
          <a:p>
            <a:pPr algn="l"/>
            <a:r>
              <a:rPr sz="900" b="0" i="0">
                <a:solidFill>
                  <a:srgbClr val="7878A0"/>
                </a:solidFill>
                <a:latin typeface="Consolas"/>
              </a:rPr>
              <a:t>Window: </a:t>
            </a:r>
            <a:r>
              <a:rPr sz="900" b="0" i="0">
                <a:solidFill>
                  <a:srgbClr val="E8E8F0"/>
                </a:solidFill>
                <a:latin typeface="Consolas"/>
              </a:rPr>
              <a:t>Independence Day 2026</a:t>
            </a:r>
            <a:endParaRPr sz="900" b="0" i="0">
              <a:solidFill>
                <a:srgbClr val="E8E8F0"/>
              </a:solidFill>
              <a:latin typeface="Consolas"/>
            </a:endParaRPr>
          </a:p>
          <a:p>
            <a:pPr algn="l"/>
            <a:r>
              <a:rPr sz="900" b="0" i="0">
                <a:solidFill>
                  <a:srgbClr val="7878A0"/>
                </a:solidFill>
                <a:latin typeface="Consolas"/>
              </a:rPr>
              <a:t>Model: </a:t>
            </a:r>
            <a:r>
              <a:rPr sz="900" b="0" i="0">
                <a:solidFill>
                  <a:srgbClr val="E8E8F0"/>
                </a:solidFill>
                <a:latin typeface="Consolas"/>
              </a:rPr>
              <a:t>gpt-5.4</a:t>
            </a:r>
            <a:endParaRPr sz="900" b="0" i="0">
              <a:solidFill>
                <a:srgbClr val="E8E8F0"/>
              </a:solidFill>
              <a:latin typeface="Consolas"/>
            </a:endParaRPr>
          </a:p>
          <a:p>
            <a:pPr algn="l"/>
            <a:r>
              <a:rPr sz="900" b="0" i="0">
                <a:solidFill>
                  <a:srgbClr val="7878A0"/>
                </a:solidFill>
                <a:latin typeface="Consolas"/>
              </a:rPr>
              <a:t>Turns: </a:t>
            </a:r>
            <a:r>
              <a:rPr sz="900" b="0" i="0">
                <a:solidFill>
                  <a:srgbClr val="E8E8F0"/>
                </a:solidFill>
                <a:latin typeface="Consolas"/>
              </a:rPr>
              <a:t>8 (max 30)</a:t>
            </a:r>
            <a:endParaRPr sz="900" b="0" i="0">
              <a:solidFill>
                <a:srgbClr val="E8E8F0"/>
              </a:solidFill>
              <a:latin typeface="Consolas"/>
            </a:endParaRPr>
          </a:p>
        </p:txBody>
      </p:sp>
      <p:sp>
        <p:nvSpPr>
          <p:cNvPr id="20" name="Rounded Rectangle 19"/>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1691640"/>
            <a:ext cx="2429691"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1828800"/>
            <a:ext cx="8503920" cy="274320"/>
          </a:xfrm>
          <a:prstGeom prst="rect">
            <a:avLst/>
          </a:prstGeom>
          <a:noFill/>
        </p:spPr>
        <p:txBody>
          <a:bodyPr wrap="square" lIns="0" tIns="0" rIns="0" bIns="0" anchor="t">
            <a:spAutoFit/>
          </a:bodyPr>
          <a:lstStyle/>
          <a:p>
            <a:pPr algn="l"/>
            <a:r>
              <a:rPr sz="900" b="0" i="0">
                <a:solidFill>
                  <a:srgbClr val="7878A0"/>
                </a:solidFill>
                <a:latin typeface="Consolas"/>
              </a:rPr>
              <a:t>Step 2 / 7</a:t>
            </a:r>
            <a:endParaRPr sz="900" b="0" i="0">
              <a:solidFill>
                <a:srgbClr val="7878A0"/>
              </a:solidFill>
              <a:latin typeface="Consolas"/>
            </a:endParaRPr>
          </a:p>
        </p:txBody>
      </p:sp>
      <p:sp>
        <p:nvSpPr>
          <p:cNvPr id="23" name="TextBox 22"/>
          <p:cNvSpPr txBox="1"/>
          <p:nvPr/>
        </p:nvSpPr>
        <p:spPr>
          <a:xfrm>
            <a:off x="3108960" y="2103120"/>
            <a:ext cx="8503920" cy="320040"/>
          </a:xfrm>
          <a:prstGeom prst="rect">
            <a:avLst/>
          </a:prstGeom>
          <a:noFill/>
        </p:spPr>
        <p:txBody>
          <a:bodyPr wrap="square" lIns="0" tIns="0" rIns="0" bIns="0" anchor="t">
            <a:spAutoFit/>
          </a:bodyPr>
          <a:lstStyle/>
          <a:p>
            <a:pPr algn="l"/>
            <a:r>
              <a:rPr sz="1300" b="1" i="0">
                <a:solidFill>
                  <a:srgbClr val="6C8EFF"/>
                </a:solidFill>
                <a:latin typeface="Consolas"/>
              </a:rPr>
              <a:t>💭  Plan the persona — free-entry maximiser</a:t>
            </a:r>
            <a:endParaRPr sz="1300" b="1" i="0">
              <a:solidFill>
                <a:srgbClr val="6C8EFF"/>
              </a:solidFill>
              <a:latin typeface="Consolas"/>
            </a:endParaRPr>
          </a:p>
        </p:txBody>
      </p:sp>
      <p:sp>
        <p:nvSpPr>
          <p:cNvPr id="24" name="Rounded Rectangle 23"/>
          <p:cNvSpPr/>
          <p:nvPr/>
        </p:nvSpPr>
        <p:spPr>
          <a:xfrm>
            <a:off x="3108960" y="2560320"/>
            <a:ext cx="8503920" cy="86868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6120" y="263347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6" name="TextBox 25"/>
          <p:cNvSpPr txBox="1"/>
          <p:nvPr/>
        </p:nvSpPr>
        <p:spPr>
          <a:xfrm>
            <a:off x="3246120" y="2834640"/>
            <a:ext cx="8229600" cy="548640"/>
          </a:xfrm>
          <a:prstGeom prst="rect">
            <a:avLst/>
          </a:prstGeom>
          <a:noFill/>
        </p:spPr>
        <p:txBody>
          <a:bodyPr wrap="square" lIns="0" tIns="0" rIns="0" bIns="0" anchor="t">
            <a:spAutoFit/>
          </a:bodyPr>
          <a:lstStyle/>
          <a:p>
            <a:pPr algn="l"/>
            <a:r>
              <a:rPr sz="1000" b="0" i="0">
                <a:solidFill>
                  <a:srgbClr val="7878A0"/>
                </a:solidFill>
                <a:latin typeface="Calibri"/>
              </a:rPr>
              <a:t>Type 4 / 2-day / Independence Day weekend / strict-budget persona. Hop-2 constraint: "avoid tourist traps" matches the calm-July-4 tension. All visits free-entry pulls the audience to the right pool subset; budget cap forces meal allocation.</a:t>
            </a:r>
            <a:endParaRPr sz="1000" b="0" i="0">
              <a:solidFill>
                <a:srgbClr val="7878A0"/>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11  —  TASK-GENERATION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NYC Type 4  ·  Free-Entry Maximiser  ·  GPT-5.4</a:t>
            </a:r>
            <a:endParaRPr sz="2400" b="0" i="0">
              <a:solidFill>
                <a:srgbClr val="E8E8F0"/>
              </a:solidFill>
              <a:latin typeface="Georgia" panose="02040502050405090303"/>
            </a:endParaRPr>
          </a:p>
        </p:txBody>
      </p:sp>
      <p:sp>
        <p:nvSpPr>
          <p:cNvPr id="4" name="TextBox 3"/>
          <p:cNvSpPr txBox="1"/>
          <p:nvPr/>
        </p:nvSpPr>
        <p:spPr>
          <a:xfrm>
            <a:off x="548640" y="114300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3 / 7  —  Scan the pool</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GENERATION TOOLS</a:t>
            </a:r>
            <a:endParaRPr sz="900" b="0" i="0">
              <a:solidFill>
                <a:srgbClr val="7878A0"/>
              </a:solidFill>
              <a:latin typeface="Consolas"/>
            </a:endParaRPr>
          </a:p>
        </p:txBody>
      </p:sp>
      <p:sp>
        <p:nvSpPr>
          <p:cNvPr id="6" name="Rounded Rectangle 5"/>
          <p:cNvSpPr/>
          <p:nvPr/>
        </p:nvSpPr>
        <p:spPr>
          <a:xfrm>
            <a:off x="548640" y="201168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84832"/>
            <a:ext cx="2103120" cy="228600"/>
          </a:xfrm>
          <a:prstGeom prst="rect">
            <a:avLst/>
          </a:prstGeom>
          <a:noFill/>
        </p:spPr>
        <p:txBody>
          <a:bodyPr wrap="square" lIns="0" tIns="0" rIns="0" bIns="0" anchor="t">
            <a:spAutoFit/>
          </a:bodyPr>
          <a:lstStyle/>
          <a:p>
            <a:pPr algn="l"/>
            <a:r>
              <a:rPr sz="1000" b="1" i="0">
                <a:solidFill>
                  <a:srgbClr val="6C8EFF"/>
                </a:solidFill>
                <a:latin typeface="Consolas"/>
              </a:rPr>
              <a:t>HELP</a:t>
            </a:r>
            <a:endParaRPr sz="1000" b="1" i="0">
              <a:solidFill>
                <a:srgbClr val="6C8EFF"/>
              </a:solidFill>
              <a:latin typeface="Consolas"/>
            </a:endParaRPr>
          </a:p>
        </p:txBody>
      </p:sp>
      <p:sp>
        <p:nvSpPr>
          <p:cNvPr id="8" name="TextBox 7"/>
          <p:cNvSpPr txBox="1"/>
          <p:nvPr/>
        </p:nvSpPr>
        <p:spPr>
          <a:xfrm>
            <a:off x="685800" y="2304288"/>
            <a:ext cx="2103120" cy="457200"/>
          </a:xfrm>
          <a:prstGeom prst="rect">
            <a:avLst/>
          </a:prstGeom>
          <a:noFill/>
        </p:spPr>
        <p:txBody>
          <a:bodyPr wrap="square" lIns="0" tIns="0" rIns="0" bIns="0" anchor="t">
            <a:spAutoFit/>
          </a:bodyPr>
          <a:lstStyle/>
          <a:p>
            <a:pPr algn="l"/>
            <a:r>
              <a:rPr sz="850" b="0" i="0">
                <a:solidFill>
                  <a:srgbClr val="7878A0"/>
                </a:solidFill>
                <a:latin typeface="Calibri"/>
              </a:rPr>
              <a:t>Query the pool handbook — tags, regulations, validation rules</a:t>
            </a:r>
            <a:endParaRPr sz="850" b="0" i="0">
              <a:solidFill>
                <a:srgbClr val="7878A0"/>
              </a:solidFill>
              <a:latin typeface="Calibri"/>
            </a:endParaRPr>
          </a:p>
        </p:txBody>
      </p:sp>
      <p:sp>
        <p:nvSpPr>
          <p:cNvPr id="9" name="Rounded Rectangle 8"/>
          <p:cNvSpPr/>
          <p:nvPr/>
        </p:nvSpPr>
        <p:spPr>
          <a:xfrm>
            <a:off x="548640" y="283464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907792"/>
            <a:ext cx="2103120" cy="228600"/>
          </a:xfrm>
          <a:prstGeom prst="rect">
            <a:avLst/>
          </a:prstGeom>
          <a:noFill/>
        </p:spPr>
        <p:txBody>
          <a:bodyPr wrap="square" lIns="0" tIns="0" rIns="0" bIns="0" anchor="t">
            <a:spAutoFit/>
          </a:bodyPr>
          <a:lstStyle/>
          <a:p>
            <a:pPr algn="l"/>
            <a:r>
              <a:rPr sz="1000" b="1" i="0">
                <a:solidFill>
                  <a:srgbClr val="C87EFF"/>
                </a:solidFill>
                <a:latin typeface="Consolas"/>
              </a:rPr>
              <a:t>THINK</a:t>
            </a:r>
            <a:endParaRPr sz="1000" b="1" i="0">
              <a:solidFill>
                <a:srgbClr val="C87EFF"/>
              </a:solidFill>
              <a:latin typeface="Consolas"/>
            </a:endParaRPr>
          </a:p>
        </p:txBody>
      </p:sp>
      <p:sp>
        <p:nvSpPr>
          <p:cNvPr id="11" name="TextBox 10"/>
          <p:cNvSpPr txBox="1"/>
          <p:nvPr/>
        </p:nvSpPr>
        <p:spPr>
          <a:xfrm>
            <a:off x="685800" y="3127248"/>
            <a:ext cx="2103120" cy="457200"/>
          </a:xfrm>
          <a:prstGeom prst="rect">
            <a:avLst/>
          </a:prstGeom>
          <a:noFill/>
        </p:spPr>
        <p:txBody>
          <a:bodyPr wrap="square" lIns="0" tIns="0" rIns="0" bIns="0" anchor="t">
            <a:spAutoFit/>
          </a:bodyPr>
          <a:lstStyle/>
          <a:p>
            <a:pPr algn="l"/>
            <a:r>
              <a:rPr sz="850" b="0" i="0">
                <a:solidFill>
                  <a:srgbClr val="7878A0"/>
                </a:solidFill>
                <a:latin typeface="Calibri"/>
              </a:rPr>
              <a:t>Internal reasoning — persona, constraint strategy, solvability</a:t>
            </a:r>
            <a:endParaRPr sz="850" b="0" i="0">
              <a:solidFill>
                <a:srgbClr val="7878A0"/>
              </a:solidFill>
              <a:latin typeface="Calibri"/>
            </a:endParaRPr>
          </a:p>
        </p:txBody>
      </p:sp>
      <p:sp>
        <p:nvSpPr>
          <p:cNvPr id="12" name="Rounded Rectangle 11"/>
          <p:cNvSpPr/>
          <p:nvPr/>
        </p:nvSpPr>
        <p:spPr>
          <a:xfrm>
            <a:off x="548640" y="365760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30752"/>
            <a:ext cx="2103120" cy="228600"/>
          </a:xfrm>
          <a:prstGeom prst="rect">
            <a:avLst/>
          </a:prstGeom>
          <a:noFill/>
        </p:spPr>
        <p:txBody>
          <a:bodyPr wrap="square" lIns="0" tIns="0" rIns="0" bIns="0" anchor="t">
            <a:spAutoFit/>
          </a:bodyPr>
          <a:lstStyle/>
          <a:p>
            <a:pPr algn="l"/>
            <a:r>
              <a:rPr sz="1000" b="1" i="0">
                <a:solidFill>
                  <a:srgbClr val="6CFFC8"/>
                </a:solidFill>
                <a:latin typeface="Consolas"/>
              </a:rPr>
              <a:t>query_pool</a:t>
            </a:r>
            <a:endParaRPr sz="1000" b="1" i="0">
              <a:solidFill>
                <a:srgbClr val="6CFFC8"/>
              </a:solidFill>
              <a:latin typeface="Consolas"/>
            </a:endParaRPr>
          </a:p>
        </p:txBody>
      </p:sp>
      <p:sp>
        <p:nvSpPr>
          <p:cNvPr id="14" name="TextBox 13"/>
          <p:cNvSpPr txBox="1"/>
          <p:nvPr/>
        </p:nvSpPr>
        <p:spPr>
          <a:xfrm>
            <a:off x="685800" y="3950208"/>
            <a:ext cx="2103120" cy="457200"/>
          </a:xfrm>
          <a:prstGeom prst="rect">
            <a:avLst/>
          </a:prstGeom>
          <a:noFill/>
        </p:spPr>
        <p:txBody>
          <a:bodyPr wrap="square" lIns="0" tIns="0" rIns="0" bIns="0" anchor="t">
            <a:spAutoFit/>
          </a:bodyPr>
          <a:lstStyle/>
          <a:p>
            <a:pPr algn="l"/>
            <a:r>
              <a:rPr sz="850" b="0" i="0">
                <a:solidFill>
                  <a:srgbClr val="7878A0"/>
                </a:solidFill>
                <a:latin typeface="Calibri"/>
              </a:rPr>
              <a:t>Filter the venue pool by category, tag, regulation, tier</a:t>
            </a:r>
            <a:endParaRPr sz="850" b="0" i="0">
              <a:solidFill>
                <a:srgbClr val="7878A0"/>
              </a:solidFill>
              <a:latin typeface="Calibri"/>
            </a:endParaRPr>
          </a:p>
        </p:txBody>
      </p:sp>
      <p:sp>
        <p:nvSpPr>
          <p:cNvPr id="15" name="Rounded Rectangle 14"/>
          <p:cNvSpPr/>
          <p:nvPr/>
        </p:nvSpPr>
        <p:spPr>
          <a:xfrm>
            <a:off x="548640" y="448056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53712"/>
            <a:ext cx="2103120" cy="228600"/>
          </a:xfrm>
          <a:prstGeom prst="rect">
            <a:avLst/>
          </a:prstGeom>
          <a:noFill/>
        </p:spPr>
        <p:txBody>
          <a:bodyPr wrap="square" lIns="0" tIns="0" rIns="0" bIns="0" anchor="t">
            <a:spAutoFit/>
          </a:bodyPr>
          <a:lstStyle/>
          <a:p>
            <a:pPr algn="l"/>
            <a:r>
              <a:rPr sz="1000" b="1" i="0">
                <a:solidFill>
                  <a:srgbClr val="FFA84A"/>
                </a:solidFill>
                <a:latin typeface="Consolas"/>
              </a:rPr>
              <a:t>SUBMIT</a:t>
            </a:r>
            <a:endParaRPr sz="1000" b="1" i="0">
              <a:solidFill>
                <a:srgbClr val="FFA84A"/>
              </a:solidFill>
              <a:latin typeface="Consolas"/>
            </a:endParaRPr>
          </a:p>
        </p:txBody>
      </p:sp>
      <p:sp>
        <p:nvSpPr>
          <p:cNvPr id="17" name="TextBox 16"/>
          <p:cNvSpPr txBox="1"/>
          <p:nvPr/>
        </p:nvSpPr>
        <p:spPr>
          <a:xfrm>
            <a:off x="685800" y="4773168"/>
            <a:ext cx="2103120" cy="457200"/>
          </a:xfrm>
          <a:prstGeom prst="rect">
            <a:avLst/>
          </a:prstGeom>
          <a:noFill/>
        </p:spPr>
        <p:txBody>
          <a:bodyPr wrap="square" lIns="0" tIns="0" rIns="0" bIns="0" anchor="t">
            <a:spAutoFit/>
          </a:bodyPr>
          <a:lstStyle/>
          <a:p>
            <a:pPr algn="l"/>
            <a:r>
              <a:rPr sz="850" b="0" i="0">
                <a:solidFill>
                  <a:srgbClr val="7878A0"/>
                </a:solidFill>
                <a:latin typeface="Calibri"/>
              </a:rPr>
              <a:t>Publish task — validator checks solvability, upper bars, schema</a:t>
            </a:r>
            <a:endParaRPr sz="850" b="0" i="0">
              <a:solidFill>
                <a:srgbClr val="7878A0"/>
              </a:solidFill>
              <a:latin typeface="Calibri"/>
            </a:endParaRPr>
          </a:p>
        </p:txBody>
      </p:sp>
      <p:sp>
        <p:nvSpPr>
          <p:cNvPr id="18" name="Rounded Rectangle 17"/>
          <p:cNvSpPr/>
          <p:nvPr/>
        </p:nvSpPr>
        <p:spPr>
          <a:xfrm>
            <a:off x="548640" y="5440680"/>
            <a:ext cx="2377440" cy="10515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13832"/>
            <a:ext cx="2103120" cy="914400"/>
          </a:xfrm>
          <a:prstGeom prst="rect">
            <a:avLst/>
          </a:prstGeom>
          <a:noFill/>
        </p:spPr>
        <p:txBody>
          <a:bodyPr wrap="square" lIns="0" tIns="0" rIns="0" bIns="0" anchor="t">
            <a:spAutoFit/>
          </a:bodyPr>
          <a:lstStyle/>
          <a:p>
            <a:pPr algn="l"/>
            <a:r>
              <a:rPr sz="900" b="0" i="0">
                <a:solidFill>
                  <a:srgbClr val="7878A0"/>
                </a:solidFill>
                <a:latin typeface="Consolas"/>
              </a:rPr>
              <a:t>Task: </a:t>
            </a:r>
            <a:r>
              <a:rPr sz="900" b="0" i="0">
                <a:solidFill>
                  <a:srgbClr val="E8E8F0"/>
                </a:solidFill>
                <a:latin typeface="Consolas"/>
              </a:rPr>
              <a:t>nyc · type4 · $24/day</a:t>
            </a:r>
            <a:endParaRPr sz="900" b="0" i="0">
              <a:solidFill>
                <a:srgbClr val="E8E8F0"/>
              </a:solidFill>
              <a:latin typeface="Consolas"/>
            </a:endParaRPr>
          </a:p>
          <a:p>
            <a:pPr algn="l"/>
            <a:r>
              <a:rPr sz="900" b="0" i="0">
                <a:solidFill>
                  <a:srgbClr val="7878A0"/>
                </a:solidFill>
                <a:latin typeface="Consolas"/>
              </a:rPr>
              <a:t>Type: </a:t>
            </a:r>
            <a:r>
              <a:rPr sz="900" b="0" i="0">
                <a:solidFill>
                  <a:srgbClr val="FFA84A"/>
                </a:solidFill>
                <a:latin typeface="Consolas"/>
              </a:rPr>
              <a:t>type4_precision_allocation</a:t>
            </a:r>
            <a:endParaRPr sz="900" b="0" i="0">
              <a:solidFill>
                <a:srgbClr val="FFA84A"/>
              </a:solidFill>
              <a:latin typeface="Consolas"/>
            </a:endParaRPr>
          </a:p>
          <a:p>
            <a:pPr algn="l"/>
            <a:r>
              <a:rPr sz="900" b="0" i="0">
                <a:solidFill>
                  <a:srgbClr val="7878A0"/>
                </a:solidFill>
                <a:latin typeface="Consolas"/>
              </a:rPr>
              <a:t>Window: </a:t>
            </a:r>
            <a:r>
              <a:rPr sz="900" b="0" i="0">
                <a:solidFill>
                  <a:srgbClr val="E8E8F0"/>
                </a:solidFill>
                <a:latin typeface="Consolas"/>
              </a:rPr>
              <a:t>Independence Day 2026</a:t>
            </a:r>
            <a:endParaRPr sz="900" b="0" i="0">
              <a:solidFill>
                <a:srgbClr val="E8E8F0"/>
              </a:solidFill>
              <a:latin typeface="Consolas"/>
            </a:endParaRPr>
          </a:p>
          <a:p>
            <a:pPr algn="l"/>
            <a:r>
              <a:rPr sz="900" b="0" i="0">
                <a:solidFill>
                  <a:srgbClr val="7878A0"/>
                </a:solidFill>
                <a:latin typeface="Consolas"/>
              </a:rPr>
              <a:t>Model: </a:t>
            </a:r>
            <a:r>
              <a:rPr sz="900" b="0" i="0">
                <a:solidFill>
                  <a:srgbClr val="E8E8F0"/>
                </a:solidFill>
                <a:latin typeface="Consolas"/>
              </a:rPr>
              <a:t>gpt-5.4</a:t>
            </a:r>
            <a:endParaRPr sz="900" b="0" i="0">
              <a:solidFill>
                <a:srgbClr val="E8E8F0"/>
              </a:solidFill>
              <a:latin typeface="Consolas"/>
            </a:endParaRPr>
          </a:p>
          <a:p>
            <a:pPr algn="l"/>
            <a:r>
              <a:rPr sz="900" b="0" i="0">
                <a:solidFill>
                  <a:srgbClr val="7878A0"/>
                </a:solidFill>
                <a:latin typeface="Consolas"/>
              </a:rPr>
              <a:t>Turns: </a:t>
            </a:r>
            <a:r>
              <a:rPr sz="900" b="0" i="0">
                <a:solidFill>
                  <a:srgbClr val="E8E8F0"/>
                </a:solidFill>
                <a:latin typeface="Consolas"/>
              </a:rPr>
              <a:t>8 (max 30)</a:t>
            </a:r>
            <a:endParaRPr sz="900" b="0" i="0">
              <a:solidFill>
                <a:srgbClr val="E8E8F0"/>
              </a:solidFill>
              <a:latin typeface="Consolas"/>
            </a:endParaRPr>
          </a:p>
        </p:txBody>
      </p:sp>
      <p:sp>
        <p:nvSpPr>
          <p:cNvPr id="20" name="Rounded Rectangle 19"/>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1691640"/>
            <a:ext cx="3644537"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1828800"/>
            <a:ext cx="8503920" cy="274320"/>
          </a:xfrm>
          <a:prstGeom prst="rect">
            <a:avLst/>
          </a:prstGeom>
          <a:noFill/>
        </p:spPr>
        <p:txBody>
          <a:bodyPr wrap="square" lIns="0" tIns="0" rIns="0" bIns="0" anchor="t">
            <a:spAutoFit/>
          </a:bodyPr>
          <a:lstStyle/>
          <a:p>
            <a:pPr algn="l"/>
            <a:r>
              <a:rPr sz="900" b="0" i="0">
                <a:solidFill>
                  <a:srgbClr val="7878A0"/>
                </a:solidFill>
                <a:latin typeface="Consolas"/>
              </a:rPr>
              <a:t>Step 3 / 7</a:t>
            </a:r>
            <a:endParaRPr sz="900" b="0" i="0">
              <a:solidFill>
                <a:srgbClr val="7878A0"/>
              </a:solidFill>
              <a:latin typeface="Consolas"/>
            </a:endParaRPr>
          </a:p>
        </p:txBody>
      </p:sp>
      <p:sp>
        <p:nvSpPr>
          <p:cNvPr id="23" name="TextBox 22"/>
          <p:cNvSpPr txBox="1"/>
          <p:nvPr/>
        </p:nvSpPr>
        <p:spPr>
          <a:xfrm>
            <a:off x="3108960" y="2103120"/>
            <a:ext cx="8503920" cy="320040"/>
          </a:xfrm>
          <a:prstGeom prst="rect">
            <a:avLst/>
          </a:prstGeom>
          <a:noFill/>
        </p:spPr>
        <p:txBody>
          <a:bodyPr wrap="square" lIns="0" tIns="0" rIns="0" bIns="0" anchor="t">
            <a:spAutoFit/>
          </a:bodyPr>
          <a:lstStyle/>
          <a:p>
            <a:pPr algn="l"/>
            <a:r>
              <a:rPr sz="1300" b="1" i="0">
                <a:solidFill>
                  <a:srgbClr val="6C8EFF"/>
                </a:solidFill>
                <a:latin typeface="Consolas"/>
              </a:rPr>
              <a:t>🔍  Scan the pool</a:t>
            </a:r>
            <a:endParaRPr sz="1300" b="1" i="0">
              <a:solidFill>
                <a:srgbClr val="6C8EFF"/>
              </a:solidFill>
              <a:latin typeface="Consolas"/>
            </a:endParaRPr>
          </a:p>
        </p:txBody>
      </p:sp>
      <p:sp>
        <p:nvSpPr>
          <p:cNvPr id="24" name="Rounded Rectangle 23"/>
          <p:cNvSpPr/>
          <p:nvPr/>
        </p:nvSpPr>
        <p:spPr>
          <a:xfrm>
            <a:off x="3108960" y="2560320"/>
            <a:ext cx="8503920" cy="68580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6120" y="263347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6" name="TextBox 25"/>
          <p:cNvSpPr txBox="1"/>
          <p:nvPr/>
        </p:nvSpPr>
        <p:spPr>
          <a:xfrm>
            <a:off x="3246120" y="2834640"/>
            <a:ext cx="8229600" cy="365760"/>
          </a:xfrm>
          <a:prstGeom prst="rect">
            <a:avLst/>
          </a:prstGeom>
          <a:noFill/>
        </p:spPr>
        <p:txBody>
          <a:bodyPr wrap="square" lIns="0" tIns="0" rIns="0" bIns="0" anchor="t">
            <a:spAutoFit/>
          </a:bodyPr>
          <a:lstStyle/>
          <a:p>
            <a:pPr algn="l"/>
            <a:r>
              <a:rPr sz="1000" b="0" i="0">
                <a:solidFill>
                  <a:srgbClr val="7878A0"/>
                </a:solidFill>
                <a:latin typeface="Calibri"/>
              </a:rPr>
              <a:t>Verify there's enough supply for both halves (free-entry sites + budget meals). If the cheapest viable plan is ~$20/day, the budget ceiling should land at $22–26.</a:t>
            </a:r>
            <a:endParaRPr sz="1000" b="0" i="0">
              <a:solidFill>
                <a:srgbClr val="7878A0"/>
              </a:solidFill>
              <a:latin typeface="Calibri"/>
            </a:endParaRPr>
          </a:p>
        </p:txBody>
      </p:sp>
      <p:sp>
        <p:nvSpPr>
          <p:cNvPr id="27" name="Rounded Rectangle 26"/>
          <p:cNvSpPr/>
          <p:nvPr/>
        </p:nvSpPr>
        <p:spPr>
          <a:xfrm>
            <a:off x="3108960" y="3355848"/>
            <a:ext cx="8503920" cy="7772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3429000"/>
            <a:ext cx="8229600" cy="228600"/>
          </a:xfrm>
          <a:prstGeom prst="rect">
            <a:avLst/>
          </a:prstGeom>
          <a:noFill/>
        </p:spPr>
        <p:txBody>
          <a:bodyPr wrap="square" lIns="0" tIns="0" rIns="0" bIns="0" anchor="t">
            <a:spAutoFit/>
          </a:bodyPr>
          <a:lstStyle/>
          <a:p>
            <a:pPr algn="l"/>
            <a:r>
              <a:rPr sz="1000" b="1" i="0">
                <a:solidFill>
                  <a:srgbClr val="6CFFC8"/>
                </a:solidFill>
                <a:latin typeface="Consolas"/>
              </a:rPr>
              <a:t>query_pool   </a:t>
            </a:r>
            <a:r>
              <a:rPr sz="1000" b="0" i="0">
                <a:solidFill>
                  <a:srgbClr val="6CFFC8"/>
                </a:solidFill>
                <a:latin typeface="Consolas"/>
              </a:rPr>
              <a:t>query_pool({tag: 'free-entry'})</a:t>
            </a:r>
            <a:endParaRPr sz="1000" b="0" i="0">
              <a:solidFill>
                <a:srgbClr val="6CFFC8"/>
              </a:solidFill>
              <a:latin typeface="Consolas"/>
            </a:endParaRPr>
          </a:p>
        </p:txBody>
      </p:sp>
      <p:sp>
        <p:nvSpPr>
          <p:cNvPr id="29" name="Rounded Rectangle 28"/>
          <p:cNvSpPr/>
          <p:nvPr/>
        </p:nvSpPr>
        <p:spPr>
          <a:xfrm>
            <a:off x="3246120" y="3721608"/>
            <a:ext cx="8229600" cy="34747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7560" y="3767328"/>
            <a:ext cx="8046720" cy="274320"/>
          </a:xfrm>
          <a:prstGeom prst="rect">
            <a:avLst/>
          </a:prstGeom>
          <a:noFill/>
        </p:spPr>
        <p:txBody>
          <a:bodyPr wrap="square" lIns="0" tIns="0" rIns="0" bIns="0" anchor="t">
            <a:spAutoFit/>
          </a:bodyPr>
          <a:lstStyle/>
          <a:p>
            <a:pPr algn="l"/>
            <a:r>
              <a:rPr sz="950" b="0" i="0">
                <a:solidFill>
                  <a:srgbClr val="7878A0"/>
                </a:solidFill>
                <a:latin typeface="Consolas"/>
              </a:rPr>
              <a:t>26 venues  (23 sites: Central Park, High Line, museums; 3 food)</a:t>
            </a:r>
            <a:endParaRPr sz="950" b="0" i="0">
              <a:solidFill>
                <a:srgbClr val="7878A0"/>
              </a:solidFill>
              <a:latin typeface="Consolas"/>
            </a:endParaRPr>
          </a:p>
        </p:txBody>
      </p:sp>
      <p:sp>
        <p:nvSpPr>
          <p:cNvPr id="31" name="Rounded Rectangle 30"/>
          <p:cNvSpPr/>
          <p:nvPr/>
        </p:nvSpPr>
        <p:spPr>
          <a:xfrm>
            <a:off x="3108960" y="4224528"/>
            <a:ext cx="8503920" cy="7772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6120" y="4297680"/>
            <a:ext cx="8229600" cy="228600"/>
          </a:xfrm>
          <a:prstGeom prst="rect">
            <a:avLst/>
          </a:prstGeom>
          <a:noFill/>
        </p:spPr>
        <p:txBody>
          <a:bodyPr wrap="square" lIns="0" tIns="0" rIns="0" bIns="0" anchor="t">
            <a:spAutoFit/>
          </a:bodyPr>
          <a:lstStyle/>
          <a:p>
            <a:pPr algn="l"/>
            <a:r>
              <a:rPr sz="1000" b="1" i="0">
                <a:solidFill>
                  <a:srgbClr val="6CFFC8"/>
                </a:solidFill>
                <a:latin typeface="Consolas"/>
              </a:rPr>
              <a:t>query_pool   </a:t>
            </a:r>
            <a:r>
              <a:rPr sz="1000" b="0" i="0">
                <a:solidFill>
                  <a:srgbClr val="6CFFC8"/>
                </a:solidFill>
                <a:latin typeface="Consolas"/>
              </a:rPr>
              <a:t>query_pool({category: 'restaurant'})</a:t>
            </a:r>
            <a:endParaRPr sz="1000" b="0" i="0">
              <a:solidFill>
                <a:srgbClr val="6CFFC8"/>
              </a:solidFill>
              <a:latin typeface="Consolas"/>
            </a:endParaRPr>
          </a:p>
        </p:txBody>
      </p:sp>
      <p:sp>
        <p:nvSpPr>
          <p:cNvPr id="33" name="Rounded Rectangle 32"/>
          <p:cNvSpPr/>
          <p:nvPr/>
        </p:nvSpPr>
        <p:spPr>
          <a:xfrm>
            <a:off x="3246120" y="4590288"/>
            <a:ext cx="8229600" cy="34747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7560" y="4636008"/>
            <a:ext cx="8046720" cy="274320"/>
          </a:xfrm>
          <a:prstGeom prst="rect">
            <a:avLst/>
          </a:prstGeom>
          <a:noFill/>
        </p:spPr>
        <p:txBody>
          <a:bodyPr wrap="square" lIns="0" tIns="0" rIns="0" bIns="0" anchor="t">
            <a:spAutoFit/>
          </a:bodyPr>
          <a:lstStyle/>
          <a:p>
            <a:pPr algn="l"/>
            <a:r>
              <a:rPr sz="950" b="0" i="0">
                <a:solidFill>
                  <a:srgbClr val="7878A0"/>
                </a:solidFill>
                <a:latin typeface="Consolas"/>
              </a:rPr>
              <a:t>20 restaurants  ·  budget: Xi'an Famous Foods $12, Halal Guys $10, Punjabi Grocery $8</a:t>
            </a:r>
            <a:endParaRPr sz="950" b="0" i="0">
              <a:solidFill>
                <a:srgbClr val="7878A0"/>
              </a:solidFill>
              <a:latin typeface="Consolas"/>
            </a:endParaRPr>
          </a:p>
        </p:txBody>
      </p:sp>
      <p:sp>
        <p:nvSpPr>
          <p:cNvPr id="35" name="Rounded Rectangle 34"/>
          <p:cNvSpPr/>
          <p:nvPr/>
        </p:nvSpPr>
        <p:spPr>
          <a:xfrm>
            <a:off x="3108960" y="5093208"/>
            <a:ext cx="8503920" cy="7772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46120" y="5166360"/>
            <a:ext cx="8229600" cy="228600"/>
          </a:xfrm>
          <a:prstGeom prst="rect">
            <a:avLst/>
          </a:prstGeom>
          <a:noFill/>
        </p:spPr>
        <p:txBody>
          <a:bodyPr wrap="square" lIns="0" tIns="0" rIns="0" bIns="0" anchor="t">
            <a:spAutoFit/>
          </a:bodyPr>
          <a:lstStyle/>
          <a:p>
            <a:pPr algn="l"/>
            <a:r>
              <a:rPr sz="1000" b="1" i="0">
                <a:solidFill>
                  <a:srgbClr val="6CFFC8"/>
                </a:solidFill>
                <a:latin typeface="Consolas"/>
              </a:rPr>
              <a:t>query_pool   </a:t>
            </a:r>
            <a:r>
              <a:rPr sz="1000" b="0" i="0">
                <a:solidFill>
                  <a:srgbClr val="6CFFC8"/>
                </a:solidFill>
                <a:latin typeface="Consolas"/>
              </a:rPr>
              <a:t>query_pool({category: 'cafe'})</a:t>
            </a:r>
            <a:endParaRPr sz="1000" b="0" i="0">
              <a:solidFill>
                <a:srgbClr val="6CFFC8"/>
              </a:solidFill>
              <a:latin typeface="Consolas"/>
            </a:endParaRPr>
          </a:p>
        </p:txBody>
      </p:sp>
      <p:sp>
        <p:nvSpPr>
          <p:cNvPr id="37" name="Rounded Rectangle 36"/>
          <p:cNvSpPr/>
          <p:nvPr/>
        </p:nvSpPr>
        <p:spPr>
          <a:xfrm>
            <a:off x="3246120" y="5458968"/>
            <a:ext cx="8229600" cy="34747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5504688"/>
            <a:ext cx="8046720" cy="274320"/>
          </a:xfrm>
          <a:prstGeom prst="rect">
            <a:avLst/>
          </a:prstGeom>
          <a:noFill/>
        </p:spPr>
        <p:txBody>
          <a:bodyPr wrap="square" lIns="0" tIns="0" rIns="0" bIns="0" anchor="t">
            <a:spAutoFit/>
          </a:bodyPr>
          <a:lstStyle/>
          <a:p>
            <a:pPr algn="l"/>
            <a:r>
              <a:rPr sz="950" b="0" i="0">
                <a:solidFill>
                  <a:srgbClr val="7878A0"/>
                </a:solidFill>
                <a:latin typeface="Consolas"/>
              </a:rPr>
              <a:t>2 cafes</a:t>
            </a:r>
            <a:endParaRPr sz="950" b="0" i="0">
              <a:solidFill>
                <a:srgbClr val="7878A0"/>
              </a:solidFill>
              <a:latin typeface="Consolas"/>
            </a:endParaRPr>
          </a:p>
        </p:txBody>
      </p:sp>
      <p:sp>
        <p:nvSpPr>
          <p:cNvPr id="39" name="Rounded Rectangle 38"/>
          <p:cNvSpPr/>
          <p:nvPr/>
        </p:nvSpPr>
        <p:spPr>
          <a:xfrm>
            <a:off x="3108960" y="5961888"/>
            <a:ext cx="8503920" cy="7772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6120" y="6035040"/>
            <a:ext cx="8229600" cy="228600"/>
          </a:xfrm>
          <a:prstGeom prst="rect">
            <a:avLst/>
          </a:prstGeom>
          <a:noFill/>
        </p:spPr>
        <p:txBody>
          <a:bodyPr wrap="square" lIns="0" tIns="0" rIns="0" bIns="0" anchor="t">
            <a:spAutoFit/>
          </a:bodyPr>
          <a:lstStyle/>
          <a:p>
            <a:pPr algn="l"/>
            <a:r>
              <a:rPr sz="1000" b="1" i="0">
                <a:solidFill>
                  <a:srgbClr val="6CFFC8"/>
                </a:solidFill>
                <a:latin typeface="Consolas"/>
              </a:rPr>
              <a:t>query_pool   </a:t>
            </a:r>
            <a:r>
              <a:rPr sz="1000" b="0" i="0">
                <a:solidFill>
                  <a:srgbClr val="6CFFC8"/>
                </a:solidFill>
                <a:latin typeface="Consolas"/>
              </a:rPr>
              <a:t>query_pool({tag: 'popular-with-locals'})</a:t>
            </a:r>
            <a:endParaRPr sz="1000" b="0" i="0">
              <a:solidFill>
                <a:srgbClr val="6CFFC8"/>
              </a:solidFill>
              <a:latin typeface="Consolas"/>
            </a:endParaRPr>
          </a:p>
        </p:txBody>
      </p:sp>
      <p:sp>
        <p:nvSpPr>
          <p:cNvPr id="41" name="Rounded Rectangle 40"/>
          <p:cNvSpPr/>
          <p:nvPr/>
        </p:nvSpPr>
        <p:spPr>
          <a:xfrm>
            <a:off x="3246120" y="6327648"/>
            <a:ext cx="8229600" cy="34747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37560" y="6373368"/>
            <a:ext cx="8046720" cy="274320"/>
          </a:xfrm>
          <a:prstGeom prst="rect">
            <a:avLst/>
          </a:prstGeom>
          <a:noFill/>
        </p:spPr>
        <p:txBody>
          <a:bodyPr wrap="square" lIns="0" tIns="0" rIns="0" bIns="0" anchor="t">
            <a:spAutoFit/>
          </a:bodyPr>
          <a:lstStyle/>
          <a:p>
            <a:pPr algn="l"/>
            <a:r>
              <a:rPr sz="950" b="0" i="0">
                <a:solidFill>
                  <a:srgbClr val="7878A0"/>
                </a:solidFill>
                <a:latin typeface="Consolas"/>
              </a:rPr>
              <a:t>53 venues  (33 food + 20 sites)</a:t>
            </a:r>
            <a:endParaRPr sz="950" b="0" i="0">
              <a:solidFill>
                <a:srgbClr val="7878A0"/>
              </a:solidFill>
              <a:latin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11  —  TASK-GENERATION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NYC Type 4  ·  Free-Entry Maximiser  ·  GPT-5.4</a:t>
            </a:r>
            <a:endParaRPr sz="2400" b="0" i="0">
              <a:solidFill>
                <a:srgbClr val="E8E8F0"/>
              </a:solidFill>
              <a:latin typeface="Georgia" panose="02040502050405090303"/>
            </a:endParaRPr>
          </a:p>
        </p:txBody>
      </p:sp>
      <p:sp>
        <p:nvSpPr>
          <p:cNvPr id="4" name="TextBox 3"/>
          <p:cNvSpPr txBox="1"/>
          <p:nvPr/>
        </p:nvSpPr>
        <p:spPr>
          <a:xfrm>
            <a:off x="548640" y="114300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4 / 7  —  Test the trap constraint</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GENERATION TOOLS</a:t>
            </a:r>
            <a:endParaRPr sz="900" b="0" i="0">
              <a:solidFill>
                <a:srgbClr val="7878A0"/>
              </a:solidFill>
              <a:latin typeface="Consolas"/>
            </a:endParaRPr>
          </a:p>
        </p:txBody>
      </p:sp>
      <p:sp>
        <p:nvSpPr>
          <p:cNvPr id="6" name="Rounded Rectangle 5"/>
          <p:cNvSpPr/>
          <p:nvPr/>
        </p:nvSpPr>
        <p:spPr>
          <a:xfrm>
            <a:off x="548640" y="201168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84832"/>
            <a:ext cx="2103120" cy="228600"/>
          </a:xfrm>
          <a:prstGeom prst="rect">
            <a:avLst/>
          </a:prstGeom>
          <a:noFill/>
        </p:spPr>
        <p:txBody>
          <a:bodyPr wrap="square" lIns="0" tIns="0" rIns="0" bIns="0" anchor="t">
            <a:spAutoFit/>
          </a:bodyPr>
          <a:lstStyle/>
          <a:p>
            <a:pPr algn="l"/>
            <a:r>
              <a:rPr sz="1000" b="1" i="0">
                <a:solidFill>
                  <a:srgbClr val="6C8EFF"/>
                </a:solidFill>
                <a:latin typeface="Consolas"/>
              </a:rPr>
              <a:t>HELP</a:t>
            </a:r>
            <a:endParaRPr sz="1000" b="1" i="0">
              <a:solidFill>
                <a:srgbClr val="6C8EFF"/>
              </a:solidFill>
              <a:latin typeface="Consolas"/>
            </a:endParaRPr>
          </a:p>
        </p:txBody>
      </p:sp>
      <p:sp>
        <p:nvSpPr>
          <p:cNvPr id="8" name="TextBox 7"/>
          <p:cNvSpPr txBox="1"/>
          <p:nvPr/>
        </p:nvSpPr>
        <p:spPr>
          <a:xfrm>
            <a:off x="685800" y="2304288"/>
            <a:ext cx="2103120" cy="457200"/>
          </a:xfrm>
          <a:prstGeom prst="rect">
            <a:avLst/>
          </a:prstGeom>
          <a:noFill/>
        </p:spPr>
        <p:txBody>
          <a:bodyPr wrap="square" lIns="0" tIns="0" rIns="0" bIns="0" anchor="t">
            <a:spAutoFit/>
          </a:bodyPr>
          <a:lstStyle/>
          <a:p>
            <a:pPr algn="l"/>
            <a:r>
              <a:rPr sz="850" b="0" i="0">
                <a:solidFill>
                  <a:srgbClr val="7878A0"/>
                </a:solidFill>
                <a:latin typeface="Calibri"/>
              </a:rPr>
              <a:t>Query the pool handbook — tags, regulations, validation rules</a:t>
            </a:r>
            <a:endParaRPr sz="850" b="0" i="0">
              <a:solidFill>
                <a:srgbClr val="7878A0"/>
              </a:solidFill>
              <a:latin typeface="Calibri"/>
            </a:endParaRPr>
          </a:p>
        </p:txBody>
      </p:sp>
      <p:sp>
        <p:nvSpPr>
          <p:cNvPr id="9" name="Rounded Rectangle 8"/>
          <p:cNvSpPr/>
          <p:nvPr/>
        </p:nvSpPr>
        <p:spPr>
          <a:xfrm>
            <a:off x="548640" y="283464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907792"/>
            <a:ext cx="2103120" cy="228600"/>
          </a:xfrm>
          <a:prstGeom prst="rect">
            <a:avLst/>
          </a:prstGeom>
          <a:noFill/>
        </p:spPr>
        <p:txBody>
          <a:bodyPr wrap="square" lIns="0" tIns="0" rIns="0" bIns="0" anchor="t">
            <a:spAutoFit/>
          </a:bodyPr>
          <a:lstStyle/>
          <a:p>
            <a:pPr algn="l"/>
            <a:r>
              <a:rPr sz="1000" b="1" i="0">
                <a:solidFill>
                  <a:srgbClr val="C87EFF"/>
                </a:solidFill>
                <a:latin typeface="Consolas"/>
              </a:rPr>
              <a:t>THINK</a:t>
            </a:r>
            <a:endParaRPr sz="1000" b="1" i="0">
              <a:solidFill>
                <a:srgbClr val="C87EFF"/>
              </a:solidFill>
              <a:latin typeface="Consolas"/>
            </a:endParaRPr>
          </a:p>
        </p:txBody>
      </p:sp>
      <p:sp>
        <p:nvSpPr>
          <p:cNvPr id="11" name="TextBox 10"/>
          <p:cNvSpPr txBox="1"/>
          <p:nvPr/>
        </p:nvSpPr>
        <p:spPr>
          <a:xfrm>
            <a:off x="685800" y="3127248"/>
            <a:ext cx="2103120" cy="457200"/>
          </a:xfrm>
          <a:prstGeom prst="rect">
            <a:avLst/>
          </a:prstGeom>
          <a:noFill/>
        </p:spPr>
        <p:txBody>
          <a:bodyPr wrap="square" lIns="0" tIns="0" rIns="0" bIns="0" anchor="t">
            <a:spAutoFit/>
          </a:bodyPr>
          <a:lstStyle/>
          <a:p>
            <a:pPr algn="l"/>
            <a:r>
              <a:rPr sz="850" b="0" i="0">
                <a:solidFill>
                  <a:srgbClr val="7878A0"/>
                </a:solidFill>
                <a:latin typeface="Calibri"/>
              </a:rPr>
              <a:t>Internal reasoning — persona, constraint strategy, solvability</a:t>
            </a:r>
            <a:endParaRPr sz="850" b="0" i="0">
              <a:solidFill>
                <a:srgbClr val="7878A0"/>
              </a:solidFill>
              <a:latin typeface="Calibri"/>
            </a:endParaRPr>
          </a:p>
        </p:txBody>
      </p:sp>
      <p:sp>
        <p:nvSpPr>
          <p:cNvPr id="12" name="Rounded Rectangle 11"/>
          <p:cNvSpPr/>
          <p:nvPr/>
        </p:nvSpPr>
        <p:spPr>
          <a:xfrm>
            <a:off x="548640" y="365760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30752"/>
            <a:ext cx="2103120" cy="228600"/>
          </a:xfrm>
          <a:prstGeom prst="rect">
            <a:avLst/>
          </a:prstGeom>
          <a:noFill/>
        </p:spPr>
        <p:txBody>
          <a:bodyPr wrap="square" lIns="0" tIns="0" rIns="0" bIns="0" anchor="t">
            <a:spAutoFit/>
          </a:bodyPr>
          <a:lstStyle/>
          <a:p>
            <a:pPr algn="l"/>
            <a:r>
              <a:rPr sz="1000" b="1" i="0">
                <a:solidFill>
                  <a:srgbClr val="6CFFC8"/>
                </a:solidFill>
                <a:latin typeface="Consolas"/>
              </a:rPr>
              <a:t>query_pool</a:t>
            </a:r>
            <a:endParaRPr sz="1000" b="1" i="0">
              <a:solidFill>
                <a:srgbClr val="6CFFC8"/>
              </a:solidFill>
              <a:latin typeface="Consolas"/>
            </a:endParaRPr>
          </a:p>
        </p:txBody>
      </p:sp>
      <p:sp>
        <p:nvSpPr>
          <p:cNvPr id="14" name="TextBox 13"/>
          <p:cNvSpPr txBox="1"/>
          <p:nvPr/>
        </p:nvSpPr>
        <p:spPr>
          <a:xfrm>
            <a:off x="685800" y="3950208"/>
            <a:ext cx="2103120" cy="457200"/>
          </a:xfrm>
          <a:prstGeom prst="rect">
            <a:avLst/>
          </a:prstGeom>
          <a:noFill/>
        </p:spPr>
        <p:txBody>
          <a:bodyPr wrap="square" lIns="0" tIns="0" rIns="0" bIns="0" anchor="t">
            <a:spAutoFit/>
          </a:bodyPr>
          <a:lstStyle/>
          <a:p>
            <a:pPr algn="l"/>
            <a:r>
              <a:rPr sz="850" b="0" i="0">
                <a:solidFill>
                  <a:srgbClr val="7878A0"/>
                </a:solidFill>
                <a:latin typeface="Calibri"/>
              </a:rPr>
              <a:t>Filter the venue pool by category, tag, regulation, tier</a:t>
            </a:r>
            <a:endParaRPr sz="850" b="0" i="0">
              <a:solidFill>
                <a:srgbClr val="7878A0"/>
              </a:solidFill>
              <a:latin typeface="Calibri"/>
            </a:endParaRPr>
          </a:p>
        </p:txBody>
      </p:sp>
      <p:sp>
        <p:nvSpPr>
          <p:cNvPr id="15" name="Rounded Rectangle 14"/>
          <p:cNvSpPr/>
          <p:nvPr/>
        </p:nvSpPr>
        <p:spPr>
          <a:xfrm>
            <a:off x="548640" y="448056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53712"/>
            <a:ext cx="2103120" cy="228600"/>
          </a:xfrm>
          <a:prstGeom prst="rect">
            <a:avLst/>
          </a:prstGeom>
          <a:noFill/>
        </p:spPr>
        <p:txBody>
          <a:bodyPr wrap="square" lIns="0" tIns="0" rIns="0" bIns="0" anchor="t">
            <a:spAutoFit/>
          </a:bodyPr>
          <a:lstStyle/>
          <a:p>
            <a:pPr algn="l"/>
            <a:r>
              <a:rPr sz="1000" b="1" i="0">
                <a:solidFill>
                  <a:srgbClr val="FFA84A"/>
                </a:solidFill>
                <a:latin typeface="Consolas"/>
              </a:rPr>
              <a:t>SUBMIT</a:t>
            </a:r>
            <a:endParaRPr sz="1000" b="1" i="0">
              <a:solidFill>
                <a:srgbClr val="FFA84A"/>
              </a:solidFill>
              <a:latin typeface="Consolas"/>
            </a:endParaRPr>
          </a:p>
        </p:txBody>
      </p:sp>
      <p:sp>
        <p:nvSpPr>
          <p:cNvPr id="17" name="TextBox 16"/>
          <p:cNvSpPr txBox="1"/>
          <p:nvPr/>
        </p:nvSpPr>
        <p:spPr>
          <a:xfrm>
            <a:off x="685800" y="4773168"/>
            <a:ext cx="2103120" cy="457200"/>
          </a:xfrm>
          <a:prstGeom prst="rect">
            <a:avLst/>
          </a:prstGeom>
          <a:noFill/>
        </p:spPr>
        <p:txBody>
          <a:bodyPr wrap="square" lIns="0" tIns="0" rIns="0" bIns="0" anchor="t">
            <a:spAutoFit/>
          </a:bodyPr>
          <a:lstStyle/>
          <a:p>
            <a:pPr algn="l"/>
            <a:r>
              <a:rPr sz="850" b="0" i="0">
                <a:solidFill>
                  <a:srgbClr val="7878A0"/>
                </a:solidFill>
                <a:latin typeface="Calibri"/>
              </a:rPr>
              <a:t>Publish task — validator checks solvability, upper bars, schema</a:t>
            </a:r>
            <a:endParaRPr sz="850" b="0" i="0">
              <a:solidFill>
                <a:srgbClr val="7878A0"/>
              </a:solidFill>
              <a:latin typeface="Calibri"/>
            </a:endParaRPr>
          </a:p>
        </p:txBody>
      </p:sp>
      <p:sp>
        <p:nvSpPr>
          <p:cNvPr id="18" name="Rounded Rectangle 17"/>
          <p:cNvSpPr/>
          <p:nvPr/>
        </p:nvSpPr>
        <p:spPr>
          <a:xfrm>
            <a:off x="548640" y="5440680"/>
            <a:ext cx="2377440" cy="10515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13832"/>
            <a:ext cx="2103120" cy="914400"/>
          </a:xfrm>
          <a:prstGeom prst="rect">
            <a:avLst/>
          </a:prstGeom>
          <a:noFill/>
        </p:spPr>
        <p:txBody>
          <a:bodyPr wrap="square" lIns="0" tIns="0" rIns="0" bIns="0" anchor="t">
            <a:spAutoFit/>
          </a:bodyPr>
          <a:lstStyle/>
          <a:p>
            <a:pPr algn="l"/>
            <a:r>
              <a:rPr sz="900" b="0" i="0">
                <a:solidFill>
                  <a:srgbClr val="7878A0"/>
                </a:solidFill>
                <a:latin typeface="Consolas"/>
              </a:rPr>
              <a:t>Task: </a:t>
            </a:r>
            <a:r>
              <a:rPr sz="900" b="0" i="0">
                <a:solidFill>
                  <a:srgbClr val="E8E8F0"/>
                </a:solidFill>
                <a:latin typeface="Consolas"/>
              </a:rPr>
              <a:t>nyc · type4 · $24/day</a:t>
            </a:r>
            <a:endParaRPr sz="900" b="0" i="0">
              <a:solidFill>
                <a:srgbClr val="E8E8F0"/>
              </a:solidFill>
              <a:latin typeface="Consolas"/>
            </a:endParaRPr>
          </a:p>
          <a:p>
            <a:pPr algn="l"/>
            <a:r>
              <a:rPr sz="900" b="0" i="0">
                <a:solidFill>
                  <a:srgbClr val="7878A0"/>
                </a:solidFill>
                <a:latin typeface="Consolas"/>
              </a:rPr>
              <a:t>Type: </a:t>
            </a:r>
            <a:r>
              <a:rPr sz="900" b="0" i="0">
                <a:solidFill>
                  <a:srgbClr val="FFA84A"/>
                </a:solidFill>
                <a:latin typeface="Consolas"/>
              </a:rPr>
              <a:t>type4_precision_allocation</a:t>
            </a:r>
            <a:endParaRPr sz="900" b="0" i="0">
              <a:solidFill>
                <a:srgbClr val="FFA84A"/>
              </a:solidFill>
              <a:latin typeface="Consolas"/>
            </a:endParaRPr>
          </a:p>
          <a:p>
            <a:pPr algn="l"/>
            <a:r>
              <a:rPr sz="900" b="0" i="0">
                <a:solidFill>
                  <a:srgbClr val="7878A0"/>
                </a:solidFill>
                <a:latin typeface="Consolas"/>
              </a:rPr>
              <a:t>Window: </a:t>
            </a:r>
            <a:r>
              <a:rPr sz="900" b="0" i="0">
                <a:solidFill>
                  <a:srgbClr val="E8E8F0"/>
                </a:solidFill>
                <a:latin typeface="Consolas"/>
              </a:rPr>
              <a:t>Independence Day 2026</a:t>
            </a:r>
            <a:endParaRPr sz="900" b="0" i="0">
              <a:solidFill>
                <a:srgbClr val="E8E8F0"/>
              </a:solidFill>
              <a:latin typeface="Consolas"/>
            </a:endParaRPr>
          </a:p>
          <a:p>
            <a:pPr algn="l"/>
            <a:r>
              <a:rPr sz="900" b="0" i="0">
                <a:solidFill>
                  <a:srgbClr val="7878A0"/>
                </a:solidFill>
                <a:latin typeface="Consolas"/>
              </a:rPr>
              <a:t>Model: </a:t>
            </a:r>
            <a:r>
              <a:rPr sz="900" b="0" i="0">
                <a:solidFill>
                  <a:srgbClr val="E8E8F0"/>
                </a:solidFill>
                <a:latin typeface="Consolas"/>
              </a:rPr>
              <a:t>gpt-5.4</a:t>
            </a:r>
            <a:endParaRPr sz="900" b="0" i="0">
              <a:solidFill>
                <a:srgbClr val="E8E8F0"/>
              </a:solidFill>
              <a:latin typeface="Consolas"/>
            </a:endParaRPr>
          </a:p>
          <a:p>
            <a:pPr algn="l"/>
            <a:r>
              <a:rPr sz="900" b="0" i="0">
                <a:solidFill>
                  <a:srgbClr val="7878A0"/>
                </a:solidFill>
                <a:latin typeface="Consolas"/>
              </a:rPr>
              <a:t>Turns: </a:t>
            </a:r>
            <a:r>
              <a:rPr sz="900" b="0" i="0">
                <a:solidFill>
                  <a:srgbClr val="E8E8F0"/>
                </a:solidFill>
                <a:latin typeface="Consolas"/>
              </a:rPr>
              <a:t>8 (max 30)</a:t>
            </a:r>
            <a:endParaRPr sz="900" b="0" i="0">
              <a:solidFill>
                <a:srgbClr val="E8E8F0"/>
              </a:solidFill>
              <a:latin typeface="Consolas"/>
            </a:endParaRPr>
          </a:p>
        </p:txBody>
      </p:sp>
      <p:sp>
        <p:nvSpPr>
          <p:cNvPr id="20" name="Rounded Rectangle 19"/>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1691640"/>
            <a:ext cx="4859382"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1828800"/>
            <a:ext cx="8503920" cy="274320"/>
          </a:xfrm>
          <a:prstGeom prst="rect">
            <a:avLst/>
          </a:prstGeom>
          <a:noFill/>
        </p:spPr>
        <p:txBody>
          <a:bodyPr wrap="square" lIns="0" tIns="0" rIns="0" bIns="0" anchor="t">
            <a:spAutoFit/>
          </a:bodyPr>
          <a:lstStyle/>
          <a:p>
            <a:pPr algn="l"/>
            <a:r>
              <a:rPr sz="900" b="0" i="0">
                <a:solidFill>
                  <a:srgbClr val="7878A0"/>
                </a:solidFill>
                <a:latin typeface="Consolas"/>
              </a:rPr>
              <a:t>Step 4 / 7</a:t>
            </a:r>
            <a:endParaRPr sz="900" b="0" i="0">
              <a:solidFill>
                <a:srgbClr val="7878A0"/>
              </a:solidFill>
              <a:latin typeface="Consolas"/>
            </a:endParaRPr>
          </a:p>
        </p:txBody>
      </p:sp>
      <p:sp>
        <p:nvSpPr>
          <p:cNvPr id="23" name="TextBox 22"/>
          <p:cNvSpPr txBox="1"/>
          <p:nvPr/>
        </p:nvSpPr>
        <p:spPr>
          <a:xfrm>
            <a:off x="3108960" y="2103120"/>
            <a:ext cx="8503920" cy="320040"/>
          </a:xfrm>
          <a:prstGeom prst="rect">
            <a:avLst/>
          </a:prstGeom>
          <a:noFill/>
        </p:spPr>
        <p:txBody>
          <a:bodyPr wrap="square" lIns="0" tIns="0" rIns="0" bIns="0" anchor="t">
            <a:spAutoFit/>
          </a:bodyPr>
          <a:lstStyle/>
          <a:p>
            <a:pPr algn="l"/>
            <a:r>
              <a:rPr sz="1300" b="1" i="0">
                <a:solidFill>
                  <a:srgbClr val="6C8EFF"/>
                </a:solidFill>
                <a:latin typeface="Consolas"/>
              </a:rPr>
              <a:t>🔍  Test the trap constraint</a:t>
            </a:r>
            <a:endParaRPr sz="1300" b="1" i="0">
              <a:solidFill>
                <a:srgbClr val="6C8EFF"/>
              </a:solidFill>
              <a:latin typeface="Consolas"/>
            </a:endParaRPr>
          </a:p>
        </p:txBody>
      </p:sp>
      <p:sp>
        <p:nvSpPr>
          <p:cNvPr id="24" name="Rounded Rectangle 23"/>
          <p:cNvSpPr/>
          <p:nvPr/>
        </p:nvSpPr>
        <p:spPr>
          <a:xfrm>
            <a:off x="3108960" y="2560320"/>
            <a:ext cx="8503920" cy="68580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6120" y="263347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6" name="TextBox 25"/>
          <p:cNvSpPr txBox="1"/>
          <p:nvPr/>
        </p:nvSpPr>
        <p:spPr>
          <a:xfrm>
            <a:off x="3246120" y="2834640"/>
            <a:ext cx="8229600" cy="365760"/>
          </a:xfrm>
          <a:prstGeom prst="rect">
            <a:avLst/>
          </a:prstGeom>
          <a:noFill/>
        </p:spPr>
        <p:txBody>
          <a:bodyPr wrap="square" lIns="0" tIns="0" rIns="0" bIns="0" anchor="t">
            <a:spAutoFit/>
          </a:bodyPr>
          <a:lstStyle/>
          <a:p>
            <a:pPr algn="l"/>
            <a:r>
              <a:rPr sz="1000" b="0" i="0">
                <a:solidFill>
                  <a:srgbClr val="7878A0"/>
                </a:solidFill>
                <a:latin typeface="Calibri"/>
              </a:rPr>
              <a:t>Tourist-trap as a hop-2 universal exclusion needs to bite without making the task infeasible.</a:t>
            </a:r>
            <a:endParaRPr sz="1000" b="0" i="0">
              <a:solidFill>
                <a:srgbClr val="7878A0"/>
              </a:solidFill>
              <a:latin typeface="Calibri"/>
            </a:endParaRPr>
          </a:p>
        </p:txBody>
      </p:sp>
      <p:sp>
        <p:nvSpPr>
          <p:cNvPr id="27" name="Rounded Rectangle 26"/>
          <p:cNvSpPr/>
          <p:nvPr/>
        </p:nvSpPr>
        <p:spPr>
          <a:xfrm>
            <a:off x="3108960" y="3355848"/>
            <a:ext cx="8503920" cy="7772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3429000"/>
            <a:ext cx="8229600" cy="228600"/>
          </a:xfrm>
          <a:prstGeom prst="rect">
            <a:avLst/>
          </a:prstGeom>
          <a:noFill/>
        </p:spPr>
        <p:txBody>
          <a:bodyPr wrap="square" lIns="0" tIns="0" rIns="0" bIns="0" anchor="t">
            <a:spAutoFit/>
          </a:bodyPr>
          <a:lstStyle/>
          <a:p>
            <a:pPr algn="l"/>
            <a:r>
              <a:rPr sz="1000" b="1" i="0">
                <a:solidFill>
                  <a:srgbClr val="6CFFC8"/>
                </a:solidFill>
                <a:latin typeface="Consolas"/>
              </a:rPr>
              <a:t>query_pool   </a:t>
            </a:r>
            <a:r>
              <a:rPr sz="1000" b="0" i="0">
                <a:solidFill>
                  <a:srgbClr val="6CFFC8"/>
                </a:solidFill>
                <a:latin typeface="Consolas"/>
              </a:rPr>
              <a:t>query_pool({tag: 'tourist-trap'})</a:t>
            </a:r>
            <a:endParaRPr sz="1000" b="0" i="0">
              <a:solidFill>
                <a:srgbClr val="6CFFC8"/>
              </a:solidFill>
              <a:latin typeface="Consolas"/>
            </a:endParaRPr>
          </a:p>
        </p:txBody>
      </p:sp>
      <p:sp>
        <p:nvSpPr>
          <p:cNvPr id="29" name="Rounded Rectangle 28"/>
          <p:cNvSpPr/>
          <p:nvPr/>
        </p:nvSpPr>
        <p:spPr>
          <a:xfrm>
            <a:off x="3246120" y="3721608"/>
            <a:ext cx="8229600" cy="34747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7560" y="3767328"/>
            <a:ext cx="8046720" cy="274320"/>
          </a:xfrm>
          <a:prstGeom prst="rect">
            <a:avLst/>
          </a:prstGeom>
          <a:noFill/>
        </p:spPr>
        <p:txBody>
          <a:bodyPr wrap="square" lIns="0" tIns="0" rIns="0" bIns="0" anchor="t">
            <a:spAutoFit/>
          </a:bodyPr>
          <a:lstStyle/>
          <a:p>
            <a:pPr algn="l"/>
            <a:r>
              <a:rPr sz="950" b="0" i="0">
                <a:solidFill>
                  <a:srgbClr val="7878A0"/>
                </a:solidFill>
                <a:latin typeface="Consolas"/>
              </a:rPr>
              <a:t>1 venue: Times Square. Meaningful exclusion, plenty of free-entry alternatives remain.</a:t>
            </a:r>
            <a:endParaRPr sz="950" b="0" i="0">
              <a:solidFill>
                <a:srgbClr val="7878A0"/>
              </a:solidFill>
              <a:latin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11  —  TASK-GENERATION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NYC Type 4  ·  Free-Entry Maximiser  ·  GPT-5.4</a:t>
            </a:r>
            <a:endParaRPr sz="2400" b="0" i="0">
              <a:solidFill>
                <a:srgbClr val="E8E8F0"/>
              </a:solidFill>
              <a:latin typeface="Georgia" panose="02040502050405090303"/>
            </a:endParaRPr>
          </a:p>
        </p:txBody>
      </p:sp>
      <p:sp>
        <p:nvSpPr>
          <p:cNvPr id="4" name="TextBox 3"/>
          <p:cNvSpPr txBox="1"/>
          <p:nvPr/>
        </p:nvSpPr>
        <p:spPr>
          <a:xfrm>
            <a:off x="548640" y="114300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5 / 7  —  Submit attempt 1 — rejected</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GENERATION TOOLS</a:t>
            </a:r>
            <a:endParaRPr sz="900" b="0" i="0">
              <a:solidFill>
                <a:srgbClr val="7878A0"/>
              </a:solidFill>
              <a:latin typeface="Consolas"/>
            </a:endParaRPr>
          </a:p>
        </p:txBody>
      </p:sp>
      <p:sp>
        <p:nvSpPr>
          <p:cNvPr id="6" name="Rounded Rectangle 5"/>
          <p:cNvSpPr/>
          <p:nvPr/>
        </p:nvSpPr>
        <p:spPr>
          <a:xfrm>
            <a:off x="548640" y="201168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84832"/>
            <a:ext cx="2103120" cy="228600"/>
          </a:xfrm>
          <a:prstGeom prst="rect">
            <a:avLst/>
          </a:prstGeom>
          <a:noFill/>
        </p:spPr>
        <p:txBody>
          <a:bodyPr wrap="square" lIns="0" tIns="0" rIns="0" bIns="0" anchor="t">
            <a:spAutoFit/>
          </a:bodyPr>
          <a:lstStyle/>
          <a:p>
            <a:pPr algn="l"/>
            <a:r>
              <a:rPr sz="1000" b="1" i="0">
                <a:solidFill>
                  <a:srgbClr val="6C8EFF"/>
                </a:solidFill>
                <a:latin typeface="Consolas"/>
              </a:rPr>
              <a:t>HELP</a:t>
            </a:r>
            <a:endParaRPr sz="1000" b="1" i="0">
              <a:solidFill>
                <a:srgbClr val="6C8EFF"/>
              </a:solidFill>
              <a:latin typeface="Consolas"/>
            </a:endParaRPr>
          </a:p>
        </p:txBody>
      </p:sp>
      <p:sp>
        <p:nvSpPr>
          <p:cNvPr id="8" name="TextBox 7"/>
          <p:cNvSpPr txBox="1"/>
          <p:nvPr/>
        </p:nvSpPr>
        <p:spPr>
          <a:xfrm>
            <a:off x="685800" y="2304288"/>
            <a:ext cx="2103120" cy="457200"/>
          </a:xfrm>
          <a:prstGeom prst="rect">
            <a:avLst/>
          </a:prstGeom>
          <a:noFill/>
        </p:spPr>
        <p:txBody>
          <a:bodyPr wrap="square" lIns="0" tIns="0" rIns="0" bIns="0" anchor="t">
            <a:spAutoFit/>
          </a:bodyPr>
          <a:lstStyle/>
          <a:p>
            <a:pPr algn="l"/>
            <a:r>
              <a:rPr sz="850" b="0" i="0">
                <a:solidFill>
                  <a:srgbClr val="7878A0"/>
                </a:solidFill>
                <a:latin typeface="Calibri"/>
              </a:rPr>
              <a:t>Query the pool handbook — tags, regulations, validation rules</a:t>
            </a:r>
            <a:endParaRPr sz="850" b="0" i="0">
              <a:solidFill>
                <a:srgbClr val="7878A0"/>
              </a:solidFill>
              <a:latin typeface="Calibri"/>
            </a:endParaRPr>
          </a:p>
        </p:txBody>
      </p:sp>
      <p:sp>
        <p:nvSpPr>
          <p:cNvPr id="9" name="Rounded Rectangle 8"/>
          <p:cNvSpPr/>
          <p:nvPr/>
        </p:nvSpPr>
        <p:spPr>
          <a:xfrm>
            <a:off x="548640" y="283464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907792"/>
            <a:ext cx="2103120" cy="228600"/>
          </a:xfrm>
          <a:prstGeom prst="rect">
            <a:avLst/>
          </a:prstGeom>
          <a:noFill/>
        </p:spPr>
        <p:txBody>
          <a:bodyPr wrap="square" lIns="0" tIns="0" rIns="0" bIns="0" anchor="t">
            <a:spAutoFit/>
          </a:bodyPr>
          <a:lstStyle/>
          <a:p>
            <a:pPr algn="l"/>
            <a:r>
              <a:rPr sz="1000" b="1" i="0">
                <a:solidFill>
                  <a:srgbClr val="C87EFF"/>
                </a:solidFill>
                <a:latin typeface="Consolas"/>
              </a:rPr>
              <a:t>THINK</a:t>
            </a:r>
            <a:endParaRPr sz="1000" b="1" i="0">
              <a:solidFill>
                <a:srgbClr val="C87EFF"/>
              </a:solidFill>
              <a:latin typeface="Consolas"/>
            </a:endParaRPr>
          </a:p>
        </p:txBody>
      </p:sp>
      <p:sp>
        <p:nvSpPr>
          <p:cNvPr id="11" name="TextBox 10"/>
          <p:cNvSpPr txBox="1"/>
          <p:nvPr/>
        </p:nvSpPr>
        <p:spPr>
          <a:xfrm>
            <a:off x="685800" y="3127248"/>
            <a:ext cx="2103120" cy="457200"/>
          </a:xfrm>
          <a:prstGeom prst="rect">
            <a:avLst/>
          </a:prstGeom>
          <a:noFill/>
        </p:spPr>
        <p:txBody>
          <a:bodyPr wrap="square" lIns="0" tIns="0" rIns="0" bIns="0" anchor="t">
            <a:spAutoFit/>
          </a:bodyPr>
          <a:lstStyle/>
          <a:p>
            <a:pPr algn="l"/>
            <a:r>
              <a:rPr sz="850" b="0" i="0">
                <a:solidFill>
                  <a:srgbClr val="7878A0"/>
                </a:solidFill>
                <a:latin typeface="Calibri"/>
              </a:rPr>
              <a:t>Internal reasoning — persona, constraint strategy, solvability</a:t>
            </a:r>
            <a:endParaRPr sz="850" b="0" i="0">
              <a:solidFill>
                <a:srgbClr val="7878A0"/>
              </a:solidFill>
              <a:latin typeface="Calibri"/>
            </a:endParaRPr>
          </a:p>
        </p:txBody>
      </p:sp>
      <p:sp>
        <p:nvSpPr>
          <p:cNvPr id="12" name="Rounded Rectangle 11"/>
          <p:cNvSpPr/>
          <p:nvPr/>
        </p:nvSpPr>
        <p:spPr>
          <a:xfrm>
            <a:off x="548640" y="365760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30752"/>
            <a:ext cx="2103120" cy="228600"/>
          </a:xfrm>
          <a:prstGeom prst="rect">
            <a:avLst/>
          </a:prstGeom>
          <a:noFill/>
        </p:spPr>
        <p:txBody>
          <a:bodyPr wrap="square" lIns="0" tIns="0" rIns="0" bIns="0" anchor="t">
            <a:spAutoFit/>
          </a:bodyPr>
          <a:lstStyle/>
          <a:p>
            <a:pPr algn="l"/>
            <a:r>
              <a:rPr sz="1000" b="1" i="0">
                <a:solidFill>
                  <a:srgbClr val="6CFFC8"/>
                </a:solidFill>
                <a:latin typeface="Consolas"/>
              </a:rPr>
              <a:t>query_pool</a:t>
            </a:r>
            <a:endParaRPr sz="1000" b="1" i="0">
              <a:solidFill>
                <a:srgbClr val="6CFFC8"/>
              </a:solidFill>
              <a:latin typeface="Consolas"/>
            </a:endParaRPr>
          </a:p>
        </p:txBody>
      </p:sp>
      <p:sp>
        <p:nvSpPr>
          <p:cNvPr id="14" name="TextBox 13"/>
          <p:cNvSpPr txBox="1"/>
          <p:nvPr/>
        </p:nvSpPr>
        <p:spPr>
          <a:xfrm>
            <a:off x="685800" y="3950208"/>
            <a:ext cx="2103120" cy="457200"/>
          </a:xfrm>
          <a:prstGeom prst="rect">
            <a:avLst/>
          </a:prstGeom>
          <a:noFill/>
        </p:spPr>
        <p:txBody>
          <a:bodyPr wrap="square" lIns="0" tIns="0" rIns="0" bIns="0" anchor="t">
            <a:spAutoFit/>
          </a:bodyPr>
          <a:lstStyle/>
          <a:p>
            <a:pPr algn="l"/>
            <a:r>
              <a:rPr sz="850" b="0" i="0">
                <a:solidFill>
                  <a:srgbClr val="7878A0"/>
                </a:solidFill>
                <a:latin typeface="Calibri"/>
              </a:rPr>
              <a:t>Filter the venue pool by category, tag, regulation, tier</a:t>
            </a:r>
            <a:endParaRPr sz="850" b="0" i="0">
              <a:solidFill>
                <a:srgbClr val="7878A0"/>
              </a:solidFill>
              <a:latin typeface="Calibri"/>
            </a:endParaRPr>
          </a:p>
        </p:txBody>
      </p:sp>
      <p:sp>
        <p:nvSpPr>
          <p:cNvPr id="15" name="Rounded Rectangle 14"/>
          <p:cNvSpPr/>
          <p:nvPr/>
        </p:nvSpPr>
        <p:spPr>
          <a:xfrm>
            <a:off x="548640" y="448056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53712"/>
            <a:ext cx="2103120" cy="228600"/>
          </a:xfrm>
          <a:prstGeom prst="rect">
            <a:avLst/>
          </a:prstGeom>
          <a:noFill/>
        </p:spPr>
        <p:txBody>
          <a:bodyPr wrap="square" lIns="0" tIns="0" rIns="0" bIns="0" anchor="t">
            <a:spAutoFit/>
          </a:bodyPr>
          <a:lstStyle/>
          <a:p>
            <a:pPr algn="l"/>
            <a:r>
              <a:rPr sz="1000" b="1" i="0">
                <a:solidFill>
                  <a:srgbClr val="FFA84A"/>
                </a:solidFill>
                <a:latin typeface="Consolas"/>
              </a:rPr>
              <a:t>SUBMIT</a:t>
            </a:r>
            <a:endParaRPr sz="1000" b="1" i="0">
              <a:solidFill>
                <a:srgbClr val="FFA84A"/>
              </a:solidFill>
              <a:latin typeface="Consolas"/>
            </a:endParaRPr>
          </a:p>
        </p:txBody>
      </p:sp>
      <p:sp>
        <p:nvSpPr>
          <p:cNvPr id="17" name="TextBox 16"/>
          <p:cNvSpPr txBox="1"/>
          <p:nvPr/>
        </p:nvSpPr>
        <p:spPr>
          <a:xfrm>
            <a:off x="685800" y="4773168"/>
            <a:ext cx="2103120" cy="457200"/>
          </a:xfrm>
          <a:prstGeom prst="rect">
            <a:avLst/>
          </a:prstGeom>
          <a:noFill/>
        </p:spPr>
        <p:txBody>
          <a:bodyPr wrap="square" lIns="0" tIns="0" rIns="0" bIns="0" anchor="t">
            <a:spAutoFit/>
          </a:bodyPr>
          <a:lstStyle/>
          <a:p>
            <a:pPr algn="l"/>
            <a:r>
              <a:rPr sz="850" b="0" i="0">
                <a:solidFill>
                  <a:srgbClr val="7878A0"/>
                </a:solidFill>
                <a:latin typeface="Calibri"/>
              </a:rPr>
              <a:t>Publish task — validator checks solvability, upper bars, schema</a:t>
            </a:r>
            <a:endParaRPr sz="850" b="0" i="0">
              <a:solidFill>
                <a:srgbClr val="7878A0"/>
              </a:solidFill>
              <a:latin typeface="Calibri"/>
            </a:endParaRPr>
          </a:p>
        </p:txBody>
      </p:sp>
      <p:sp>
        <p:nvSpPr>
          <p:cNvPr id="18" name="Rounded Rectangle 17"/>
          <p:cNvSpPr/>
          <p:nvPr/>
        </p:nvSpPr>
        <p:spPr>
          <a:xfrm>
            <a:off x="548640" y="5440680"/>
            <a:ext cx="2377440" cy="10515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13832"/>
            <a:ext cx="2103120" cy="914400"/>
          </a:xfrm>
          <a:prstGeom prst="rect">
            <a:avLst/>
          </a:prstGeom>
          <a:noFill/>
        </p:spPr>
        <p:txBody>
          <a:bodyPr wrap="square" lIns="0" tIns="0" rIns="0" bIns="0" anchor="t">
            <a:spAutoFit/>
          </a:bodyPr>
          <a:lstStyle/>
          <a:p>
            <a:pPr algn="l"/>
            <a:r>
              <a:rPr sz="900" b="0" i="0">
                <a:solidFill>
                  <a:srgbClr val="7878A0"/>
                </a:solidFill>
                <a:latin typeface="Consolas"/>
              </a:rPr>
              <a:t>Task: </a:t>
            </a:r>
            <a:r>
              <a:rPr sz="900" b="0" i="0">
                <a:solidFill>
                  <a:srgbClr val="E8E8F0"/>
                </a:solidFill>
                <a:latin typeface="Consolas"/>
              </a:rPr>
              <a:t>nyc · type4 · $24/day</a:t>
            </a:r>
            <a:endParaRPr sz="900" b="0" i="0">
              <a:solidFill>
                <a:srgbClr val="E8E8F0"/>
              </a:solidFill>
              <a:latin typeface="Consolas"/>
            </a:endParaRPr>
          </a:p>
          <a:p>
            <a:pPr algn="l"/>
            <a:r>
              <a:rPr sz="900" b="0" i="0">
                <a:solidFill>
                  <a:srgbClr val="7878A0"/>
                </a:solidFill>
                <a:latin typeface="Consolas"/>
              </a:rPr>
              <a:t>Type: </a:t>
            </a:r>
            <a:r>
              <a:rPr sz="900" b="0" i="0">
                <a:solidFill>
                  <a:srgbClr val="FFA84A"/>
                </a:solidFill>
                <a:latin typeface="Consolas"/>
              </a:rPr>
              <a:t>type4_precision_allocation</a:t>
            </a:r>
            <a:endParaRPr sz="900" b="0" i="0">
              <a:solidFill>
                <a:srgbClr val="FFA84A"/>
              </a:solidFill>
              <a:latin typeface="Consolas"/>
            </a:endParaRPr>
          </a:p>
          <a:p>
            <a:pPr algn="l"/>
            <a:r>
              <a:rPr sz="900" b="0" i="0">
                <a:solidFill>
                  <a:srgbClr val="7878A0"/>
                </a:solidFill>
                <a:latin typeface="Consolas"/>
              </a:rPr>
              <a:t>Window: </a:t>
            </a:r>
            <a:r>
              <a:rPr sz="900" b="0" i="0">
                <a:solidFill>
                  <a:srgbClr val="E8E8F0"/>
                </a:solidFill>
                <a:latin typeface="Consolas"/>
              </a:rPr>
              <a:t>Independence Day 2026</a:t>
            </a:r>
            <a:endParaRPr sz="900" b="0" i="0">
              <a:solidFill>
                <a:srgbClr val="E8E8F0"/>
              </a:solidFill>
              <a:latin typeface="Consolas"/>
            </a:endParaRPr>
          </a:p>
          <a:p>
            <a:pPr algn="l"/>
            <a:r>
              <a:rPr sz="900" b="0" i="0">
                <a:solidFill>
                  <a:srgbClr val="7878A0"/>
                </a:solidFill>
                <a:latin typeface="Consolas"/>
              </a:rPr>
              <a:t>Model: </a:t>
            </a:r>
            <a:r>
              <a:rPr sz="900" b="0" i="0">
                <a:solidFill>
                  <a:srgbClr val="E8E8F0"/>
                </a:solidFill>
                <a:latin typeface="Consolas"/>
              </a:rPr>
              <a:t>gpt-5.4</a:t>
            </a:r>
            <a:endParaRPr sz="900" b="0" i="0">
              <a:solidFill>
                <a:srgbClr val="E8E8F0"/>
              </a:solidFill>
              <a:latin typeface="Consolas"/>
            </a:endParaRPr>
          </a:p>
          <a:p>
            <a:pPr algn="l"/>
            <a:r>
              <a:rPr sz="900" b="0" i="0">
                <a:solidFill>
                  <a:srgbClr val="7878A0"/>
                </a:solidFill>
                <a:latin typeface="Consolas"/>
              </a:rPr>
              <a:t>Turns: </a:t>
            </a:r>
            <a:r>
              <a:rPr sz="900" b="0" i="0">
                <a:solidFill>
                  <a:srgbClr val="E8E8F0"/>
                </a:solidFill>
                <a:latin typeface="Consolas"/>
              </a:rPr>
              <a:t>8 (max 30)</a:t>
            </a:r>
            <a:endParaRPr sz="900" b="0" i="0">
              <a:solidFill>
                <a:srgbClr val="E8E8F0"/>
              </a:solidFill>
              <a:latin typeface="Consolas"/>
            </a:endParaRPr>
          </a:p>
        </p:txBody>
      </p:sp>
      <p:sp>
        <p:nvSpPr>
          <p:cNvPr id="20" name="Rounded Rectangle 19"/>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1691640"/>
            <a:ext cx="6074228"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1828800"/>
            <a:ext cx="8503920" cy="274320"/>
          </a:xfrm>
          <a:prstGeom prst="rect">
            <a:avLst/>
          </a:prstGeom>
          <a:noFill/>
        </p:spPr>
        <p:txBody>
          <a:bodyPr wrap="square" lIns="0" tIns="0" rIns="0" bIns="0" anchor="t">
            <a:spAutoFit/>
          </a:bodyPr>
          <a:lstStyle/>
          <a:p>
            <a:pPr algn="l"/>
            <a:r>
              <a:rPr sz="900" b="0" i="0">
                <a:solidFill>
                  <a:srgbClr val="7878A0"/>
                </a:solidFill>
                <a:latin typeface="Consolas"/>
              </a:rPr>
              <a:t>Step 5 / 7</a:t>
            </a:r>
            <a:endParaRPr sz="900" b="0" i="0">
              <a:solidFill>
                <a:srgbClr val="7878A0"/>
              </a:solidFill>
              <a:latin typeface="Consolas"/>
            </a:endParaRPr>
          </a:p>
        </p:txBody>
      </p:sp>
      <p:sp>
        <p:nvSpPr>
          <p:cNvPr id="23" name="TextBox 22"/>
          <p:cNvSpPr txBox="1"/>
          <p:nvPr/>
        </p:nvSpPr>
        <p:spPr>
          <a:xfrm>
            <a:off x="3108960" y="2103120"/>
            <a:ext cx="8503920" cy="320040"/>
          </a:xfrm>
          <a:prstGeom prst="rect">
            <a:avLst/>
          </a:prstGeom>
          <a:noFill/>
        </p:spPr>
        <p:txBody>
          <a:bodyPr wrap="square" lIns="0" tIns="0" rIns="0" bIns="0" anchor="t">
            <a:spAutoFit/>
          </a:bodyPr>
          <a:lstStyle/>
          <a:p>
            <a:pPr algn="l"/>
            <a:r>
              <a:rPr sz="1300" b="1" i="0">
                <a:solidFill>
                  <a:srgbClr val="FF6C8E"/>
                </a:solidFill>
                <a:latin typeface="Consolas"/>
              </a:rPr>
              <a:t>📤  Submit attempt 1 — rejected</a:t>
            </a:r>
            <a:endParaRPr sz="1300" b="1" i="0">
              <a:solidFill>
                <a:srgbClr val="FF6C8E"/>
              </a:solidFill>
              <a:latin typeface="Consolas"/>
            </a:endParaRPr>
          </a:p>
        </p:txBody>
      </p:sp>
      <p:sp>
        <p:nvSpPr>
          <p:cNvPr id="24" name="Rounded Rectangle 23"/>
          <p:cNvSpPr/>
          <p:nvPr/>
        </p:nvSpPr>
        <p:spPr>
          <a:xfrm>
            <a:off x="3108960" y="2560320"/>
            <a:ext cx="8503920" cy="68580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6120" y="263347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6" name="TextBox 25"/>
          <p:cNvSpPr txBox="1"/>
          <p:nvPr/>
        </p:nvSpPr>
        <p:spPr>
          <a:xfrm>
            <a:off x="3246120" y="2834640"/>
            <a:ext cx="8229600" cy="365760"/>
          </a:xfrm>
          <a:prstGeom prst="rect">
            <a:avLst/>
          </a:prstGeom>
          <a:noFill/>
        </p:spPr>
        <p:txBody>
          <a:bodyPr wrap="square" lIns="0" tIns="0" rIns="0" bIns="0" anchor="t">
            <a:spAutoFit/>
          </a:bodyPr>
          <a:lstStyle/>
          <a:p>
            <a:pPr algn="l"/>
            <a:r>
              <a:rPr sz="1000" b="0" i="0">
                <a:solidFill>
                  <a:srgbClr val="7878A0"/>
                </a:solidFill>
                <a:latin typeface="Calibri"/>
              </a:rPr>
              <a:t>Ready: $40/day budget · all visits free-entry · no tourist-trap · ≥3 distinct cuisines.</a:t>
            </a:r>
            <a:endParaRPr sz="1000" b="0" i="0">
              <a:solidFill>
                <a:srgbClr val="7878A0"/>
              </a:solidFill>
              <a:latin typeface="Calibri"/>
            </a:endParaRPr>
          </a:p>
        </p:txBody>
      </p:sp>
      <p:sp>
        <p:nvSpPr>
          <p:cNvPr id="27" name="Rounded Rectangle 26"/>
          <p:cNvSpPr/>
          <p:nvPr/>
        </p:nvSpPr>
        <p:spPr>
          <a:xfrm>
            <a:off x="3108960" y="3355848"/>
            <a:ext cx="8503920" cy="777240"/>
          </a:xfrm>
          <a:prstGeom prst="roundRect">
            <a:avLst>
              <a:gd name="adj" fmla="val 6000"/>
            </a:avLst>
          </a:prstGeom>
          <a:solidFill>
            <a:srgbClr val="13131A"/>
          </a:solidFill>
          <a:ln w="9525">
            <a:solidFill>
              <a:srgbClr val="FF6C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3429000"/>
            <a:ext cx="8229600" cy="228600"/>
          </a:xfrm>
          <a:prstGeom prst="rect">
            <a:avLst/>
          </a:prstGeom>
          <a:noFill/>
        </p:spPr>
        <p:txBody>
          <a:bodyPr wrap="square" lIns="0" tIns="0" rIns="0" bIns="0" anchor="t">
            <a:spAutoFit/>
          </a:bodyPr>
          <a:lstStyle/>
          <a:p>
            <a:pPr algn="l"/>
            <a:r>
              <a:rPr sz="1000" b="1" i="0">
                <a:solidFill>
                  <a:srgbClr val="FFA84A"/>
                </a:solidFill>
                <a:latin typeface="Consolas"/>
              </a:rPr>
              <a:t>SUBMIT   </a:t>
            </a:r>
            <a:r>
              <a:rPr sz="1000" b="0" i="0">
                <a:solidFill>
                  <a:srgbClr val="FFA84A"/>
                </a:solidFill>
                <a:latin typeface="Consolas"/>
              </a:rPr>
              <a:t>SUBMIT(task v1 — $40/day)</a:t>
            </a:r>
            <a:endParaRPr sz="1000" b="0" i="0">
              <a:solidFill>
                <a:srgbClr val="FFA84A"/>
              </a:solidFill>
              <a:latin typeface="Consolas"/>
            </a:endParaRPr>
          </a:p>
        </p:txBody>
      </p:sp>
      <p:sp>
        <p:nvSpPr>
          <p:cNvPr id="29" name="Rounded Rectangle 28"/>
          <p:cNvSpPr/>
          <p:nvPr/>
        </p:nvSpPr>
        <p:spPr>
          <a:xfrm>
            <a:off x="3246120" y="3721608"/>
            <a:ext cx="8229600" cy="347472"/>
          </a:xfrm>
          <a:prstGeom prst="roundRect">
            <a:avLst>
              <a:gd name="adj" fmla="val 6000"/>
            </a:avLst>
          </a:prstGeom>
          <a:solidFill>
            <a:srgbClr val="281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7560" y="3767328"/>
            <a:ext cx="8046720" cy="274320"/>
          </a:xfrm>
          <a:prstGeom prst="rect">
            <a:avLst/>
          </a:prstGeom>
          <a:noFill/>
        </p:spPr>
        <p:txBody>
          <a:bodyPr wrap="square" lIns="0" tIns="0" rIns="0" bIns="0" anchor="t">
            <a:spAutoFit/>
          </a:bodyPr>
          <a:lstStyle/>
          <a:p>
            <a:pPr algn="l"/>
            <a:r>
              <a:rPr sz="950" b="0" i="0">
                <a:solidFill>
                  <a:srgbClr val="FF6C8E"/>
                </a:solidFill>
                <a:latin typeface="Consolas"/>
              </a:rPr>
              <a:t>❌  2 validator errors</a:t>
            </a:r>
            <a:endParaRPr sz="950" b="0" i="0">
              <a:solidFill>
                <a:srgbClr val="FF6C8E"/>
              </a:solidFill>
              <a:latin typeface="Consolas"/>
            </a:endParaRPr>
          </a:p>
        </p:txBody>
      </p:sp>
      <p:sp>
        <p:nvSpPr>
          <p:cNvPr id="31" name="Rounded Rectangle 30"/>
          <p:cNvSpPr/>
          <p:nvPr/>
        </p:nvSpPr>
        <p:spPr>
          <a:xfrm>
            <a:off x="3108960" y="4224528"/>
            <a:ext cx="8503920" cy="457200"/>
          </a:xfrm>
          <a:prstGeom prst="roundRect">
            <a:avLst>
              <a:gd name="adj" fmla="val 6000"/>
            </a:avLst>
          </a:prstGeom>
          <a:solidFill>
            <a:srgbClr val="13131A"/>
          </a:solidFill>
          <a:ln w="9525">
            <a:solidFill>
              <a:srgbClr val="604E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6120" y="4279392"/>
            <a:ext cx="8229600" cy="182880"/>
          </a:xfrm>
          <a:prstGeom prst="rect">
            <a:avLst/>
          </a:prstGeom>
          <a:noFill/>
        </p:spPr>
        <p:txBody>
          <a:bodyPr wrap="square" lIns="0" tIns="0" rIns="0" bIns="0" anchor="t">
            <a:spAutoFit/>
          </a:bodyPr>
          <a:lstStyle/>
          <a:p>
            <a:pPr algn="l"/>
            <a:r>
              <a:rPr sz="800" b="1" i="0">
                <a:solidFill>
                  <a:srgbClr val="FFA84A"/>
                </a:solidFill>
                <a:latin typeface="Consolas"/>
              </a:rPr>
              <a:t>WHAT WAS SUBMITTED</a:t>
            </a:r>
            <a:endParaRPr sz="800" b="1" i="0">
              <a:solidFill>
                <a:srgbClr val="FFA84A"/>
              </a:solidFill>
              <a:latin typeface="Consolas"/>
            </a:endParaRPr>
          </a:p>
        </p:txBody>
      </p:sp>
      <p:sp>
        <p:nvSpPr>
          <p:cNvPr id="33" name="TextBox 32"/>
          <p:cNvSpPr txBox="1"/>
          <p:nvPr/>
        </p:nvSpPr>
        <p:spPr>
          <a:xfrm>
            <a:off x="3246120" y="4453128"/>
            <a:ext cx="8229600" cy="201168"/>
          </a:xfrm>
          <a:prstGeom prst="rect">
            <a:avLst/>
          </a:prstGeom>
          <a:noFill/>
        </p:spPr>
        <p:txBody>
          <a:bodyPr wrap="square" lIns="0" tIns="0" rIns="0" bIns="0" anchor="t">
            <a:spAutoFit/>
          </a:bodyPr>
          <a:lstStyle/>
          <a:p>
            <a:pPr algn="l"/>
            <a:r>
              <a:rPr sz="950" b="0" i="0">
                <a:solidFill>
                  <a:srgbClr val="C8A060"/>
                </a:solidFill>
                <a:latin typeface="Consolas"/>
              </a:rPr>
              <a:t>budget_per_day: 40  ·  4 personal constraints</a:t>
            </a:r>
            <a:endParaRPr sz="950" b="0" i="0">
              <a:solidFill>
                <a:srgbClr val="C8A060"/>
              </a:solidFill>
              <a:latin typeface="Consolas"/>
            </a:endParaRPr>
          </a:p>
        </p:txBody>
      </p:sp>
      <p:sp>
        <p:nvSpPr>
          <p:cNvPr id="34" name="Rounded Rectangle 33"/>
          <p:cNvSpPr/>
          <p:nvPr/>
        </p:nvSpPr>
        <p:spPr>
          <a:xfrm>
            <a:off x="3108960" y="4773168"/>
            <a:ext cx="8503920" cy="1188720"/>
          </a:xfrm>
          <a:prstGeom prst="roundRect">
            <a:avLst>
              <a:gd name="adj" fmla="val 6000"/>
            </a:avLst>
          </a:prstGeom>
          <a:solidFill>
            <a:srgbClr val="13131A"/>
          </a:solidFill>
          <a:ln w="9525">
            <a:solidFill>
              <a:srgbClr val="FF6C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6120" y="4828032"/>
            <a:ext cx="8229600" cy="182880"/>
          </a:xfrm>
          <a:prstGeom prst="rect">
            <a:avLst/>
          </a:prstGeom>
          <a:noFill/>
        </p:spPr>
        <p:txBody>
          <a:bodyPr wrap="square" lIns="0" tIns="0" rIns="0" bIns="0" anchor="t">
            <a:spAutoFit/>
          </a:bodyPr>
          <a:lstStyle/>
          <a:p>
            <a:pPr algn="l"/>
            <a:r>
              <a:rPr sz="800" b="1" i="0">
                <a:solidFill>
                  <a:srgbClr val="FF6C8E"/>
                </a:solidFill>
                <a:latin typeface="Consolas"/>
              </a:rPr>
              <a:t>VALIDATOR ERRORS</a:t>
            </a:r>
            <a:endParaRPr sz="800" b="1" i="0">
              <a:solidFill>
                <a:srgbClr val="FF6C8E"/>
              </a:solidFill>
              <a:latin typeface="Consolas"/>
            </a:endParaRPr>
          </a:p>
        </p:txBody>
      </p:sp>
      <p:sp>
        <p:nvSpPr>
          <p:cNvPr id="36" name="TextBox 35"/>
          <p:cNvSpPr txBox="1"/>
          <p:nvPr/>
        </p:nvSpPr>
        <p:spPr>
          <a:xfrm>
            <a:off x="3246120" y="5029200"/>
            <a:ext cx="8229600" cy="457200"/>
          </a:xfrm>
          <a:prstGeom prst="rect">
            <a:avLst/>
          </a:prstGeom>
          <a:noFill/>
        </p:spPr>
        <p:txBody>
          <a:bodyPr wrap="square" lIns="0" tIns="0" rIns="0" bIns="0" anchor="t">
            <a:spAutoFit/>
          </a:bodyPr>
          <a:lstStyle/>
          <a:p>
            <a:pPr algn="l"/>
            <a:r>
              <a:rPr sz="950" b="0" i="0">
                <a:solidFill>
                  <a:srgbClr val="7878A0"/>
                </a:solidFill>
                <a:latin typeface="Calibri"/>
              </a:rPr>
              <a:t>✗  [pc_004] condition is empty with trivial scope='activity_type=meal' — add has_tag, not_tag, or a field comparison</a:t>
            </a:r>
            <a:endParaRPr sz="950" b="0" i="0">
              <a:solidFill>
                <a:srgbClr val="7878A0"/>
              </a:solidFill>
              <a:latin typeface="Calibri"/>
            </a:endParaRPr>
          </a:p>
        </p:txBody>
      </p:sp>
      <p:sp>
        <p:nvSpPr>
          <p:cNvPr id="37" name="TextBox 36"/>
          <p:cNvSpPr txBox="1"/>
          <p:nvPr/>
        </p:nvSpPr>
        <p:spPr>
          <a:xfrm>
            <a:off x="3246120" y="5440680"/>
            <a:ext cx="8229600" cy="457200"/>
          </a:xfrm>
          <a:prstGeom prst="rect">
            <a:avLst/>
          </a:prstGeom>
          <a:noFill/>
        </p:spPr>
        <p:txBody>
          <a:bodyPr wrap="square" lIns="0" tIns="0" rIns="0" bIns="0" anchor="t">
            <a:spAutoFit/>
          </a:bodyPr>
          <a:lstStyle/>
          <a:p>
            <a:pPr algn="l"/>
            <a:r>
              <a:rPr sz="950" b="0" i="0">
                <a:solidFill>
                  <a:srgbClr val="7878A0"/>
                </a:solidFill>
                <a:latin typeface="Calibri"/>
              </a:rPr>
              <a:t>✗  Solvability: Type 4 budget too loose: $40/day is 2.00× cheapest viable ($20); requires 1.1–1.3×. Tighten to $22–$26.</a:t>
            </a:r>
            <a:endParaRPr sz="950" b="0" i="0">
              <a:solidFill>
                <a:srgbClr val="7878A0"/>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11  —  TASK-GENERATION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NYC Type 4  ·  Free-Entry Maximiser  ·  GPT-5.4</a:t>
            </a:r>
            <a:endParaRPr sz="2400" b="0" i="0">
              <a:solidFill>
                <a:srgbClr val="E8E8F0"/>
              </a:solidFill>
              <a:latin typeface="Georgia" panose="02040502050405090303"/>
            </a:endParaRPr>
          </a:p>
        </p:txBody>
      </p:sp>
      <p:sp>
        <p:nvSpPr>
          <p:cNvPr id="4" name="TextBox 3"/>
          <p:cNvSpPr txBox="1"/>
          <p:nvPr/>
        </p:nvSpPr>
        <p:spPr>
          <a:xfrm>
            <a:off x="548640" y="114300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6 / 7  —  Fix both issues</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GENERATION TOOLS</a:t>
            </a:r>
            <a:endParaRPr sz="900" b="0" i="0">
              <a:solidFill>
                <a:srgbClr val="7878A0"/>
              </a:solidFill>
              <a:latin typeface="Consolas"/>
            </a:endParaRPr>
          </a:p>
        </p:txBody>
      </p:sp>
      <p:sp>
        <p:nvSpPr>
          <p:cNvPr id="6" name="Rounded Rectangle 5"/>
          <p:cNvSpPr/>
          <p:nvPr/>
        </p:nvSpPr>
        <p:spPr>
          <a:xfrm>
            <a:off x="548640" y="201168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84832"/>
            <a:ext cx="2103120" cy="228600"/>
          </a:xfrm>
          <a:prstGeom prst="rect">
            <a:avLst/>
          </a:prstGeom>
          <a:noFill/>
        </p:spPr>
        <p:txBody>
          <a:bodyPr wrap="square" lIns="0" tIns="0" rIns="0" bIns="0" anchor="t">
            <a:spAutoFit/>
          </a:bodyPr>
          <a:lstStyle/>
          <a:p>
            <a:pPr algn="l"/>
            <a:r>
              <a:rPr sz="1000" b="1" i="0">
                <a:solidFill>
                  <a:srgbClr val="6C8EFF"/>
                </a:solidFill>
                <a:latin typeface="Consolas"/>
              </a:rPr>
              <a:t>HELP</a:t>
            </a:r>
            <a:endParaRPr sz="1000" b="1" i="0">
              <a:solidFill>
                <a:srgbClr val="6C8EFF"/>
              </a:solidFill>
              <a:latin typeface="Consolas"/>
            </a:endParaRPr>
          </a:p>
        </p:txBody>
      </p:sp>
      <p:sp>
        <p:nvSpPr>
          <p:cNvPr id="8" name="TextBox 7"/>
          <p:cNvSpPr txBox="1"/>
          <p:nvPr/>
        </p:nvSpPr>
        <p:spPr>
          <a:xfrm>
            <a:off x="685800" y="2304288"/>
            <a:ext cx="2103120" cy="457200"/>
          </a:xfrm>
          <a:prstGeom prst="rect">
            <a:avLst/>
          </a:prstGeom>
          <a:noFill/>
        </p:spPr>
        <p:txBody>
          <a:bodyPr wrap="square" lIns="0" tIns="0" rIns="0" bIns="0" anchor="t">
            <a:spAutoFit/>
          </a:bodyPr>
          <a:lstStyle/>
          <a:p>
            <a:pPr algn="l"/>
            <a:r>
              <a:rPr sz="850" b="0" i="0">
                <a:solidFill>
                  <a:srgbClr val="7878A0"/>
                </a:solidFill>
                <a:latin typeface="Calibri"/>
              </a:rPr>
              <a:t>Query the pool handbook — tags, regulations, validation rules</a:t>
            </a:r>
            <a:endParaRPr sz="850" b="0" i="0">
              <a:solidFill>
                <a:srgbClr val="7878A0"/>
              </a:solidFill>
              <a:latin typeface="Calibri"/>
            </a:endParaRPr>
          </a:p>
        </p:txBody>
      </p:sp>
      <p:sp>
        <p:nvSpPr>
          <p:cNvPr id="9" name="Rounded Rectangle 8"/>
          <p:cNvSpPr/>
          <p:nvPr/>
        </p:nvSpPr>
        <p:spPr>
          <a:xfrm>
            <a:off x="548640" y="283464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907792"/>
            <a:ext cx="2103120" cy="228600"/>
          </a:xfrm>
          <a:prstGeom prst="rect">
            <a:avLst/>
          </a:prstGeom>
          <a:noFill/>
        </p:spPr>
        <p:txBody>
          <a:bodyPr wrap="square" lIns="0" tIns="0" rIns="0" bIns="0" anchor="t">
            <a:spAutoFit/>
          </a:bodyPr>
          <a:lstStyle/>
          <a:p>
            <a:pPr algn="l"/>
            <a:r>
              <a:rPr sz="1000" b="1" i="0">
                <a:solidFill>
                  <a:srgbClr val="C87EFF"/>
                </a:solidFill>
                <a:latin typeface="Consolas"/>
              </a:rPr>
              <a:t>THINK</a:t>
            </a:r>
            <a:endParaRPr sz="1000" b="1" i="0">
              <a:solidFill>
                <a:srgbClr val="C87EFF"/>
              </a:solidFill>
              <a:latin typeface="Consolas"/>
            </a:endParaRPr>
          </a:p>
        </p:txBody>
      </p:sp>
      <p:sp>
        <p:nvSpPr>
          <p:cNvPr id="11" name="TextBox 10"/>
          <p:cNvSpPr txBox="1"/>
          <p:nvPr/>
        </p:nvSpPr>
        <p:spPr>
          <a:xfrm>
            <a:off x="685800" y="3127248"/>
            <a:ext cx="2103120" cy="457200"/>
          </a:xfrm>
          <a:prstGeom prst="rect">
            <a:avLst/>
          </a:prstGeom>
          <a:noFill/>
        </p:spPr>
        <p:txBody>
          <a:bodyPr wrap="square" lIns="0" tIns="0" rIns="0" bIns="0" anchor="t">
            <a:spAutoFit/>
          </a:bodyPr>
          <a:lstStyle/>
          <a:p>
            <a:pPr algn="l"/>
            <a:r>
              <a:rPr sz="850" b="0" i="0">
                <a:solidFill>
                  <a:srgbClr val="7878A0"/>
                </a:solidFill>
                <a:latin typeface="Calibri"/>
              </a:rPr>
              <a:t>Internal reasoning — persona, constraint strategy, solvability</a:t>
            </a:r>
            <a:endParaRPr sz="850" b="0" i="0">
              <a:solidFill>
                <a:srgbClr val="7878A0"/>
              </a:solidFill>
              <a:latin typeface="Calibri"/>
            </a:endParaRPr>
          </a:p>
        </p:txBody>
      </p:sp>
      <p:sp>
        <p:nvSpPr>
          <p:cNvPr id="12" name="Rounded Rectangle 11"/>
          <p:cNvSpPr/>
          <p:nvPr/>
        </p:nvSpPr>
        <p:spPr>
          <a:xfrm>
            <a:off x="548640" y="365760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30752"/>
            <a:ext cx="2103120" cy="228600"/>
          </a:xfrm>
          <a:prstGeom prst="rect">
            <a:avLst/>
          </a:prstGeom>
          <a:noFill/>
        </p:spPr>
        <p:txBody>
          <a:bodyPr wrap="square" lIns="0" tIns="0" rIns="0" bIns="0" anchor="t">
            <a:spAutoFit/>
          </a:bodyPr>
          <a:lstStyle/>
          <a:p>
            <a:pPr algn="l"/>
            <a:r>
              <a:rPr sz="1000" b="1" i="0">
                <a:solidFill>
                  <a:srgbClr val="6CFFC8"/>
                </a:solidFill>
                <a:latin typeface="Consolas"/>
              </a:rPr>
              <a:t>query_pool</a:t>
            </a:r>
            <a:endParaRPr sz="1000" b="1" i="0">
              <a:solidFill>
                <a:srgbClr val="6CFFC8"/>
              </a:solidFill>
              <a:latin typeface="Consolas"/>
            </a:endParaRPr>
          </a:p>
        </p:txBody>
      </p:sp>
      <p:sp>
        <p:nvSpPr>
          <p:cNvPr id="14" name="TextBox 13"/>
          <p:cNvSpPr txBox="1"/>
          <p:nvPr/>
        </p:nvSpPr>
        <p:spPr>
          <a:xfrm>
            <a:off x="685800" y="3950208"/>
            <a:ext cx="2103120" cy="457200"/>
          </a:xfrm>
          <a:prstGeom prst="rect">
            <a:avLst/>
          </a:prstGeom>
          <a:noFill/>
        </p:spPr>
        <p:txBody>
          <a:bodyPr wrap="square" lIns="0" tIns="0" rIns="0" bIns="0" anchor="t">
            <a:spAutoFit/>
          </a:bodyPr>
          <a:lstStyle/>
          <a:p>
            <a:pPr algn="l"/>
            <a:r>
              <a:rPr sz="850" b="0" i="0">
                <a:solidFill>
                  <a:srgbClr val="7878A0"/>
                </a:solidFill>
                <a:latin typeface="Calibri"/>
              </a:rPr>
              <a:t>Filter the venue pool by category, tag, regulation, tier</a:t>
            </a:r>
            <a:endParaRPr sz="850" b="0" i="0">
              <a:solidFill>
                <a:srgbClr val="7878A0"/>
              </a:solidFill>
              <a:latin typeface="Calibri"/>
            </a:endParaRPr>
          </a:p>
        </p:txBody>
      </p:sp>
      <p:sp>
        <p:nvSpPr>
          <p:cNvPr id="15" name="Rounded Rectangle 14"/>
          <p:cNvSpPr/>
          <p:nvPr/>
        </p:nvSpPr>
        <p:spPr>
          <a:xfrm>
            <a:off x="548640" y="448056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53712"/>
            <a:ext cx="2103120" cy="228600"/>
          </a:xfrm>
          <a:prstGeom prst="rect">
            <a:avLst/>
          </a:prstGeom>
          <a:noFill/>
        </p:spPr>
        <p:txBody>
          <a:bodyPr wrap="square" lIns="0" tIns="0" rIns="0" bIns="0" anchor="t">
            <a:spAutoFit/>
          </a:bodyPr>
          <a:lstStyle/>
          <a:p>
            <a:pPr algn="l"/>
            <a:r>
              <a:rPr sz="1000" b="1" i="0">
                <a:solidFill>
                  <a:srgbClr val="FFA84A"/>
                </a:solidFill>
                <a:latin typeface="Consolas"/>
              </a:rPr>
              <a:t>SUBMIT</a:t>
            </a:r>
            <a:endParaRPr sz="1000" b="1" i="0">
              <a:solidFill>
                <a:srgbClr val="FFA84A"/>
              </a:solidFill>
              <a:latin typeface="Consolas"/>
            </a:endParaRPr>
          </a:p>
        </p:txBody>
      </p:sp>
      <p:sp>
        <p:nvSpPr>
          <p:cNvPr id="17" name="TextBox 16"/>
          <p:cNvSpPr txBox="1"/>
          <p:nvPr/>
        </p:nvSpPr>
        <p:spPr>
          <a:xfrm>
            <a:off x="685800" y="4773168"/>
            <a:ext cx="2103120" cy="457200"/>
          </a:xfrm>
          <a:prstGeom prst="rect">
            <a:avLst/>
          </a:prstGeom>
          <a:noFill/>
        </p:spPr>
        <p:txBody>
          <a:bodyPr wrap="square" lIns="0" tIns="0" rIns="0" bIns="0" anchor="t">
            <a:spAutoFit/>
          </a:bodyPr>
          <a:lstStyle/>
          <a:p>
            <a:pPr algn="l"/>
            <a:r>
              <a:rPr sz="850" b="0" i="0">
                <a:solidFill>
                  <a:srgbClr val="7878A0"/>
                </a:solidFill>
                <a:latin typeface="Calibri"/>
              </a:rPr>
              <a:t>Publish task — validator checks solvability, upper bars, schema</a:t>
            </a:r>
            <a:endParaRPr sz="850" b="0" i="0">
              <a:solidFill>
                <a:srgbClr val="7878A0"/>
              </a:solidFill>
              <a:latin typeface="Calibri"/>
            </a:endParaRPr>
          </a:p>
        </p:txBody>
      </p:sp>
      <p:sp>
        <p:nvSpPr>
          <p:cNvPr id="18" name="Rounded Rectangle 17"/>
          <p:cNvSpPr/>
          <p:nvPr/>
        </p:nvSpPr>
        <p:spPr>
          <a:xfrm>
            <a:off x="548640" y="5440680"/>
            <a:ext cx="2377440" cy="10515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13832"/>
            <a:ext cx="2103120" cy="914400"/>
          </a:xfrm>
          <a:prstGeom prst="rect">
            <a:avLst/>
          </a:prstGeom>
          <a:noFill/>
        </p:spPr>
        <p:txBody>
          <a:bodyPr wrap="square" lIns="0" tIns="0" rIns="0" bIns="0" anchor="t">
            <a:spAutoFit/>
          </a:bodyPr>
          <a:lstStyle/>
          <a:p>
            <a:pPr algn="l"/>
            <a:r>
              <a:rPr sz="900" b="0" i="0">
                <a:solidFill>
                  <a:srgbClr val="7878A0"/>
                </a:solidFill>
                <a:latin typeface="Consolas"/>
              </a:rPr>
              <a:t>Task: </a:t>
            </a:r>
            <a:r>
              <a:rPr sz="900" b="0" i="0">
                <a:solidFill>
                  <a:srgbClr val="E8E8F0"/>
                </a:solidFill>
                <a:latin typeface="Consolas"/>
              </a:rPr>
              <a:t>nyc · type4 · $24/day</a:t>
            </a:r>
            <a:endParaRPr sz="900" b="0" i="0">
              <a:solidFill>
                <a:srgbClr val="E8E8F0"/>
              </a:solidFill>
              <a:latin typeface="Consolas"/>
            </a:endParaRPr>
          </a:p>
          <a:p>
            <a:pPr algn="l"/>
            <a:r>
              <a:rPr sz="900" b="0" i="0">
                <a:solidFill>
                  <a:srgbClr val="7878A0"/>
                </a:solidFill>
                <a:latin typeface="Consolas"/>
              </a:rPr>
              <a:t>Type: </a:t>
            </a:r>
            <a:r>
              <a:rPr sz="900" b="0" i="0">
                <a:solidFill>
                  <a:srgbClr val="FFA84A"/>
                </a:solidFill>
                <a:latin typeface="Consolas"/>
              </a:rPr>
              <a:t>type4_precision_allocation</a:t>
            </a:r>
            <a:endParaRPr sz="900" b="0" i="0">
              <a:solidFill>
                <a:srgbClr val="FFA84A"/>
              </a:solidFill>
              <a:latin typeface="Consolas"/>
            </a:endParaRPr>
          </a:p>
          <a:p>
            <a:pPr algn="l"/>
            <a:r>
              <a:rPr sz="900" b="0" i="0">
                <a:solidFill>
                  <a:srgbClr val="7878A0"/>
                </a:solidFill>
                <a:latin typeface="Consolas"/>
              </a:rPr>
              <a:t>Window: </a:t>
            </a:r>
            <a:r>
              <a:rPr sz="900" b="0" i="0">
                <a:solidFill>
                  <a:srgbClr val="E8E8F0"/>
                </a:solidFill>
                <a:latin typeface="Consolas"/>
              </a:rPr>
              <a:t>Independence Day 2026</a:t>
            </a:r>
            <a:endParaRPr sz="900" b="0" i="0">
              <a:solidFill>
                <a:srgbClr val="E8E8F0"/>
              </a:solidFill>
              <a:latin typeface="Consolas"/>
            </a:endParaRPr>
          </a:p>
          <a:p>
            <a:pPr algn="l"/>
            <a:r>
              <a:rPr sz="900" b="0" i="0">
                <a:solidFill>
                  <a:srgbClr val="7878A0"/>
                </a:solidFill>
                <a:latin typeface="Consolas"/>
              </a:rPr>
              <a:t>Model: </a:t>
            </a:r>
            <a:r>
              <a:rPr sz="900" b="0" i="0">
                <a:solidFill>
                  <a:srgbClr val="E8E8F0"/>
                </a:solidFill>
                <a:latin typeface="Consolas"/>
              </a:rPr>
              <a:t>gpt-5.4</a:t>
            </a:r>
            <a:endParaRPr sz="900" b="0" i="0">
              <a:solidFill>
                <a:srgbClr val="E8E8F0"/>
              </a:solidFill>
              <a:latin typeface="Consolas"/>
            </a:endParaRPr>
          </a:p>
          <a:p>
            <a:pPr algn="l"/>
            <a:r>
              <a:rPr sz="900" b="0" i="0">
                <a:solidFill>
                  <a:srgbClr val="7878A0"/>
                </a:solidFill>
                <a:latin typeface="Consolas"/>
              </a:rPr>
              <a:t>Turns: </a:t>
            </a:r>
            <a:r>
              <a:rPr sz="900" b="0" i="0">
                <a:solidFill>
                  <a:srgbClr val="E8E8F0"/>
                </a:solidFill>
                <a:latin typeface="Consolas"/>
              </a:rPr>
              <a:t>8 (max 30)</a:t>
            </a:r>
            <a:endParaRPr sz="900" b="0" i="0">
              <a:solidFill>
                <a:srgbClr val="E8E8F0"/>
              </a:solidFill>
              <a:latin typeface="Consolas"/>
            </a:endParaRPr>
          </a:p>
        </p:txBody>
      </p:sp>
      <p:sp>
        <p:nvSpPr>
          <p:cNvPr id="20" name="Rounded Rectangle 19"/>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1691640"/>
            <a:ext cx="7289074"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1828800"/>
            <a:ext cx="8503920" cy="274320"/>
          </a:xfrm>
          <a:prstGeom prst="rect">
            <a:avLst/>
          </a:prstGeom>
          <a:noFill/>
        </p:spPr>
        <p:txBody>
          <a:bodyPr wrap="square" lIns="0" tIns="0" rIns="0" bIns="0" anchor="t">
            <a:spAutoFit/>
          </a:bodyPr>
          <a:lstStyle/>
          <a:p>
            <a:pPr algn="l"/>
            <a:r>
              <a:rPr sz="900" b="0" i="0">
                <a:solidFill>
                  <a:srgbClr val="7878A0"/>
                </a:solidFill>
                <a:latin typeface="Consolas"/>
              </a:rPr>
              <a:t>Step 6 / 7</a:t>
            </a:r>
            <a:endParaRPr sz="900" b="0" i="0">
              <a:solidFill>
                <a:srgbClr val="7878A0"/>
              </a:solidFill>
              <a:latin typeface="Consolas"/>
            </a:endParaRPr>
          </a:p>
        </p:txBody>
      </p:sp>
      <p:sp>
        <p:nvSpPr>
          <p:cNvPr id="23" name="TextBox 22"/>
          <p:cNvSpPr txBox="1"/>
          <p:nvPr/>
        </p:nvSpPr>
        <p:spPr>
          <a:xfrm>
            <a:off x="3108960" y="2103120"/>
            <a:ext cx="8503920" cy="320040"/>
          </a:xfrm>
          <a:prstGeom prst="rect">
            <a:avLst/>
          </a:prstGeom>
          <a:noFill/>
        </p:spPr>
        <p:txBody>
          <a:bodyPr wrap="square" lIns="0" tIns="0" rIns="0" bIns="0" anchor="t">
            <a:spAutoFit/>
          </a:bodyPr>
          <a:lstStyle/>
          <a:p>
            <a:pPr algn="l"/>
            <a:r>
              <a:rPr sz="1300" b="1" i="0">
                <a:solidFill>
                  <a:srgbClr val="6C8EFF"/>
                </a:solidFill>
                <a:latin typeface="Consolas"/>
              </a:rPr>
              <a:t>💭  Fix both issues</a:t>
            </a:r>
            <a:endParaRPr sz="1300" b="1" i="0">
              <a:solidFill>
                <a:srgbClr val="6C8EFF"/>
              </a:solidFill>
              <a:latin typeface="Consolas"/>
            </a:endParaRPr>
          </a:p>
        </p:txBody>
      </p:sp>
      <p:sp>
        <p:nvSpPr>
          <p:cNvPr id="24" name="Rounded Rectangle 23"/>
          <p:cNvSpPr/>
          <p:nvPr/>
        </p:nvSpPr>
        <p:spPr>
          <a:xfrm>
            <a:off x="3108960" y="2560320"/>
            <a:ext cx="8503920" cy="68580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6120" y="263347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6" name="TextBox 25"/>
          <p:cNvSpPr txBox="1"/>
          <p:nvPr/>
        </p:nvSpPr>
        <p:spPr>
          <a:xfrm>
            <a:off x="3246120" y="2834640"/>
            <a:ext cx="8229600" cy="365760"/>
          </a:xfrm>
          <a:prstGeom prst="rect">
            <a:avLst/>
          </a:prstGeom>
          <a:noFill/>
        </p:spPr>
        <p:txBody>
          <a:bodyPr wrap="square" lIns="0" tIns="0" rIns="0" bIns="0" anchor="t">
            <a:spAutoFit/>
          </a:bodyPr>
          <a:lstStyle/>
          <a:p>
            <a:pPr algn="l"/>
            <a:r>
              <a:rPr sz="1000" b="0" i="0">
                <a:solidFill>
                  <a:srgbClr val="7878A0"/>
                </a:solidFill>
                <a:latin typeface="Calibri"/>
              </a:rPr>
              <a:t>Budget → $24/day = 1.20× cheapest ($20). Add a real condition to pc_004: meals must be at budget-tier price.</a:t>
            </a:r>
            <a:endParaRPr sz="1000" b="0" i="0">
              <a:solidFill>
                <a:srgbClr val="7878A0"/>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11  —  TASK-GENERATION SANDBOX</a:t>
            </a:r>
            <a:endParaRPr sz="1000" b="0" i="0">
              <a:solidFill>
                <a:srgbClr val="6C8EFF"/>
              </a:solidFill>
              <a:latin typeface="Consolas"/>
            </a:endParaRPr>
          </a:p>
        </p:txBody>
      </p:sp>
      <p:sp>
        <p:nvSpPr>
          <p:cNvPr id="3" name="TextBox 2"/>
          <p:cNvSpPr txBox="1"/>
          <p:nvPr/>
        </p:nvSpPr>
        <p:spPr>
          <a:xfrm>
            <a:off x="548640" y="640080"/>
            <a:ext cx="10972800" cy="822960"/>
          </a:xfrm>
          <a:prstGeom prst="rect">
            <a:avLst/>
          </a:prstGeom>
          <a:noFill/>
        </p:spPr>
        <p:txBody>
          <a:bodyPr wrap="square" lIns="0" tIns="0" rIns="0" bIns="0" anchor="t">
            <a:spAutoFit/>
          </a:bodyPr>
          <a:lstStyle/>
          <a:p>
            <a:pPr algn="l"/>
            <a:r>
              <a:rPr sz="2400" b="0" i="0">
                <a:solidFill>
                  <a:srgbClr val="E8E8F0"/>
                </a:solidFill>
                <a:latin typeface="Georgia" panose="02040502050405090303"/>
              </a:rPr>
              <a:t>NYC Type 4  ·  Free-Entry Maximiser  ·  GPT-5.4</a:t>
            </a:r>
            <a:endParaRPr sz="2400" b="0" i="0">
              <a:solidFill>
                <a:srgbClr val="E8E8F0"/>
              </a:solidFill>
              <a:latin typeface="Georgia" panose="02040502050405090303"/>
            </a:endParaRPr>
          </a:p>
        </p:txBody>
      </p:sp>
      <p:sp>
        <p:nvSpPr>
          <p:cNvPr id="4" name="TextBox 3"/>
          <p:cNvSpPr txBox="1"/>
          <p:nvPr/>
        </p:nvSpPr>
        <p:spPr>
          <a:xfrm>
            <a:off x="548640" y="1143000"/>
            <a:ext cx="10972800" cy="457200"/>
          </a:xfrm>
          <a:prstGeom prst="rect">
            <a:avLst/>
          </a:prstGeom>
          <a:noFill/>
        </p:spPr>
        <p:txBody>
          <a:bodyPr wrap="square" lIns="0" tIns="0" rIns="0" bIns="0" anchor="t">
            <a:spAutoFit/>
          </a:bodyPr>
          <a:lstStyle/>
          <a:p>
            <a:pPr algn="l"/>
            <a:r>
              <a:rPr sz="1600" b="1" i="0">
                <a:solidFill>
                  <a:srgbClr val="E8E8F0"/>
                </a:solidFill>
                <a:latin typeface="Calibri"/>
              </a:rPr>
              <a:t>Step 7 / 7  —  Submit attempt 2 — accepted</a:t>
            </a:r>
            <a:endParaRPr sz="1600" b="1" i="0">
              <a:solidFill>
                <a:srgbClr val="E8E8F0"/>
              </a:solidFill>
              <a:latin typeface="Calibri"/>
            </a:endParaRPr>
          </a:p>
        </p:txBody>
      </p:sp>
      <p:sp>
        <p:nvSpPr>
          <p:cNvPr id="5" name="TextBox 4"/>
          <p:cNvSpPr txBox="1"/>
          <p:nvPr/>
        </p:nvSpPr>
        <p:spPr>
          <a:xfrm>
            <a:off x="548640" y="1691640"/>
            <a:ext cx="2377440" cy="274320"/>
          </a:xfrm>
          <a:prstGeom prst="rect">
            <a:avLst/>
          </a:prstGeom>
          <a:noFill/>
        </p:spPr>
        <p:txBody>
          <a:bodyPr wrap="square" lIns="0" tIns="0" rIns="0" bIns="0" anchor="t">
            <a:spAutoFit/>
          </a:bodyPr>
          <a:lstStyle/>
          <a:p>
            <a:pPr algn="l"/>
            <a:r>
              <a:rPr sz="900" b="0" i="0">
                <a:solidFill>
                  <a:srgbClr val="7878A0"/>
                </a:solidFill>
                <a:latin typeface="Consolas"/>
              </a:rPr>
              <a:t>GENERATION TOOLS</a:t>
            </a:r>
            <a:endParaRPr sz="900" b="0" i="0">
              <a:solidFill>
                <a:srgbClr val="7878A0"/>
              </a:solidFill>
              <a:latin typeface="Consolas"/>
            </a:endParaRPr>
          </a:p>
        </p:txBody>
      </p:sp>
      <p:sp>
        <p:nvSpPr>
          <p:cNvPr id="6" name="Rounded Rectangle 5"/>
          <p:cNvSpPr/>
          <p:nvPr/>
        </p:nvSpPr>
        <p:spPr>
          <a:xfrm>
            <a:off x="548640" y="201168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84832"/>
            <a:ext cx="2103120" cy="228600"/>
          </a:xfrm>
          <a:prstGeom prst="rect">
            <a:avLst/>
          </a:prstGeom>
          <a:noFill/>
        </p:spPr>
        <p:txBody>
          <a:bodyPr wrap="square" lIns="0" tIns="0" rIns="0" bIns="0" anchor="t">
            <a:spAutoFit/>
          </a:bodyPr>
          <a:lstStyle/>
          <a:p>
            <a:pPr algn="l"/>
            <a:r>
              <a:rPr sz="1000" b="1" i="0">
                <a:solidFill>
                  <a:srgbClr val="6C8EFF"/>
                </a:solidFill>
                <a:latin typeface="Consolas"/>
              </a:rPr>
              <a:t>HELP</a:t>
            </a:r>
            <a:endParaRPr sz="1000" b="1" i="0">
              <a:solidFill>
                <a:srgbClr val="6C8EFF"/>
              </a:solidFill>
              <a:latin typeface="Consolas"/>
            </a:endParaRPr>
          </a:p>
        </p:txBody>
      </p:sp>
      <p:sp>
        <p:nvSpPr>
          <p:cNvPr id="8" name="TextBox 7"/>
          <p:cNvSpPr txBox="1"/>
          <p:nvPr/>
        </p:nvSpPr>
        <p:spPr>
          <a:xfrm>
            <a:off x="685800" y="2304288"/>
            <a:ext cx="2103120" cy="457200"/>
          </a:xfrm>
          <a:prstGeom prst="rect">
            <a:avLst/>
          </a:prstGeom>
          <a:noFill/>
        </p:spPr>
        <p:txBody>
          <a:bodyPr wrap="square" lIns="0" tIns="0" rIns="0" bIns="0" anchor="t">
            <a:spAutoFit/>
          </a:bodyPr>
          <a:lstStyle/>
          <a:p>
            <a:pPr algn="l"/>
            <a:r>
              <a:rPr sz="850" b="0" i="0">
                <a:solidFill>
                  <a:srgbClr val="7878A0"/>
                </a:solidFill>
                <a:latin typeface="Calibri"/>
              </a:rPr>
              <a:t>Query the pool handbook — tags, regulations, validation rules</a:t>
            </a:r>
            <a:endParaRPr sz="850" b="0" i="0">
              <a:solidFill>
                <a:srgbClr val="7878A0"/>
              </a:solidFill>
              <a:latin typeface="Calibri"/>
            </a:endParaRPr>
          </a:p>
        </p:txBody>
      </p:sp>
      <p:sp>
        <p:nvSpPr>
          <p:cNvPr id="9" name="Rounded Rectangle 8"/>
          <p:cNvSpPr/>
          <p:nvPr/>
        </p:nvSpPr>
        <p:spPr>
          <a:xfrm>
            <a:off x="548640" y="283464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907792"/>
            <a:ext cx="2103120" cy="228600"/>
          </a:xfrm>
          <a:prstGeom prst="rect">
            <a:avLst/>
          </a:prstGeom>
          <a:noFill/>
        </p:spPr>
        <p:txBody>
          <a:bodyPr wrap="square" lIns="0" tIns="0" rIns="0" bIns="0" anchor="t">
            <a:spAutoFit/>
          </a:bodyPr>
          <a:lstStyle/>
          <a:p>
            <a:pPr algn="l"/>
            <a:r>
              <a:rPr sz="1000" b="1" i="0">
                <a:solidFill>
                  <a:srgbClr val="C87EFF"/>
                </a:solidFill>
                <a:latin typeface="Consolas"/>
              </a:rPr>
              <a:t>THINK</a:t>
            </a:r>
            <a:endParaRPr sz="1000" b="1" i="0">
              <a:solidFill>
                <a:srgbClr val="C87EFF"/>
              </a:solidFill>
              <a:latin typeface="Consolas"/>
            </a:endParaRPr>
          </a:p>
        </p:txBody>
      </p:sp>
      <p:sp>
        <p:nvSpPr>
          <p:cNvPr id="11" name="TextBox 10"/>
          <p:cNvSpPr txBox="1"/>
          <p:nvPr/>
        </p:nvSpPr>
        <p:spPr>
          <a:xfrm>
            <a:off x="685800" y="3127248"/>
            <a:ext cx="2103120" cy="457200"/>
          </a:xfrm>
          <a:prstGeom prst="rect">
            <a:avLst/>
          </a:prstGeom>
          <a:noFill/>
        </p:spPr>
        <p:txBody>
          <a:bodyPr wrap="square" lIns="0" tIns="0" rIns="0" bIns="0" anchor="t">
            <a:spAutoFit/>
          </a:bodyPr>
          <a:lstStyle/>
          <a:p>
            <a:pPr algn="l"/>
            <a:r>
              <a:rPr sz="850" b="0" i="0">
                <a:solidFill>
                  <a:srgbClr val="7878A0"/>
                </a:solidFill>
                <a:latin typeface="Calibri"/>
              </a:rPr>
              <a:t>Internal reasoning — persona, constraint strategy, solvability</a:t>
            </a:r>
            <a:endParaRPr sz="850" b="0" i="0">
              <a:solidFill>
                <a:srgbClr val="7878A0"/>
              </a:solidFill>
              <a:latin typeface="Calibri"/>
            </a:endParaRPr>
          </a:p>
        </p:txBody>
      </p:sp>
      <p:sp>
        <p:nvSpPr>
          <p:cNvPr id="12" name="Rounded Rectangle 11"/>
          <p:cNvSpPr/>
          <p:nvPr/>
        </p:nvSpPr>
        <p:spPr>
          <a:xfrm>
            <a:off x="548640" y="365760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30752"/>
            <a:ext cx="2103120" cy="228600"/>
          </a:xfrm>
          <a:prstGeom prst="rect">
            <a:avLst/>
          </a:prstGeom>
          <a:noFill/>
        </p:spPr>
        <p:txBody>
          <a:bodyPr wrap="square" lIns="0" tIns="0" rIns="0" bIns="0" anchor="t">
            <a:spAutoFit/>
          </a:bodyPr>
          <a:lstStyle/>
          <a:p>
            <a:pPr algn="l"/>
            <a:r>
              <a:rPr sz="1000" b="1" i="0">
                <a:solidFill>
                  <a:srgbClr val="6CFFC8"/>
                </a:solidFill>
                <a:latin typeface="Consolas"/>
              </a:rPr>
              <a:t>query_pool</a:t>
            </a:r>
            <a:endParaRPr sz="1000" b="1" i="0">
              <a:solidFill>
                <a:srgbClr val="6CFFC8"/>
              </a:solidFill>
              <a:latin typeface="Consolas"/>
            </a:endParaRPr>
          </a:p>
        </p:txBody>
      </p:sp>
      <p:sp>
        <p:nvSpPr>
          <p:cNvPr id="14" name="TextBox 13"/>
          <p:cNvSpPr txBox="1"/>
          <p:nvPr/>
        </p:nvSpPr>
        <p:spPr>
          <a:xfrm>
            <a:off x="685800" y="3950208"/>
            <a:ext cx="2103120" cy="457200"/>
          </a:xfrm>
          <a:prstGeom prst="rect">
            <a:avLst/>
          </a:prstGeom>
          <a:noFill/>
        </p:spPr>
        <p:txBody>
          <a:bodyPr wrap="square" lIns="0" tIns="0" rIns="0" bIns="0" anchor="t">
            <a:spAutoFit/>
          </a:bodyPr>
          <a:lstStyle/>
          <a:p>
            <a:pPr algn="l"/>
            <a:r>
              <a:rPr sz="850" b="0" i="0">
                <a:solidFill>
                  <a:srgbClr val="7878A0"/>
                </a:solidFill>
                <a:latin typeface="Calibri"/>
              </a:rPr>
              <a:t>Filter the venue pool by category, tag, regulation, tier</a:t>
            </a:r>
            <a:endParaRPr sz="850" b="0" i="0">
              <a:solidFill>
                <a:srgbClr val="7878A0"/>
              </a:solidFill>
              <a:latin typeface="Calibri"/>
            </a:endParaRPr>
          </a:p>
        </p:txBody>
      </p:sp>
      <p:sp>
        <p:nvSpPr>
          <p:cNvPr id="15" name="Rounded Rectangle 14"/>
          <p:cNvSpPr/>
          <p:nvPr/>
        </p:nvSpPr>
        <p:spPr>
          <a:xfrm>
            <a:off x="548640" y="4480560"/>
            <a:ext cx="2377440" cy="7315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53712"/>
            <a:ext cx="2103120" cy="228600"/>
          </a:xfrm>
          <a:prstGeom prst="rect">
            <a:avLst/>
          </a:prstGeom>
          <a:noFill/>
        </p:spPr>
        <p:txBody>
          <a:bodyPr wrap="square" lIns="0" tIns="0" rIns="0" bIns="0" anchor="t">
            <a:spAutoFit/>
          </a:bodyPr>
          <a:lstStyle/>
          <a:p>
            <a:pPr algn="l"/>
            <a:r>
              <a:rPr sz="1000" b="1" i="0">
                <a:solidFill>
                  <a:srgbClr val="FFA84A"/>
                </a:solidFill>
                <a:latin typeface="Consolas"/>
              </a:rPr>
              <a:t>SUBMIT</a:t>
            </a:r>
            <a:endParaRPr sz="1000" b="1" i="0">
              <a:solidFill>
                <a:srgbClr val="FFA84A"/>
              </a:solidFill>
              <a:latin typeface="Consolas"/>
            </a:endParaRPr>
          </a:p>
        </p:txBody>
      </p:sp>
      <p:sp>
        <p:nvSpPr>
          <p:cNvPr id="17" name="TextBox 16"/>
          <p:cNvSpPr txBox="1"/>
          <p:nvPr/>
        </p:nvSpPr>
        <p:spPr>
          <a:xfrm>
            <a:off x="685800" y="4773168"/>
            <a:ext cx="2103120" cy="457200"/>
          </a:xfrm>
          <a:prstGeom prst="rect">
            <a:avLst/>
          </a:prstGeom>
          <a:noFill/>
        </p:spPr>
        <p:txBody>
          <a:bodyPr wrap="square" lIns="0" tIns="0" rIns="0" bIns="0" anchor="t">
            <a:spAutoFit/>
          </a:bodyPr>
          <a:lstStyle/>
          <a:p>
            <a:pPr algn="l"/>
            <a:r>
              <a:rPr sz="850" b="0" i="0">
                <a:solidFill>
                  <a:srgbClr val="7878A0"/>
                </a:solidFill>
                <a:latin typeface="Calibri"/>
              </a:rPr>
              <a:t>Publish task — validator checks solvability, upper bars, schema</a:t>
            </a:r>
            <a:endParaRPr sz="850" b="0" i="0">
              <a:solidFill>
                <a:srgbClr val="7878A0"/>
              </a:solidFill>
              <a:latin typeface="Calibri"/>
            </a:endParaRPr>
          </a:p>
        </p:txBody>
      </p:sp>
      <p:sp>
        <p:nvSpPr>
          <p:cNvPr id="18" name="Rounded Rectangle 17"/>
          <p:cNvSpPr/>
          <p:nvPr/>
        </p:nvSpPr>
        <p:spPr>
          <a:xfrm>
            <a:off x="548640" y="5440680"/>
            <a:ext cx="2377440" cy="10515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513832"/>
            <a:ext cx="2103120" cy="914400"/>
          </a:xfrm>
          <a:prstGeom prst="rect">
            <a:avLst/>
          </a:prstGeom>
          <a:noFill/>
        </p:spPr>
        <p:txBody>
          <a:bodyPr wrap="square" lIns="0" tIns="0" rIns="0" bIns="0" anchor="t">
            <a:spAutoFit/>
          </a:bodyPr>
          <a:lstStyle/>
          <a:p>
            <a:pPr algn="l"/>
            <a:r>
              <a:rPr sz="900" b="0" i="0">
                <a:solidFill>
                  <a:srgbClr val="7878A0"/>
                </a:solidFill>
                <a:latin typeface="Consolas"/>
              </a:rPr>
              <a:t>Task: </a:t>
            </a:r>
            <a:r>
              <a:rPr sz="900" b="0" i="0">
                <a:solidFill>
                  <a:srgbClr val="E8E8F0"/>
                </a:solidFill>
                <a:latin typeface="Consolas"/>
              </a:rPr>
              <a:t>nyc · type4 · $24/day</a:t>
            </a:r>
            <a:endParaRPr sz="900" b="0" i="0">
              <a:solidFill>
                <a:srgbClr val="E8E8F0"/>
              </a:solidFill>
              <a:latin typeface="Consolas"/>
            </a:endParaRPr>
          </a:p>
          <a:p>
            <a:pPr algn="l"/>
            <a:r>
              <a:rPr sz="900" b="0" i="0">
                <a:solidFill>
                  <a:srgbClr val="7878A0"/>
                </a:solidFill>
                <a:latin typeface="Consolas"/>
              </a:rPr>
              <a:t>Type: </a:t>
            </a:r>
            <a:r>
              <a:rPr sz="900" b="0" i="0">
                <a:solidFill>
                  <a:srgbClr val="FFA84A"/>
                </a:solidFill>
                <a:latin typeface="Consolas"/>
              </a:rPr>
              <a:t>type4_precision_allocation</a:t>
            </a:r>
            <a:endParaRPr sz="900" b="0" i="0">
              <a:solidFill>
                <a:srgbClr val="FFA84A"/>
              </a:solidFill>
              <a:latin typeface="Consolas"/>
            </a:endParaRPr>
          </a:p>
          <a:p>
            <a:pPr algn="l"/>
            <a:r>
              <a:rPr sz="900" b="0" i="0">
                <a:solidFill>
                  <a:srgbClr val="7878A0"/>
                </a:solidFill>
                <a:latin typeface="Consolas"/>
              </a:rPr>
              <a:t>Window: </a:t>
            </a:r>
            <a:r>
              <a:rPr sz="900" b="0" i="0">
                <a:solidFill>
                  <a:srgbClr val="E8E8F0"/>
                </a:solidFill>
                <a:latin typeface="Consolas"/>
              </a:rPr>
              <a:t>Independence Day 2026</a:t>
            </a:r>
            <a:endParaRPr sz="900" b="0" i="0">
              <a:solidFill>
                <a:srgbClr val="E8E8F0"/>
              </a:solidFill>
              <a:latin typeface="Consolas"/>
            </a:endParaRPr>
          </a:p>
          <a:p>
            <a:pPr algn="l"/>
            <a:r>
              <a:rPr sz="900" b="0" i="0">
                <a:solidFill>
                  <a:srgbClr val="7878A0"/>
                </a:solidFill>
                <a:latin typeface="Consolas"/>
              </a:rPr>
              <a:t>Model: </a:t>
            </a:r>
            <a:r>
              <a:rPr sz="900" b="0" i="0">
                <a:solidFill>
                  <a:srgbClr val="E8E8F0"/>
                </a:solidFill>
                <a:latin typeface="Consolas"/>
              </a:rPr>
              <a:t>gpt-5.4</a:t>
            </a:r>
            <a:endParaRPr sz="900" b="0" i="0">
              <a:solidFill>
                <a:srgbClr val="E8E8F0"/>
              </a:solidFill>
              <a:latin typeface="Consolas"/>
            </a:endParaRPr>
          </a:p>
          <a:p>
            <a:pPr algn="l"/>
            <a:r>
              <a:rPr sz="900" b="0" i="0">
                <a:solidFill>
                  <a:srgbClr val="7878A0"/>
                </a:solidFill>
                <a:latin typeface="Consolas"/>
              </a:rPr>
              <a:t>Turns: </a:t>
            </a:r>
            <a:r>
              <a:rPr sz="900" b="0" i="0">
                <a:solidFill>
                  <a:srgbClr val="E8E8F0"/>
                </a:solidFill>
                <a:latin typeface="Consolas"/>
              </a:rPr>
              <a:t>8 (max 30)</a:t>
            </a:r>
            <a:endParaRPr sz="900" b="0" i="0">
              <a:solidFill>
                <a:srgbClr val="E8E8F0"/>
              </a:solidFill>
              <a:latin typeface="Consolas"/>
            </a:endParaRPr>
          </a:p>
        </p:txBody>
      </p:sp>
      <p:sp>
        <p:nvSpPr>
          <p:cNvPr id="20" name="Rounded Rectangle 19"/>
          <p:cNvSpPr/>
          <p:nvPr/>
        </p:nvSpPr>
        <p:spPr>
          <a:xfrm>
            <a:off x="3108960" y="1691640"/>
            <a:ext cx="8503920" cy="73152"/>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1691640"/>
            <a:ext cx="8503920" cy="73152"/>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1828800"/>
            <a:ext cx="8503920" cy="274320"/>
          </a:xfrm>
          <a:prstGeom prst="rect">
            <a:avLst/>
          </a:prstGeom>
          <a:noFill/>
        </p:spPr>
        <p:txBody>
          <a:bodyPr wrap="square" lIns="0" tIns="0" rIns="0" bIns="0" anchor="t">
            <a:spAutoFit/>
          </a:bodyPr>
          <a:lstStyle/>
          <a:p>
            <a:pPr algn="l"/>
            <a:r>
              <a:rPr sz="900" b="0" i="0">
                <a:solidFill>
                  <a:srgbClr val="7878A0"/>
                </a:solidFill>
                <a:latin typeface="Consolas"/>
              </a:rPr>
              <a:t>Step 7 / 7</a:t>
            </a:r>
            <a:endParaRPr sz="900" b="0" i="0">
              <a:solidFill>
                <a:srgbClr val="7878A0"/>
              </a:solidFill>
              <a:latin typeface="Consolas"/>
            </a:endParaRPr>
          </a:p>
        </p:txBody>
      </p:sp>
      <p:sp>
        <p:nvSpPr>
          <p:cNvPr id="23" name="TextBox 22"/>
          <p:cNvSpPr txBox="1"/>
          <p:nvPr/>
        </p:nvSpPr>
        <p:spPr>
          <a:xfrm>
            <a:off x="3108960" y="2103120"/>
            <a:ext cx="8503920" cy="320040"/>
          </a:xfrm>
          <a:prstGeom prst="rect">
            <a:avLst/>
          </a:prstGeom>
          <a:noFill/>
        </p:spPr>
        <p:txBody>
          <a:bodyPr wrap="square" lIns="0" tIns="0" rIns="0" bIns="0" anchor="t">
            <a:spAutoFit/>
          </a:bodyPr>
          <a:lstStyle/>
          <a:p>
            <a:pPr algn="l"/>
            <a:r>
              <a:rPr sz="1300" b="1" i="0">
                <a:solidFill>
                  <a:srgbClr val="6CFFC8"/>
                </a:solidFill>
                <a:latin typeface="Consolas"/>
              </a:rPr>
              <a:t>✅  Submit attempt 2 — accepted</a:t>
            </a:r>
            <a:endParaRPr sz="1300" b="1" i="0">
              <a:solidFill>
                <a:srgbClr val="6CFFC8"/>
              </a:solidFill>
              <a:latin typeface="Consolas"/>
            </a:endParaRPr>
          </a:p>
        </p:txBody>
      </p:sp>
      <p:sp>
        <p:nvSpPr>
          <p:cNvPr id="24" name="Rounded Rectangle 23"/>
          <p:cNvSpPr/>
          <p:nvPr/>
        </p:nvSpPr>
        <p:spPr>
          <a:xfrm>
            <a:off x="3108960" y="2560320"/>
            <a:ext cx="8503920" cy="685800"/>
          </a:xfrm>
          <a:prstGeom prst="roundRect">
            <a:avLst>
              <a:gd name="adj" fmla="val 6000"/>
            </a:avLst>
          </a:prstGeom>
          <a:solidFill>
            <a:srgbClr val="221A2E"/>
          </a:solidFill>
          <a:ln w="9525">
            <a:solidFill>
              <a:srgbClr val="C8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6120" y="2633472"/>
            <a:ext cx="8229600" cy="228600"/>
          </a:xfrm>
          <a:prstGeom prst="rect">
            <a:avLst/>
          </a:prstGeom>
          <a:noFill/>
        </p:spPr>
        <p:txBody>
          <a:bodyPr wrap="square" lIns="0" tIns="0" rIns="0" bIns="0" anchor="t">
            <a:spAutoFit/>
          </a:bodyPr>
          <a:lstStyle/>
          <a:p>
            <a:pPr algn="l"/>
            <a:r>
              <a:rPr sz="900" b="0" i="0">
                <a:solidFill>
                  <a:srgbClr val="C87EFF"/>
                </a:solidFill>
                <a:latin typeface="Consolas"/>
              </a:rPr>
              <a:t>↯ THINKING</a:t>
            </a:r>
            <a:endParaRPr sz="900" b="0" i="0">
              <a:solidFill>
                <a:srgbClr val="C87EFF"/>
              </a:solidFill>
              <a:latin typeface="Consolas"/>
            </a:endParaRPr>
          </a:p>
        </p:txBody>
      </p:sp>
      <p:sp>
        <p:nvSpPr>
          <p:cNvPr id="26" name="TextBox 25"/>
          <p:cNvSpPr txBox="1"/>
          <p:nvPr/>
        </p:nvSpPr>
        <p:spPr>
          <a:xfrm>
            <a:off x="3246120" y="2834640"/>
            <a:ext cx="8229600" cy="365760"/>
          </a:xfrm>
          <a:prstGeom prst="rect">
            <a:avLst/>
          </a:prstGeom>
          <a:noFill/>
        </p:spPr>
        <p:txBody>
          <a:bodyPr wrap="square" lIns="0" tIns="0" rIns="0" bIns="0" anchor="t">
            <a:spAutoFit/>
          </a:bodyPr>
          <a:lstStyle/>
          <a:p>
            <a:pPr algn="l"/>
            <a:r>
              <a:rPr sz="1000" b="0" i="0">
                <a:solidFill>
                  <a:srgbClr val="7878A0"/>
                </a:solidFill>
                <a:latin typeface="Calibri"/>
              </a:rPr>
              <a:t>$24/day = 1.20× cheapest viable plan — right in the 1.1–1.3× window. Forces precise allocation: 24 cheap meal options + free visits. Tension is real.</a:t>
            </a:r>
            <a:endParaRPr sz="1000" b="0" i="0">
              <a:solidFill>
                <a:srgbClr val="7878A0"/>
              </a:solidFill>
              <a:latin typeface="Calibri"/>
            </a:endParaRPr>
          </a:p>
        </p:txBody>
      </p:sp>
      <p:sp>
        <p:nvSpPr>
          <p:cNvPr id="27" name="Rounded Rectangle 26"/>
          <p:cNvSpPr/>
          <p:nvPr/>
        </p:nvSpPr>
        <p:spPr>
          <a:xfrm>
            <a:off x="3108960" y="3355848"/>
            <a:ext cx="8503920" cy="77724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3429000"/>
            <a:ext cx="8229600" cy="228600"/>
          </a:xfrm>
          <a:prstGeom prst="rect">
            <a:avLst/>
          </a:prstGeom>
          <a:noFill/>
        </p:spPr>
        <p:txBody>
          <a:bodyPr wrap="square" lIns="0" tIns="0" rIns="0" bIns="0" anchor="t">
            <a:spAutoFit/>
          </a:bodyPr>
          <a:lstStyle/>
          <a:p>
            <a:pPr algn="l"/>
            <a:r>
              <a:rPr sz="1000" b="1" i="0">
                <a:solidFill>
                  <a:srgbClr val="FFA84A"/>
                </a:solidFill>
                <a:latin typeface="Consolas"/>
              </a:rPr>
              <a:t>SUBMIT   </a:t>
            </a:r>
            <a:r>
              <a:rPr sz="1000" b="0" i="0">
                <a:solidFill>
                  <a:srgbClr val="FFA84A"/>
                </a:solidFill>
                <a:latin typeface="Consolas"/>
              </a:rPr>
              <a:t>SUBMIT(task v2 — $24/day, fixed pc_004)</a:t>
            </a:r>
            <a:endParaRPr sz="1000" b="0" i="0">
              <a:solidFill>
                <a:srgbClr val="FFA84A"/>
              </a:solidFill>
              <a:latin typeface="Consolas"/>
            </a:endParaRPr>
          </a:p>
        </p:txBody>
      </p:sp>
      <p:sp>
        <p:nvSpPr>
          <p:cNvPr id="29" name="Rounded Rectangle 28"/>
          <p:cNvSpPr/>
          <p:nvPr/>
        </p:nvSpPr>
        <p:spPr>
          <a:xfrm>
            <a:off x="3246120" y="3721608"/>
            <a:ext cx="8229600" cy="347472"/>
          </a:xfrm>
          <a:prstGeom prst="roundRect">
            <a:avLst>
              <a:gd name="adj" fmla="val 6000"/>
            </a:avLst>
          </a:prstGeom>
          <a:solidFill>
            <a:srgbClr val="12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7560" y="3767328"/>
            <a:ext cx="8046720" cy="274320"/>
          </a:xfrm>
          <a:prstGeom prst="rect">
            <a:avLst/>
          </a:prstGeom>
          <a:noFill/>
        </p:spPr>
        <p:txBody>
          <a:bodyPr wrap="square" lIns="0" tIns="0" rIns="0" bIns="0" anchor="t">
            <a:spAutoFit/>
          </a:bodyPr>
          <a:lstStyle/>
          <a:p>
            <a:pPr algn="l"/>
            <a:r>
              <a:rPr sz="950" b="0" i="0">
                <a:solidFill>
                  <a:srgbClr val="6CFFC8"/>
                </a:solidFill>
                <a:latin typeface="Consolas"/>
              </a:rPr>
              <a:t>✅  Task accepted and published</a:t>
            </a:r>
            <a:endParaRPr sz="950" b="0" i="0">
              <a:solidFill>
                <a:srgbClr val="6CFFC8"/>
              </a:solidFill>
              <a:latin typeface="Consolas"/>
            </a:endParaRPr>
          </a:p>
        </p:txBody>
      </p:sp>
      <p:sp>
        <p:nvSpPr>
          <p:cNvPr id="31" name="Rounded Rectangle 30"/>
          <p:cNvSpPr/>
          <p:nvPr/>
        </p:nvSpPr>
        <p:spPr>
          <a:xfrm>
            <a:off x="3108960" y="4224528"/>
            <a:ext cx="8503920" cy="457200"/>
          </a:xfrm>
          <a:prstGeom prst="roundRect">
            <a:avLst>
              <a:gd name="adj" fmla="val 6000"/>
            </a:avLst>
          </a:prstGeom>
          <a:solidFill>
            <a:srgbClr val="13131A"/>
          </a:solidFill>
          <a:ln w="9525">
            <a:solidFill>
              <a:srgbClr val="604E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6120" y="4279392"/>
            <a:ext cx="8229600" cy="182880"/>
          </a:xfrm>
          <a:prstGeom prst="rect">
            <a:avLst/>
          </a:prstGeom>
          <a:noFill/>
        </p:spPr>
        <p:txBody>
          <a:bodyPr wrap="square" lIns="0" tIns="0" rIns="0" bIns="0" anchor="t">
            <a:spAutoFit/>
          </a:bodyPr>
          <a:lstStyle/>
          <a:p>
            <a:pPr algn="l"/>
            <a:r>
              <a:rPr sz="800" b="1" i="0">
                <a:solidFill>
                  <a:srgbClr val="FFA84A"/>
                </a:solidFill>
                <a:latin typeface="Consolas"/>
              </a:rPr>
              <a:t>WHAT WAS SUBMITTED</a:t>
            </a:r>
            <a:endParaRPr sz="800" b="1" i="0">
              <a:solidFill>
                <a:srgbClr val="FFA84A"/>
              </a:solidFill>
              <a:latin typeface="Consolas"/>
            </a:endParaRPr>
          </a:p>
        </p:txBody>
      </p:sp>
      <p:sp>
        <p:nvSpPr>
          <p:cNvPr id="33" name="TextBox 32"/>
          <p:cNvSpPr txBox="1"/>
          <p:nvPr/>
        </p:nvSpPr>
        <p:spPr>
          <a:xfrm>
            <a:off x="3246120" y="4453128"/>
            <a:ext cx="8229600" cy="201168"/>
          </a:xfrm>
          <a:prstGeom prst="rect">
            <a:avLst/>
          </a:prstGeom>
          <a:noFill/>
        </p:spPr>
        <p:txBody>
          <a:bodyPr wrap="square" lIns="0" tIns="0" rIns="0" bIns="0" anchor="t">
            <a:spAutoFit/>
          </a:bodyPr>
          <a:lstStyle/>
          <a:p>
            <a:pPr algn="l"/>
            <a:r>
              <a:rPr sz="950" b="0" i="0">
                <a:solidFill>
                  <a:srgbClr val="C8A060"/>
                </a:solidFill>
                <a:latin typeface="Consolas"/>
              </a:rPr>
              <a:t>budget_per_day: 24  ·  cheapest plan: $20  ·  ratio: 1.20× (target 1.1–1.3×)</a:t>
            </a:r>
            <a:endParaRPr sz="950" b="0" i="0">
              <a:solidFill>
                <a:srgbClr val="C8A060"/>
              </a:solidFill>
              <a:latin typeface="Consolas"/>
            </a:endParaRPr>
          </a:p>
        </p:txBody>
      </p:sp>
      <p:sp>
        <p:nvSpPr>
          <p:cNvPr id="34" name="TextBox 33"/>
          <p:cNvSpPr txBox="1"/>
          <p:nvPr/>
        </p:nvSpPr>
        <p:spPr>
          <a:xfrm>
            <a:off x="3108960" y="4773168"/>
            <a:ext cx="8503920" cy="228600"/>
          </a:xfrm>
          <a:prstGeom prst="rect">
            <a:avLst/>
          </a:prstGeom>
          <a:noFill/>
        </p:spPr>
        <p:txBody>
          <a:bodyPr wrap="square" lIns="0" tIns="0" rIns="0" bIns="0" anchor="t">
            <a:spAutoFit/>
          </a:bodyPr>
          <a:lstStyle/>
          <a:p>
            <a:pPr algn="l"/>
            <a:r>
              <a:rPr sz="800" b="0" i="0">
                <a:solidFill>
                  <a:srgbClr val="7878A0"/>
                </a:solidFill>
                <a:latin typeface="Consolas"/>
              </a:rPr>
              <a:t>PUBLISHED P-CONSTRAINTS</a:t>
            </a:r>
            <a:endParaRPr sz="800" b="0" i="0">
              <a:solidFill>
                <a:srgbClr val="7878A0"/>
              </a:solidFill>
              <a:latin typeface="Consolas"/>
            </a:endParaRPr>
          </a:p>
        </p:txBody>
      </p:sp>
      <p:sp>
        <p:nvSpPr>
          <p:cNvPr id="35" name="Rounded Rectangle 34"/>
          <p:cNvSpPr/>
          <p:nvPr/>
        </p:nvSpPr>
        <p:spPr>
          <a:xfrm>
            <a:off x="3108960" y="5029200"/>
            <a:ext cx="8503920" cy="41148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46120" y="5084064"/>
            <a:ext cx="8229600" cy="201168"/>
          </a:xfrm>
          <a:prstGeom prst="rect">
            <a:avLst/>
          </a:prstGeom>
          <a:noFill/>
        </p:spPr>
        <p:txBody>
          <a:bodyPr wrap="square" lIns="0" tIns="0" rIns="0" bIns="0" anchor="t">
            <a:spAutoFit/>
          </a:bodyPr>
          <a:lstStyle/>
          <a:p>
            <a:pPr algn="l"/>
            <a:r>
              <a:rPr sz="900" b="1" i="0">
                <a:solidFill>
                  <a:srgbClr val="6C8EFF"/>
                </a:solidFill>
                <a:latin typeface="Consolas"/>
              </a:rPr>
              <a:t>pc_001   </a:t>
            </a:r>
            <a:r>
              <a:rPr sz="900" b="0" i="0">
                <a:solidFill>
                  <a:srgbClr val="FFA84A"/>
                </a:solidFill>
                <a:latin typeface="Consolas"/>
              </a:rPr>
              <a:t>[hop-2]   </a:t>
            </a:r>
            <a:r>
              <a:rPr sz="1000" b="0" i="0">
                <a:solidFill>
                  <a:srgbClr val="E8E8F0"/>
                </a:solidFill>
                <a:latin typeface="Calibri"/>
              </a:rPr>
              <a:t>Total cost ≤ $24 per_day</a:t>
            </a:r>
            <a:endParaRPr sz="1000" b="0" i="0">
              <a:solidFill>
                <a:srgbClr val="E8E8F0"/>
              </a:solidFill>
              <a:latin typeface="Calibri"/>
            </a:endParaRPr>
          </a:p>
        </p:txBody>
      </p:sp>
      <p:sp>
        <p:nvSpPr>
          <p:cNvPr id="37" name="TextBox 36"/>
          <p:cNvSpPr txBox="1"/>
          <p:nvPr/>
        </p:nvSpPr>
        <p:spPr>
          <a:xfrm>
            <a:off x="3246120" y="5266944"/>
            <a:ext cx="8229600" cy="182880"/>
          </a:xfrm>
          <a:prstGeom prst="rect">
            <a:avLst/>
          </a:prstGeom>
          <a:noFill/>
        </p:spPr>
        <p:txBody>
          <a:bodyPr wrap="square" lIns="0" tIns="0" rIns="0" bIns="0" anchor="t">
            <a:spAutoFit/>
          </a:bodyPr>
          <a:lstStyle/>
          <a:p>
            <a:pPr algn="l"/>
            <a:r>
              <a:rPr sz="850" b="0" i="0">
                <a:solidFill>
                  <a:srgbClr val="7878A0"/>
                </a:solidFill>
                <a:latin typeface="Consolas"/>
              </a:rPr>
              <a:t>sum · estimated_cost_local</a:t>
            </a:r>
            <a:endParaRPr sz="850" b="0" i="0">
              <a:solidFill>
                <a:srgbClr val="7878A0"/>
              </a:solidFill>
              <a:latin typeface="Consolas"/>
            </a:endParaRPr>
          </a:p>
        </p:txBody>
      </p:sp>
      <p:sp>
        <p:nvSpPr>
          <p:cNvPr id="38" name="Rounded Rectangle 37"/>
          <p:cNvSpPr/>
          <p:nvPr/>
        </p:nvSpPr>
        <p:spPr>
          <a:xfrm>
            <a:off x="3108960" y="5486400"/>
            <a:ext cx="8503920" cy="41148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6120" y="5541264"/>
            <a:ext cx="8229600" cy="201168"/>
          </a:xfrm>
          <a:prstGeom prst="rect">
            <a:avLst/>
          </a:prstGeom>
          <a:noFill/>
        </p:spPr>
        <p:txBody>
          <a:bodyPr wrap="square" lIns="0" tIns="0" rIns="0" bIns="0" anchor="t">
            <a:spAutoFit/>
          </a:bodyPr>
          <a:lstStyle/>
          <a:p>
            <a:pPr algn="l"/>
            <a:r>
              <a:rPr sz="900" b="1" i="0">
                <a:solidFill>
                  <a:srgbClr val="6C8EFF"/>
                </a:solidFill>
                <a:latin typeface="Consolas"/>
              </a:rPr>
              <a:t>pc_002   </a:t>
            </a:r>
            <a:r>
              <a:rPr sz="900" b="0" i="0">
                <a:solidFill>
                  <a:srgbClr val="FFA84A"/>
                </a:solidFill>
                <a:latin typeface="Consolas"/>
              </a:rPr>
              <a:t>[hop-1]   </a:t>
            </a:r>
            <a:r>
              <a:rPr sz="1000" b="0" i="0">
                <a:solidFill>
                  <a:srgbClr val="E8E8F0"/>
                </a:solidFill>
                <a:latin typeface="Calibri"/>
              </a:rPr>
              <a:t>All visits at free-entry venues</a:t>
            </a:r>
            <a:endParaRPr sz="1000" b="0" i="0">
              <a:solidFill>
                <a:srgbClr val="E8E8F0"/>
              </a:solidFill>
              <a:latin typeface="Calibri"/>
            </a:endParaRPr>
          </a:p>
        </p:txBody>
      </p:sp>
      <p:sp>
        <p:nvSpPr>
          <p:cNvPr id="40" name="TextBox 39"/>
          <p:cNvSpPr txBox="1"/>
          <p:nvPr/>
        </p:nvSpPr>
        <p:spPr>
          <a:xfrm>
            <a:off x="3246120" y="5724144"/>
            <a:ext cx="8229600" cy="182880"/>
          </a:xfrm>
          <a:prstGeom prst="rect">
            <a:avLst/>
          </a:prstGeom>
          <a:noFill/>
        </p:spPr>
        <p:txBody>
          <a:bodyPr wrap="square" lIns="0" tIns="0" rIns="0" bIns="0" anchor="t">
            <a:spAutoFit/>
          </a:bodyPr>
          <a:lstStyle/>
          <a:p>
            <a:pPr algn="l"/>
            <a:r>
              <a:rPr sz="850" b="0" i="0">
                <a:solidFill>
                  <a:srgbClr val="7878A0"/>
                </a:solidFill>
                <a:latin typeface="Consolas"/>
              </a:rPr>
              <a:t>all · has_tag=free-entry</a:t>
            </a:r>
            <a:endParaRPr sz="850" b="0" i="0">
              <a:solidFill>
                <a:srgbClr val="7878A0"/>
              </a:solidFill>
              <a:latin typeface="Consolas"/>
            </a:endParaRPr>
          </a:p>
        </p:txBody>
      </p:sp>
      <p:sp>
        <p:nvSpPr>
          <p:cNvPr id="41" name="Rounded Rectangle 40"/>
          <p:cNvSpPr/>
          <p:nvPr/>
        </p:nvSpPr>
        <p:spPr>
          <a:xfrm>
            <a:off x="3108960" y="5943600"/>
            <a:ext cx="8503920" cy="41148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46120" y="5998464"/>
            <a:ext cx="8229600" cy="201168"/>
          </a:xfrm>
          <a:prstGeom prst="rect">
            <a:avLst/>
          </a:prstGeom>
          <a:noFill/>
        </p:spPr>
        <p:txBody>
          <a:bodyPr wrap="square" lIns="0" tIns="0" rIns="0" bIns="0" anchor="t">
            <a:spAutoFit/>
          </a:bodyPr>
          <a:lstStyle/>
          <a:p>
            <a:pPr algn="l"/>
            <a:r>
              <a:rPr sz="900" b="1" i="0">
                <a:solidFill>
                  <a:srgbClr val="6C8EFF"/>
                </a:solidFill>
                <a:latin typeface="Consolas"/>
              </a:rPr>
              <a:t>pc_003   </a:t>
            </a:r>
            <a:r>
              <a:rPr sz="900" b="0" i="0">
                <a:solidFill>
                  <a:srgbClr val="FFA84A"/>
                </a:solidFill>
                <a:latin typeface="Consolas"/>
              </a:rPr>
              <a:t>[hop-2]   </a:t>
            </a:r>
            <a:r>
              <a:rPr sz="1000" b="0" i="0">
                <a:solidFill>
                  <a:srgbClr val="E8E8F0"/>
                </a:solidFill>
                <a:latin typeface="Calibri"/>
              </a:rPr>
              <a:t>No tourist-trap venues</a:t>
            </a:r>
            <a:endParaRPr sz="1000" b="0" i="0">
              <a:solidFill>
                <a:srgbClr val="E8E8F0"/>
              </a:solidFill>
              <a:latin typeface="Calibri"/>
            </a:endParaRPr>
          </a:p>
        </p:txBody>
      </p:sp>
      <p:sp>
        <p:nvSpPr>
          <p:cNvPr id="43" name="TextBox 42"/>
          <p:cNvSpPr txBox="1"/>
          <p:nvPr/>
        </p:nvSpPr>
        <p:spPr>
          <a:xfrm>
            <a:off x="3246120" y="6181344"/>
            <a:ext cx="8229600" cy="182880"/>
          </a:xfrm>
          <a:prstGeom prst="rect">
            <a:avLst/>
          </a:prstGeom>
          <a:noFill/>
        </p:spPr>
        <p:txBody>
          <a:bodyPr wrap="square" lIns="0" tIns="0" rIns="0" bIns="0" anchor="t">
            <a:spAutoFit/>
          </a:bodyPr>
          <a:lstStyle/>
          <a:p>
            <a:pPr algn="l"/>
            <a:r>
              <a:rPr sz="850" b="0" i="0">
                <a:solidFill>
                  <a:srgbClr val="7878A0"/>
                </a:solidFill>
                <a:latin typeface="Consolas"/>
              </a:rPr>
              <a:t>none · has_tag=tourist-trap</a:t>
            </a:r>
            <a:endParaRPr sz="850" b="0" i="0">
              <a:solidFill>
                <a:srgbClr val="7878A0"/>
              </a:solidFill>
              <a:latin typeface="Consolas"/>
            </a:endParaRPr>
          </a:p>
        </p:txBody>
      </p:sp>
      <p:sp>
        <p:nvSpPr>
          <p:cNvPr id="44" name="Rounded Rectangle 43"/>
          <p:cNvSpPr/>
          <p:nvPr/>
        </p:nvSpPr>
        <p:spPr>
          <a:xfrm>
            <a:off x="3108960" y="6400800"/>
            <a:ext cx="8503920" cy="41148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46120" y="6455664"/>
            <a:ext cx="8229600" cy="201168"/>
          </a:xfrm>
          <a:prstGeom prst="rect">
            <a:avLst/>
          </a:prstGeom>
          <a:noFill/>
        </p:spPr>
        <p:txBody>
          <a:bodyPr wrap="square" lIns="0" tIns="0" rIns="0" bIns="0" anchor="t">
            <a:spAutoFit/>
          </a:bodyPr>
          <a:lstStyle/>
          <a:p>
            <a:pPr algn="l"/>
            <a:r>
              <a:rPr sz="900" b="1" i="0">
                <a:solidFill>
                  <a:srgbClr val="6C8EFF"/>
                </a:solidFill>
                <a:latin typeface="Consolas"/>
              </a:rPr>
              <a:t>pc_004   </a:t>
            </a:r>
            <a:r>
              <a:rPr sz="900" b="0" i="0">
                <a:solidFill>
                  <a:srgbClr val="FFA84A"/>
                </a:solidFill>
                <a:latin typeface="Consolas"/>
              </a:rPr>
              <a:t>[hop-1]   </a:t>
            </a:r>
            <a:r>
              <a:rPr sz="1000" b="0" i="0">
                <a:solidFill>
                  <a:srgbClr val="E8E8F0"/>
                </a:solidFill>
                <a:latin typeface="Calibri"/>
              </a:rPr>
              <a:t>All meals at budget price</a:t>
            </a:r>
            <a:endParaRPr sz="1000" b="0" i="0">
              <a:solidFill>
                <a:srgbClr val="E8E8F0"/>
              </a:solidFill>
              <a:latin typeface="Calibri"/>
            </a:endParaRPr>
          </a:p>
        </p:txBody>
      </p:sp>
      <p:sp>
        <p:nvSpPr>
          <p:cNvPr id="46" name="TextBox 45"/>
          <p:cNvSpPr txBox="1"/>
          <p:nvPr/>
        </p:nvSpPr>
        <p:spPr>
          <a:xfrm>
            <a:off x="3246120" y="6638544"/>
            <a:ext cx="8229600" cy="182880"/>
          </a:xfrm>
          <a:prstGeom prst="rect">
            <a:avLst/>
          </a:prstGeom>
          <a:noFill/>
        </p:spPr>
        <p:txBody>
          <a:bodyPr wrap="square" lIns="0" tIns="0" rIns="0" bIns="0" anchor="t">
            <a:spAutoFit/>
          </a:bodyPr>
          <a:lstStyle/>
          <a:p>
            <a:pPr algn="l"/>
            <a:r>
              <a:rPr sz="850" b="0" i="0">
                <a:solidFill>
                  <a:srgbClr val="7878A0"/>
                </a:solidFill>
                <a:latin typeface="Consolas"/>
              </a:rPr>
              <a:t>all · price_tier ≤ budget</a:t>
            </a:r>
            <a:endParaRPr sz="850" b="0" i="0">
              <a:solidFill>
                <a:srgbClr val="7878A0"/>
              </a:solidFill>
              <a:latin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13  —  SOLVABILITY</a:t>
            </a:r>
            <a:endParaRPr sz="1000" b="0" i="0">
              <a:solidFill>
                <a:srgbClr val="6C8EFF"/>
              </a:solidFill>
              <a:latin typeface="Consolas"/>
            </a:endParaRPr>
          </a:p>
        </p:txBody>
      </p:sp>
      <p:sp>
        <p:nvSpPr>
          <p:cNvPr id="3" name="TextBox 2"/>
          <p:cNvSpPr txBox="1"/>
          <p:nvPr/>
        </p:nvSpPr>
        <p:spPr>
          <a:xfrm>
            <a:off x="548640" y="1097280"/>
            <a:ext cx="10972800" cy="822960"/>
          </a:xfrm>
          <a:prstGeom prst="rect">
            <a:avLst/>
          </a:prstGeom>
          <a:noFill/>
        </p:spPr>
        <p:txBody>
          <a:bodyPr wrap="square" lIns="0" tIns="0" rIns="0" bIns="0" anchor="t">
            <a:spAutoFit/>
          </a:bodyPr>
          <a:lstStyle/>
          <a:p>
            <a:pPr algn="l"/>
            <a:r>
              <a:rPr sz="4400" b="0" i="0">
                <a:solidFill>
                  <a:srgbClr val="E8E8F0"/>
                </a:solidFill>
                <a:latin typeface="Georgia" panose="02040502050405090303"/>
              </a:rPr>
              <a:t>How do we verify at least one</a:t>
            </a:r>
            <a:endParaRPr sz="4400" b="0" i="0">
              <a:solidFill>
                <a:srgbClr val="E8E8F0"/>
              </a:solidFill>
              <a:latin typeface="Georgia" panose="02040502050405090303"/>
            </a:endParaRPr>
          </a:p>
        </p:txBody>
      </p:sp>
      <p:sp>
        <p:nvSpPr>
          <p:cNvPr id="4" name="TextBox 3"/>
          <p:cNvSpPr txBox="1"/>
          <p:nvPr/>
        </p:nvSpPr>
        <p:spPr>
          <a:xfrm>
            <a:off x="548640" y="1828800"/>
            <a:ext cx="10972800" cy="822960"/>
          </a:xfrm>
          <a:prstGeom prst="rect">
            <a:avLst/>
          </a:prstGeom>
          <a:noFill/>
        </p:spPr>
        <p:txBody>
          <a:bodyPr wrap="square" lIns="0" tIns="0" rIns="0" bIns="0" anchor="t">
            <a:spAutoFit/>
          </a:bodyPr>
          <a:lstStyle/>
          <a:p>
            <a:pPr algn="l"/>
            <a:r>
              <a:rPr sz="4400" b="0" i="0">
                <a:solidFill>
                  <a:srgbClr val="E8E8F0"/>
                </a:solidFill>
                <a:latin typeface="Georgia" panose="02040502050405090303"/>
              </a:rPr>
              <a:t>valid plan exists for the task?</a:t>
            </a:r>
            <a:endParaRPr sz="4400" b="0" i="0">
              <a:solidFill>
                <a:srgbClr val="E8E8F0"/>
              </a:solidFill>
              <a:latin typeface="Georgia" panose="02040502050405090303"/>
            </a:endParaRPr>
          </a:p>
        </p:txBody>
      </p:sp>
      <p:sp>
        <p:nvSpPr>
          <p:cNvPr id="5" name="Rounded Rectangle 4"/>
          <p:cNvSpPr/>
          <p:nvPr/>
        </p:nvSpPr>
        <p:spPr>
          <a:xfrm>
            <a:off x="548640" y="3383280"/>
            <a:ext cx="11064240" cy="91440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566160"/>
            <a:ext cx="914400" cy="548640"/>
          </a:xfrm>
          <a:prstGeom prst="rect">
            <a:avLst/>
          </a:prstGeom>
          <a:noFill/>
        </p:spPr>
        <p:txBody>
          <a:bodyPr wrap="square" lIns="0" tIns="0" rIns="0" bIns="0" anchor="t">
            <a:spAutoFit/>
          </a:bodyPr>
          <a:lstStyle/>
          <a:p>
            <a:pPr algn="ctr"/>
            <a:r>
              <a:rPr sz="2800" b="0" i="0">
                <a:solidFill>
                  <a:srgbClr val="6C8EFF"/>
                </a:solidFill>
                <a:latin typeface="Georgia" panose="02040502050405090303"/>
              </a:rPr>
              <a:t>(a)</a:t>
            </a:r>
            <a:endParaRPr sz="2800" b="0" i="0">
              <a:solidFill>
                <a:srgbClr val="6C8EFF"/>
              </a:solidFill>
              <a:latin typeface="Georgia" panose="02040502050405090303"/>
            </a:endParaRPr>
          </a:p>
        </p:txBody>
      </p:sp>
      <p:sp>
        <p:nvSpPr>
          <p:cNvPr id="7" name="TextBox 6"/>
          <p:cNvSpPr txBox="1"/>
          <p:nvPr/>
        </p:nvSpPr>
        <p:spPr>
          <a:xfrm>
            <a:off x="1828800" y="3520440"/>
            <a:ext cx="3657600" cy="320040"/>
          </a:xfrm>
          <a:prstGeom prst="rect">
            <a:avLst/>
          </a:prstGeom>
          <a:noFill/>
        </p:spPr>
        <p:txBody>
          <a:bodyPr wrap="square" lIns="0" tIns="0" rIns="0" bIns="0" anchor="t">
            <a:spAutoFit/>
          </a:bodyPr>
          <a:lstStyle/>
          <a:p>
            <a:pPr algn="l"/>
            <a:r>
              <a:rPr sz="1400" b="1" i="0">
                <a:solidFill>
                  <a:srgbClr val="E8E8F0"/>
                </a:solidFill>
                <a:latin typeface="Calibri"/>
              </a:rPr>
              <a:t>Hard-constraint check</a:t>
            </a:r>
            <a:endParaRPr sz="1400" b="1" i="0">
              <a:solidFill>
                <a:srgbClr val="E8E8F0"/>
              </a:solidFill>
              <a:latin typeface="Calibri"/>
            </a:endParaRPr>
          </a:p>
        </p:txBody>
      </p:sp>
      <p:sp>
        <p:nvSpPr>
          <p:cNvPr id="8" name="TextBox 7"/>
          <p:cNvSpPr txBox="1"/>
          <p:nvPr/>
        </p:nvSpPr>
        <p:spPr>
          <a:xfrm>
            <a:off x="1828800" y="3886200"/>
            <a:ext cx="9144000" cy="365760"/>
          </a:xfrm>
          <a:prstGeom prst="rect">
            <a:avLst/>
          </a:prstGeom>
          <a:noFill/>
        </p:spPr>
        <p:txBody>
          <a:bodyPr wrap="square" lIns="0" tIns="0" rIns="0" bIns="0" anchor="t">
            <a:spAutoFit/>
          </a:bodyPr>
          <a:lstStyle/>
          <a:p>
            <a:pPr algn="l"/>
            <a:r>
              <a:rPr sz="1100" b="0" i="0">
                <a:solidFill>
                  <a:srgbClr val="7878A0"/>
                </a:solidFill>
                <a:latin typeface="Calibri"/>
              </a:rPr>
              <a:t>Every all-aggregated filter (wheelchair, district, regulation) must leave at least one venue in the pool.</a:t>
            </a:r>
            <a:endParaRPr sz="1100" b="0" i="0">
              <a:solidFill>
                <a:srgbClr val="7878A0"/>
              </a:solidFill>
              <a:latin typeface="Calibri"/>
            </a:endParaRPr>
          </a:p>
        </p:txBody>
      </p:sp>
      <p:sp>
        <p:nvSpPr>
          <p:cNvPr id="9" name="Rounded Rectangle 8"/>
          <p:cNvSpPr/>
          <p:nvPr/>
        </p:nvSpPr>
        <p:spPr>
          <a:xfrm>
            <a:off x="548640" y="4434840"/>
            <a:ext cx="11064240" cy="91440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617720"/>
            <a:ext cx="914400" cy="548640"/>
          </a:xfrm>
          <a:prstGeom prst="rect">
            <a:avLst/>
          </a:prstGeom>
          <a:noFill/>
        </p:spPr>
        <p:txBody>
          <a:bodyPr wrap="square" lIns="0" tIns="0" rIns="0" bIns="0" anchor="t">
            <a:spAutoFit/>
          </a:bodyPr>
          <a:lstStyle/>
          <a:p>
            <a:pPr algn="ctr"/>
            <a:r>
              <a:rPr sz="2800" b="0" i="0">
                <a:solidFill>
                  <a:srgbClr val="6C8EFF"/>
                </a:solidFill>
                <a:latin typeface="Georgia" panose="02040502050405090303"/>
              </a:rPr>
              <a:t>(b)</a:t>
            </a:r>
            <a:endParaRPr sz="2800" b="0" i="0">
              <a:solidFill>
                <a:srgbClr val="6C8EFF"/>
              </a:solidFill>
              <a:latin typeface="Georgia" panose="02040502050405090303"/>
            </a:endParaRPr>
          </a:p>
        </p:txBody>
      </p:sp>
      <p:sp>
        <p:nvSpPr>
          <p:cNvPr id="11" name="TextBox 10"/>
          <p:cNvSpPr txBox="1"/>
          <p:nvPr/>
        </p:nvSpPr>
        <p:spPr>
          <a:xfrm>
            <a:off x="1828800" y="4572000"/>
            <a:ext cx="3657600" cy="320040"/>
          </a:xfrm>
          <a:prstGeom prst="rect">
            <a:avLst/>
          </a:prstGeom>
          <a:noFill/>
        </p:spPr>
        <p:txBody>
          <a:bodyPr wrap="square" lIns="0" tIns="0" rIns="0" bIns="0" anchor="t">
            <a:spAutoFit/>
          </a:bodyPr>
          <a:lstStyle/>
          <a:p>
            <a:pPr algn="l"/>
            <a:r>
              <a:rPr sz="1400" b="1" i="0">
                <a:solidFill>
                  <a:srgbClr val="E8E8F0"/>
                </a:solidFill>
                <a:latin typeface="Calibri"/>
              </a:rPr>
              <a:t>Tension-partner check</a:t>
            </a:r>
            <a:endParaRPr sz="1400" b="1" i="0">
              <a:solidFill>
                <a:srgbClr val="E8E8F0"/>
              </a:solidFill>
              <a:latin typeface="Calibri"/>
            </a:endParaRPr>
          </a:p>
        </p:txBody>
      </p:sp>
      <p:sp>
        <p:nvSpPr>
          <p:cNvPr id="12" name="TextBox 11"/>
          <p:cNvSpPr txBox="1"/>
          <p:nvPr/>
        </p:nvSpPr>
        <p:spPr>
          <a:xfrm>
            <a:off x="1828800" y="4937760"/>
            <a:ext cx="9144000" cy="365760"/>
          </a:xfrm>
          <a:prstGeom prst="rect">
            <a:avLst/>
          </a:prstGeom>
          <a:noFill/>
        </p:spPr>
        <p:txBody>
          <a:bodyPr wrap="square" lIns="0" tIns="0" rIns="0" bIns="0" anchor="t">
            <a:spAutoFit/>
          </a:bodyPr>
          <a:lstStyle/>
          <a:p>
            <a:pPr algn="l"/>
            <a:r>
              <a:rPr sz="1100" b="0" i="0">
                <a:solidFill>
                  <a:srgbClr val="7878A0"/>
                </a:solidFill>
                <a:latin typeface="Calibri"/>
              </a:rPr>
              <a:t>When two P-constraints pull at disjoint subsets, do their feasible-plan sets still intersect?  ←  A×A and B×B</a:t>
            </a:r>
            <a:endParaRPr sz="1100" b="0" i="0">
              <a:solidFill>
                <a:srgbClr val="7878A0"/>
              </a:solidFill>
              <a:latin typeface="Calibri"/>
            </a:endParaRPr>
          </a:p>
        </p:txBody>
      </p:sp>
      <p:sp>
        <p:nvSpPr>
          <p:cNvPr id="13" name="Rounded Rectangle 12"/>
          <p:cNvSpPr/>
          <p:nvPr/>
        </p:nvSpPr>
        <p:spPr>
          <a:xfrm>
            <a:off x="548640" y="5486400"/>
            <a:ext cx="11064240" cy="91440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669280"/>
            <a:ext cx="914400" cy="548640"/>
          </a:xfrm>
          <a:prstGeom prst="rect">
            <a:avLst/>
          </a:prstGeom>
          <a:noFill/>
        </p:spPr>
        <p:txBody>
          <a:bodyPr wrap="square" lIns="0" tIns="0" rIns="0" bIns="0" anchor="t">
            <a:spAutoFit/>
          </a:bodyPr>
          <a:lstStyle/>
          <a:p>
            <a:pPr algn="ctr"/>
            <a:r>
              <a:rPr sz="2800" b="0" i="0">
                <a:solidFill>
                  <a:srgbClr val="6C8EFF"/>
                </a:solidFill>
                <a:latin typeface="Georgia" panose="02040502050405090303"/>
              </a:rPr>
              <a:t>(c)</a:t>
            </a:r>
            <a:endParaRPr sz="2800" b="0" i="0">
              <a:solidFill>
                <a:srgbClr val="6C8EFF"/>
              </a:solidFill>
              <a:latin typeface="Georgia" panose="02040502050405090303"/>
            </a:endParaRPr>
          </a:p>
        </p:txBody>
      </p:sp>
      <p:sp>
        <p:nvSpPr>
          <p:cNvPr id="15" name="TextBox 14"/>
          <p:cNvSpPr txBox="1"/>
          <p:nvPr/>
        </p:nvSpPr>
        <p:spPr>
          <a:xfrm>
            <a:off x="1828800" y="5623560"/>
            <a:ext cx="3657600" cy="320040"/>
          </a:xfrm>
          <a:prstGeom prst="rect">
            <a:avLst/>
          </a:prstGeom>
          <a:noFill/>
        </p:spPr>
        <p:txBody>
          <a:bodyPr wrap="square" lIns="0" tIns="0" rIns="0" bIns="0" anchor="t">
            <a:spAutoFit/>
          </a:bodyPr>
          <a:lstStyle/>
          <a:p>
            <a:pPr algn="l"/>
            <a:r>
              <a:rPr sz="1400" b="1" i="0">
                <a:solidFill>
                  <a:srgbClr val="E8E8F0"/>
                </a:solidFill>
                <a:latin typeface="Calibri"/>
              </a:rPr>
              <a:t>Upper-bar verification</a:t>
            </a:r>
            <a:endParaRPr sz="1400" b="1" i="0">
              <a:solidFill>
                <a:srgbClr val="E8E8F0"/>
              </a:solidFill>
              <a:latin typeface="Calibri"/>
            </a:endParaRPr>
          </a:p>
        </p:txBody>
      </p:sp>
      <p:sp>
        <p:nvSpPr>
          <p:cNvPr id="16" name="TextBox 15"/>
          <p:cNvSpPr txBox="1"/>
          <p:nvPr/>
        </p:nvSpPr>
        <p:spPr>
          <a:xfrm>
            <a:off x="1828800" y="5989320"/>
            <a:ext cx="9144000" cy="365760"/>
          </a:xfrm>
          <a:prstGeom prst="rect">
            <a:avLst/>
          </a:prstGeom>
          <a:noFill/>
        </p:spPr>
        <p:txBody>
          <a:bodyPr wrap="square" lIns="0" tIns="0" rIns="0" bIns="0" anchor="t">
            <a:spAutoFit/>
          </a:bodyPr>
          <a:lstStyle/>
          <a:p>
            <a:pPr algn="l"/>
            <a:r>
              <a:rPr sz="1100" b="0" i="0">
                <a:solidFill>
                  <a:srgbClr val="7878A0"/>
                </a:solidFill>
                <a:latin typeface="Calibri"/>
              </a:rPr>
              <a:t>The task-generation agent must submit a candidate plan that passes the validator before the task is published.</a:t>
            </a:r>
            <a:endParaRPr sz="1100" b="0" i="0">
              <a:solidFill>
                <a:srgbClr val="7878A0"/>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14  —  SOLVABILITY</a:t>
            </a:r>
            <a:endParaRPr sz="1000" b="0" i="0">
              <a:solidFill>
                <a:srgbClr val="6C8EFF"/>
              </a:solidFill>
              <a:latin typeface="Consolas"/>
            </a:endParaRPr>
          </a:p>
        </p:txBody>
      </p:sp>
      <p:sp>
        <p:nvSpPr>
          <p:cNvPr id="3" name="TextBox 2"/>
          <p:cNvSpPr txBox="1"/>
          <p:nvPr/>
        </p:nvSpPr>
        <p:spPr>
          <a:xfrm>
            <a:off x="548640" y="685800"/>
            <a:ext cx="10972800" cy="822960"/>
          </a:xfrm>
          <a:prstGeom prst="rect">
            <a:avLst/>
          </a:prstGeom>
          <a:noFill/>
        </p:spPr>
        <p:txBody>
          <a:bodyPr wrap="square" lIns="0" tIns="0" rIns="0" bIns="0" anchor="t">
            <a:spAutoFit/>
          </a:bodyPr>
          <a:lstStyle/>
          <a:p>
            <a:pPr algn="l"/>
            <a:r>
              <a:rPr sz="3000" b="0" i="0">
                <a:solidFill>
                  <a:srgbClr val="E8E8F0"/>
                </a:solidFill>
                <a:latin typeface="Georgia" panose="02040502050405090303"/>
              </a:rPr>
              <a:t>Two Constraint Geometries</a:t>
            </a:r>
            <a:endParaRPr sz="3000" b="0" i="0">
              <a:solidFill>
                <a:srgbClr val="E8E8F0"/>
              </a:solidFill>
              <a:latin typeface="Georgia" panose="02040502050405090303"/>
            </a:endParaRPr>
          </a:p>
        </p:txBody>
      </p:sp>
      <p:sp>
        <p:nvSpPr>
          <p:cNvPr id="4" name="TextBox 3"/>
          <p:cNvSpPr txBox="1"/>
          <p:nvPr/>
        </p:nvSpPr>
        <p:spPr>
          <a:xfrm>
            <a:off x="548640" y="1280160"/>
            <a:ext cx="10972800" cy="457200"/>
          </a:xfrm>
          <a:prstGeom prst="rect">
            <a:avLst/>
          </a:prstGeom>
          <a:noFill/>
        </p:spPr>
        <p:txBody>
          <a:bodyPr wrap="square" lIns="0" tIns="0" rIns="0" bIns="0" anchor="t">
            <a:spAutoFit/>
          </a:bodyPr>
          <a:lstStyle/>
          <a:p>
            <a:pPr algn="l"/>
            <a:r>
              <a:rPr sz="1600" b="1" i="0">
                <a:solidFill>
                  <a:srgbClr val="E8E8F0"/>
                </a:solidFill>
                <a:latin typeface="Calibri"/>
              </a:rPr>
              <a:t>Why these two checks are enough</a:t>
            </a:r>
            <a:endParaRPr sz="1600" b="1" i="0">
              <a:solidFill>
                <a:srgbClr val="E8E8F0"/>
              </a:solidFill>
              <a:latin typeface="Calibri"/>
            </a:endParaRPr>
          </a:p>
        </p:txBody>
      </p:sp>
      <p:sp>
        <p:nvSpPr>
          <p:cNvPr id="5" name="Rounded Rectangle 4"/>
          <p:cNvSpPr/>
          <p:nvPr/>
        </p:nvSpPr>
        <p:spPr>
          <a:xfrm>
            <a:off x="548640" y="1920240"/>
            <a:ext cx="5486400" cy="301752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5120640" cy="365760"/>
          </a:xfrm>
          <a:prstGeom prst="rect">
            <a:avLst/>
          </a:prstGeom>
          <a:noFill/>
        </p:spPr>
        <p:txBody>
          <a:bodyPr wrap="square" lIns="0" tIns="0" rIns="0" bIns="0" anchor="t">
            <a:spAutoFit/>
          </a:bodyPr>
          <a:lstStyle/>
          <a:p>
            <a:pPr algn="l"/>
            <a:r>
              <a:rPr sz="1800" b="0" i="0">
                <a:solidFill>
                  <a:srgbClr val="6C8EFF"/>
                </a:solidFill>
                <a:latin typeface="Georgia" panose="02040502050405090303"/>
              </a:rPr>
              <a:t>A  ·  Pool-filter primitives</a:t>
            </a:r>
            <a:endParaRPr sz="1800" b="0" i="0">
              <a:solidFill>
                <a:srgbClr val="6C8EFF"/>
              </a:solidFill>
              <a:latin typeface="Georgia" panose="02040502050405090303"/>
            </a:endParaRPr>
          </a:p>
        </p:txBody>
      </p:sp>
      <p:sp>
        <p:nvSpPr>
          <p:cNvPr id="7" name="TextBox 6"/>
          <p:cNvSpPr txBox="1"/>
          <p:nvPr/>
        </p:nvSpPr>
        <p:spPr>
          <a:xfrm>
            <a:off x="731520" y="2514600"/>
            <a:ext cx="5120640" cy="411480"/>
          </a:xfrm>
          <a:prstGeom prst="rect">
            <a:avLst/>
          </a:prstGeom>
          <a:noFill/>
        </p:spPr>
        <p:txBody>
          <a:bodyPr wrap="square" lIns="0" tIns="0" rIns="0" bIns="0" anchor="t">
            <a:spAutoFit/>
          </a:bodyPr>
          <a:lstStyle/>
          <a:p>
            <a:pPr algn="l"/>
            <a:r>
              <a:rPr sz="1100" b="0" i="0">
                <a:solidFill>
                  <a:srgbClr val="6CFFC8"/>
                </a:solidFill>
                <a:latin typeface="Consolas"/>
              </a:rPr>
              <a:t>all  ·  none   (and at_least with universal scope, treated as a filter)</a:t>
            </a:r>
            <a:endParaRPr sz="1100" b="0" i="0">
              <a:solidFill>
                <a:srgbClr val="6CFFC8"/>
              </a:solidFill>
              <a:latin typeface="Consolas"/>
            </a:endParaRPr>
          </a:p>
        </p:txBody>
      </p:sp>
      <p:sp>
        <p:nvSpPr>
          <p:cNvPr id="8" name="TextBox 7"/>
          <p:cNvSpPr txBox="1"/>
          <p:nvPr/>
        </p:nvSpPr>
        <p:spPr>
          <a:xfrm>
            <a:off x="731520" y="3017520"/>
            <a:ext cx="5120640" cy="1051560"/>
          </a:xfrm>
          <a:prstGeom prst="rect">
            <a:avLst/>
          </a:prstGeom>
          <a:noFill/>
        </p:spPr>
        <p:txBody>
          <a:bodyPr wrap="square" lIns="0" tIns="0" rIns="0" bIns="0" anchor="t">
            <a:spAutoFit/>
          </a:bodyPr>
          <a:lstStyle/>
          <a:p>
            <a:pPr algn="l"/>
            <a:r>
              <a:rPr sz="1100" b="0" i="0">
                <a:solidFill>
                  <a:srgbClr val="7878A0"/>
                </a:solidFill>
                <a:latin typeface="Calibri"/>
              </a:rPr>
              <a:t>Each A-constraint REMOVES venues from the single pool. Stacking multiple A-constraints intersects their qualifying sets. The schedule is then drawn from the narrowed pool.</a:t>
            </a:r>
            <a:endParaRPr sz="1100" b="0" i="0">
              <a:solidFill>
                <a:srgbClr val="7878A0"/>
              </a:solidFill>
              <a:latin typeface="Calibri"/>
            </a:endParaRPr>
          </a:p>
        </p:txBody>
      </p:sp>
      <p:sp>
        <p:nvSpPr>
          <p:cNvPr id="9" name="Rounded Rectangle 8"/>
          <p:cNvSpPr/>
          <p:nvPr/>
        </p:nvSpPr>
        <p:spPr>
          <a:xfrm>
            <a:off x="731520" y="4160520"/>
            <a:ext cx="5120640" cy="64008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51960"/>
            <a:ext cx="4937760" cy="502920"/>
          </a:xfrm>
          <a:prstGeom prst="rect">
            <a:avLst/>
          </a:prstGeom>
          <a:noFill/>
        </p:spPr>
        <p:txBody>
          <a:bodyPr wrap="square" lIns="0" tIns="0" rIns="0" bIns="0" anchor="t">
            <a:spAutoFit/>
          </a:bodyPr>
          <a:lstStyle/>
          <a:p>
            <a:pPr algn="l"/>
            <a:r>
              <a:rPr sz="1050" b="0" i="0">
                <a:solidFill>
                  <a:srgbClr val="E8E8F0"/>
                </a:solidFill>
                <a:latin typeface="Calibri"/>
              </a:rPr>
              <a:t>A × A check: after stacking, is the pool still big enough to draw a plan from? (Type 3 adds a special-case disjointness check for competing pairs.)</a:t>
            </a:r>
            <a:endParaRPr sz="1050" b="0" i="0">
              <a:solidFill>
                <a:srgbClr val="E8E8F0"/>
              </a:solidFill>
              <a:latin typeface="Calibri"/>
            </a:endParaRPr>
          </a:p>
        </p:txBody>
      </p:sp>
      <p:sp>
        <p:nvSpPr>
          <p:cNvPr id="11" name="Rounded Rectangle 10"/>
          <p:cNvSpPr/>
          <p:nvPr/>
        </p:nvSpPr>
        <p:spPr>
          <a:xfrm>
            <a:off x="6217920" y="1920240"/>
            <a:ext cx="5486400" cy="3017520"/>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57400"/>
            <a:ext cx="5120640" cy="365760"/>
          </a:xfrm>
          <a:prstGeom prst="rect">
            <a:avLst/>
          </a:prstGeom>
          <a:noFill/>
        </p:spPr>
        <p:txBody>
          <a:bodyPr wrap="square" lIns="0" tIns="0" rIns="0" bIns="0" anchor="t">
            <a:spAutoFit/>
          </a:bodyPr>
          <a:lstStyle/>
          <a:p>
            <a:pPr algn="l"/>
            <a:r>
              <a:rPr sz="1800" b="0" i="0">
                <a:solidFill>
                  <a:srgbClr val="FFA84A"/>
                </a:solidFill>
                <a:latin typeface="Georgia" panose="02040502050405090303"/>
              </a:rPr>
              <a:t>B  ·  Plan-structure primitives</a:t>
            </a:r>
            <a:endParaRPr sz="1800" b="0" i="0">
              <a:solidFill>
                <a:srgbClr val="FFA84A"/>
              </a:solidFill>
              <a:latin typeface="Georgia" panose="02040502050405090303"/>
            </a:endParaRPr>
          </a:p>
        </p:txBody>
      </p:sp>
      <p:sp>
        <p:nvSpPr>
          <p:cNvPr id="13" name="TextBox 12"/>
          <p:cNvSpPr txBox="1"/>
          <p:nvPr/>
        </p:nvSpPr>
        <p:spPr>
          <a:xfrm>
            <a:off x="6400800" y="2514600"/>
            <a:ext cx="5120640" cy="411480"/>
          </a:xfrm>
          <a:prstGeom prst="rect">
            <a:avLst/>
          </a:prstGeom>
          <a:noFill/>
        </p:spPr>
        <p:txBody>
          <a:bodyPr wrap="square" lIns="0" tIns="0" rIns="0" bIns="0" anchor="t">
            <a:spAutoFit/>
          </a:bodyPr>
          <a:lstStyle/>
          <a:p>
            <a:pPr algn="l"/>
            <a:r>
              <a:rPr sz="1100" b="0" i="0">
                <a:solidFill>
                  <a:srgbClr val="6CFFC8"/>
                </a:solidFill>
                <a:latin typeface="Consolas"/>
              </a:rPr>
              <a:t>at_least N  ·  at_most N  ·  ratio R  ·  count_distinct N  ·  sum X op V</a:t>
            </a:r>
            <a:endParaRPr sz="1100" b="0" i="0">
              <a:solidFill>
                <a:srgbClr val="6CFFC8"/>
              </a:solidFill>
              <a:latin typeface="Consolas"/>
            </a:endParaRPr>
          </a:p>
        </p:txBody>
      </p:sp>
      <p:sp>
        <p:nvSpPr>
          <p:cNvPr id="14" name="TextBox 13"/>
          <p:cNvSpPr txBox="1"/>
          <p:nvPr/>
        </p:nvSpPr>
        <p:spPr>
          <a:xfrm>
            <a:off x="6400800" y="3017520"/>
            <a:ext cx="5120640" cy="1051560"/>
          </a:xfrm>
          <a:prstGeom prst="rect">
            <a:avLst/>
          </a:prstGeom>
          <a:noFill/>
        </p:spPr>
        <p:txBody>
          <a:bodyPr wrap="square" lIns="0" tIns="0" rIns="0" bIns="0" anchor="t">
            <a:spAutoFit/>
          </a:bodyPr>
          <a:lstStyle/>
          <a:p>
            <a:pPr algn="l"/>
            <a:r>
              <a:rPr sz="1100" b="0" i="0">
                <a:solidFill>
                  <a:srgbClr val="7878A0"/>
                </a:solidFill>
                <a:latin typeface="Calibri"/>
              </a:rPr>
              <a:t>B-constraints DON'T touch the pool. They constrain the schedule itself — what counts, what totals, what ratios. Each shrinks the FRACTION of plans that satisfy it.</a:t>
            </a:r>
            <a:endParaRPr sz="1100" b="0" i="0">
              <a:solidFill>
                <a:srgbClr val="7878A0"/>
              </a:solidFill>
              <a:latin typeface="Calibri"/>
            </a:endParaRPr>
          </a:p>
        </p:txBody>
      </p:sp>
      <p:sp>
        <p:nvSpPr>
          <p:cNvPr id="15" name="Rounded Rectangle 14"/>
          <p:cNvSpPr/>
          <p:nvPr/>
        </p:nvSpPr>
        <p:spPr>
          <a:xfrm>
            <a:off x="6400800" y="4160520"/>
            <a:ext cx="5120640" cy="64008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251960"/>
            <a:ext cx="4937760" cy="502920"/>
          </a:xfrm>
          <a:prstGeom prst="rect">
            <a:avLst/>
          </a:prstGeom>
          <a:noFill/>
        </p:spPr>
        <p:txBody>
          <a:bodyPr wrap="square" lIns="0" tIns="0" rIns="0" bIns="0" anchor="t">
            <a:spAutoFit/>
          </a:bodyPr>
          <a:lstStyle/>
          <a:p>
            <a:pPr algn="l"/>
            <a:r>
              <a:rPr sz="1050" b="0" i="0">
                <a:solidFill>
                  <a:srgbClr val="E8E8F0"/>
                </a:solidFill>
                <a:latin typeface="Calibri"/>
              </a:rPr>
              <a:t>B × B check: with all B-constraints stacked, how many valid plans remain?  baseline × ∏ fᵢ  →  must be ≥ a small threshold.</a:t>
            </a:r>
            <a:endParaRPr sz="1050" b="0" i="0">
              <a:solidFill>
                <a:srgbClr val="E8E8F0"/>
              </a:solidFill>
              <a:latin typeface="Calibri"/>
            </a:endParaRPr>
          </a:p>
        </p:txBody>
      </p:sp>
      <p:sp>
        <p:nvSpPr>
          <p:cNvPr id="17" name="Rounded Rectangle 16"/>
          <p:cNvSpPr/>
          <p:nvPr/>
        </p:nvSpPr>
        <p:spPr>
          <a:xfrm>
            <a:off x="548640" y="5166360"/>
            <a:ext cx="11064240" cy="914400"/>
          </a:xfrm>
          <a:prstGeom prst="roundRect">
            <a:avLst>
              <a:gd name="adj" fmla="val 6000"/>
            </a:avLst>
          </a:prstGeom>
          <a:solidFill>
            <a:srgbClr val="12182E"/>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276088"/>
            <a:ext cx="10698480" cy="274320"/>
          </a:xfrm>
          <a:prstGeom prst="rect">
            <a:avLst/>
          </a:prstGeom>
          <a:noFill/>
        </p:spPr>
        <p:txBody>
          <a:bodyPr wrap="square" lIns="0" tIns="0" rIns="0" bIns="0" anchor="t">
            <a:spAutoFit/>
          </a:bodyPr>
          <a:lstStyle/>
          <a:p>
            <a:pPr algn="l"/>
            <a:r>
              <a:rPr sz="1000" b="1" i="0">
                <a:solidFill>
                  <a:srgbClr val="6C8EFF"/>
                </a:solidFill>
                <a:latin typeface="Consolas"/>
              </a:rPr>
              <a:t>WHY THESE TWO ARE ENOUGH</a:t>
            </a:r>
            <a:endParaRPr sz="1000" b="1" i="0">
              <a:solidFill>
                <a:srgbClr val="6C8EFF"/>
              </a:solidFill>
              <a:latin typeface="Consolas"/>
            </a:endParaRPr>
          </a:p>
        </p:txBody>
      </p:sp>
      <p:sp>
        <p:nvSpPr>
          <p:cNvPr id="19" name="TextBox 18"/>
          <p:cNvSpPr txBox="1"/>
          <p:nvPr/>
        </p:nvSpPr>
        <p:spPr>
          <a:xfrm>
            <a:off x="731520" y="5532120"/>
            <a:ext cx="10698480" cy="502920"/>
          </a:xfrm>
          <a:prstGeom prst="rect">
            <a:avLst/>
          </a:prstGeom>
          <a:noFill/>
        </p:spPr>
        <p:txBody>
          <a:bodyPr wrap="square" lIns="0" tIns="0" rIns="0" bIns="0" anchor="t">
            <a:spAutoFit/>
          </a:bodyPr>
          <a:lstStyle/>
          <a:p>
            <a:pPr algn="l"/>
            <a:r>
              <a:rPr sz="1050" b="0" i="0">
                <a:solidFill>
                  <a:srgbClr val="7878A0"/>
                </a:solidFill>
                <a:latin typeface="Calibri"/>
              </a:rPr>
              <a:t>Every P-constraint primitive falls in exactly one class. A acts on the pool, B acts on the schedule. They compose cleanly: A first narrows the venue set, then B narrows the schedule space drawn from it.</a:t>
            </a:r>
            <a:endParaRPr sz="1050" b="0" i="0">
              <a:solidFill>
                <a:srgbClr val="7878A0"/>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15  —  A × A POOL NARROWING</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A × A  —  do stacked pool filters leave any venue?</a:t>
            </a:r>
            <a:endParaRPr sz="2200" b="0" i="0">
              <a:solidFill>
                <a:srgbClr val="E8E8F0"/>
              </a:solidFill>
              <a:latin typeface="Georgia" panose="02040502050405090303"/>
            </a:endParaRPr>
          </a:p>
        </p:txBody>
      </p:sp>
      <p:sp>
        <p:nvSpPr>
          <p:cNvPr id="4" name="TextBox 3"/>
          <p:cNvSpPr txBox="1"/>
          <p:nvPr/>
        </p:nvSpPr>
        <p:spPr>
          <a:xfrm>
            <a:off x="548640" y="960120"/>
            <a:ext cx="10972800" cy="457200"/>
          </a:xfrm>
          <a:prstGeom prst="rect">
            <a:avLst/>
          </a:prstGeom>
          <a:noFill/>
        </p:spPr>
        <p:txBody>
          <a:bodyPr wrap="square" lIns="0" tIns="0" rIns="0" bIns="0" anchor="t">
            <a:spAutoFit/>
          </a:bodyPr>
          <a:lstStyle/>
          <a:p>
            <a:pPr algn="l"/>
            <a:r>
              <a:rPr sz="1600" b="1" i="0">
                <a:solidFill>
                  <a:srgbClr val="E8E8F0"/>
                </a:solidFill>
                <a:latin typeface="Calibri"/>
              </a:rPr>
              <a:t>Real example: NYC Type 5 task — wheelchair + budget + cafe-lover</a:t>
            </a:r>
            <a:endParaRPr sz="1600" b="1" i="0">
              <a:solidFill>
                <a:srgbClr val="E8E8F0"/>
              </a:solidFill>
              <a:latin typeface="Calibri"/>
            </a:endParaRPr>
          </a:p>
        </p:txBody>
      </p:sp>
      <p:sp>
        <p:nvSpPr>
          <p:cNvPr id="5" name="Rounded Rectangle 4"/>
          <p:cNvSpPr/>
          <p:nvPr/>
        </p:nvSpPr>
        <p:spPr>
          <a:xfrm>
            <a:off x="548640" y="1417320"/>
            <a:ext cx="11064240" cy="54864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08760"/>
            <a:ext cx="10698480" cy="411480"/>
          </a:xfrm>
          <a:prstGeom prst="rect">
            <a:avLst/>
          </a:prstGeom>
          <a:noFill/>
        </p:spPr>
        <p:txBody>
          <a:bodyPr wrap="square" lIns="0" tIns="0" rIns="0" bIns="0" anchor="t">
            <a:spAutoFit/>
          </a:bodyPr>
          <a:lstStyle/>
          <a:p>
            <a:pPr algn="l"/>
            <a:r>
              <a:rPr sz="1300" b="0" i="1">
                <a:solidFill>
                  <a:srgbClr val="E8E8F0"/>
                </a:solidFill>
                <a:latin typeface="Georgia" panose="02040502050405090303"/>
              </a:rPr>
              <a:t>“I'll be using a wheelchair and I'm strictly on a budget — no expensive places. Also, I love cafes.”</a:t>
            </a:r>
            <a:endParaRPr sz="1300" b="0" i="1">
              <a:solidFill>
                <a:srgbClr val="E8E8F0"/>
              </a:solidFill>
              <a:latin typeface="Georgia" panose="02040502050405090303"/>
            </a:endParaRPr>
          </a:p>
        </p:txBody>
      </p:sp>
      <p:sp>
        <p:nvSpPr>
          <p:cNvPr id="7" name="TextBox 6"/>
          <p:cNvSpPr txBox="1"/>
          <p:nvPr/>
        </p:nvSpPr>
        <p:spPr>
          <a:xfrm>
            <a:off x="548640" y="2103120"/>
            <a:ext cx="11064240" cy="228600"/>
          </a:xfrm>
          <a:prstGeom prst="rect">
            <a:avLst/>
          </a:prstGeom>
          <a:noFill/>
        </p:spPr>
        <p:txBody>
          <a:bodyPr wrap="square" lIns="0" tIns="0" rIns="0" bIns="0" anchor="t">
            <a:spAutoFit/>
          </a:bodyPr>
          <a:lstStyle/>
          <a:p>
            <a:pPr algn="l"/>
            <a:r>
              <a:rPr sz="1000" b="1" i="0">
                <a:solidFill>
                  <a:srgbClr val="6C8EFF"/>
                </a:solidFill>
                <a:latin typeface="Consolas"/>
              </a:rPr>
              <a:t>TWO UNIVERSAL-SCOPE ("all") FILTERS  —  the A × A pair under test</a:t>
            </a:r>
            <a:endParaRPr sz="1000" b="1" i="0">
              <a:solidFill>
                <a:srgbClr val="6C8EFF"/>
              </a:solidFill>
              <a:latin typeface="Consolas"/>
            </a:endParaRPr>
          </a:p>
        </p:txBody>
      </p:sp>
      <p:sp>
        <p:nvSpPr>
          <p:cNvPr id="8" name="Rounded Rectangle 7"/>
          <p:cNvSpPr/>
          <p:nvPr/>
        </p:nvSpPr>
        <p:spPr>
          <a:xfrm>
            <a:off x="548640" y="2377440"/>
            <a:ext cx="11064240" cy="3200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41448"/>
            <a:ext cx="548640" cy="201168"/>
          </a:xfrm>
          <a:prstGeom prst="rect">
            <a:avLst/>
          </a:prstGeom>
          <a:noFill/>
        </p:spPr>
        <p:txBody>
          <a:bodyPr wrap="square" lIns="0" tIns="0" rIns="0" bIns="0" anchor="t">
            <a:spAutoFit/>
          </a:bodyPr>
          <a:lstStyle/>
          <a:p>
            <a:pPr algn="l"/>
            <a:r>
              <a:rPr sz="1100" b="1" i="0">
                <a:solidFill>
                  <a:srgbClr val="6C8EFF"/>
                </a:solidFill>
                <a:latin typeface="Consolas"/>
              </a:rPr>
              <a:t>A1</a:t>
            </a:r>
            <a:endParaRPr sz="1100" b="1" i="0">
              <a:solidFill>
                <a:srgbClr val="6C8EFF"/>
              </a:solidFill>
              <a:latin typeface="Consolas"/>
            </a:endParaRPr>
          </a:p>
        </p:txBody>
      </p:sp>
      <p:sp>
        <p:nvSpPr>
          <p:cNvPr id="10" name="TextBox 9"/>
          <p:cNvSpPr txBox="1"/>
          <p:nvPr/>
        </p:nvSpPr>
        <p:spPr>
          <a:xfrm>
            <a:off x="1234440" y="2441448"/>
            <a:ext cx="5029200" cy="201168"/>
          </a:xfrm>
          <a:prstGeom prst="rect">
            <a:avLst/>
          </a:prstGeom>
          <a:noFill/>
        </p:spPr>
        <p:txBody>
          <a:bodyPr wrap="square" lIns="0" tIns="0" rIns="0" bIns="0" anchor="t">
            <a:spAutoFit/>
          </a:bodyPr>
          <a:lstStyle/>
          <a:p>
            <a:pPr algn="l"/>
            <a:r>
              <a:rPr sz="1100" b="0" i="0">
                <a:solidFill>
                  <a:srgbClr val="E8E8F0"/>
                </a:solidFill>
                <a:latin typeface="Consolas"/>
              </a:rPr>
              <a:t>wheelchair_accessible = true</a:t>
            </a:r>
            <a:endParaRPr sz="1100" b="0" i="0">
              <a:solidFill>
                <a:srgbClr val="E8E8F0"/>
              </a:solidFill>
              <a:latin typeface="Consolas"/>
            </a:endParaRPr>
          </a:p>
        </p:txBody>
      </p:sp>
      <p:sp>
        <p:nvSpPr>
          <p:cNvPr id="11" name="TextBox 10"/>
          <p:cNvSpPr txBox="1"/>
          <p:nvPr/>
        </p:nvSpPr>
        <p:spPr>
          <a:xfrm>
            <a:off x="6400800" y="2441448"/>
            <a:ext cx="5212080" cy="201168"/>
          </a:xfrm>
          <a:prstGeom prst="rect">
            <a:avLst/>
          </a:prstGeom>
          <a:noFill/>
        </p:spPr>
        <p:txBody>
          <a:bodyPr wrap="square" lIns="0" tIns="0" rIns="0" bIns="0" anchor="t">
            <a:spAutoFit/>
          </a:bodyPr>
          <a:lstStyle/>
          <a:p>
            <a:pPr algn="l"/>
            <a:r>
              <a:rPr sz="1000" b="0" i="0">
                <a:solidFill>
                  <a:srgbClr val="7878A0"/>
                </a:solidFill>
                <a:latin typeface="Consolas"/>
              </a:rPr>
              <a:t>all  ·  scope = all venues</a:t>
            </a:r>
            <a:endParaRPr sz="1000" b="0" i="0">
              <a:solidFill>
                <a:srgbClr val="7878A0"/>
              </a:solidFill>
              <a:latin typeface="Consolas"/>
            </a:endParaRPr>
          </a:p>
        </p:txBody>
      </p:sp>
      <p:sp>
        <p:nvSpPr>
          <p:cNvPr id="12" name="Rounded Rectangle 11"/>
          <p:cNvSpPr/>
          <p:nvPr/>
        </p:nvSpPr>
        <p:spPr>
          <a:xfrm>
            <a:off x="548640" y="2743200"/>
            <a:ext cx="11064240" cy="32004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807208"/>
            <a:ext cx="548640" cy="201168"/>
          </a:xfrm>
          <a:prstGeom prst="rect">
            <a:avLst/>
          </a:prstGeom>
          <a:noFill/>
        </p:spPr>
        <p:txBody>
          <a:bodyPr wrap="square" lIns="0" tIns="0" rIns="0" bIns="0" anchor="t">
            <a:spAutoFit/>
          </a:bodyPr>
          <a:lstStyle/>
          <a:p>
            <a:pPr algn="l"/>
            <a:r>
              <a:rPr sz="1100" b="1" i="0">
                <a:solidFill>
                  <a:srgbClr val="6CFFC8"/>
                </a:solidFill>
                <a:latin typeface="Consolas"/>
              </a:rPr>
              <a:t>A2</a:t>
            </a:r>
            <a:endParaRPr sz="1100" b="1" i="0">
              <a:solidFill>
                <a:srgbClr val="6CFFC8"/>
              </a:solidFill>
              <a:latin typeface="Consolas"/>
            </a:endParaRPr>
          </a:p>
        </p:txBody>
      </p:sp>
      <p:sp>
        <p:nvSpPr>
          <p:cNvPr id="14" name="TextBox 13"/>
          <p:cNvSpPr txBox="1"/>
          <p:nvPr/>
        </p:nvSpPr>
        <p:spPr>
          <a:xfrm>
            <a:off x="1234440" y="2807208"/>
            <a:ext cx="5029200" cy="201168"/>
          </a:xfrm>
          <a:prstGeom prst="rect">
            <a:avLst/>
          </a:prstGeom>
          <a:noFill/>
        </p:spPr>
        <p:txBody>
          <a:bodyPr wrap="square" lIns="0" tIns="0" rIns="0" bIns="0" anchor="t">
            <a:spAutoFit/>
          </a:bodyPr>
          <a:lstStyle/>
          <a:p>
            <a:pPr algn="l"/>
            <a:r>
              <a:rPr sz="1100" b="0" i="0">
                <a:solidFill>
                  <a:srgbClr val="E8E8F0"/>
                </a:solidFill>
                <a:latin typeface="Consolas"/>
              </a:rPr>
              <a:t>price_tier ≤ budget</a:t>
            </a:r>
            <a:endParaRPr sz="1100" b="0" i="0">
              <a:solidFill>
                <a:srgbClr val="E8E8F0"/>
              </a:solidFill>
              <a:latin typeface="Consolas"/>
            </a:endParaRPr>
          </a:p>
        </p:txBody>
      </p:sp>
      <p:sp>
        <p:nvSpPr>
          <p:cNvPr id="15" name="TextBox 14"/>
          <p:cNvSpPr txBox="1"/>
          <p:nvPr/>
        </p:nvSpPr>
        <p:spPr>
          <a:xfrm>
            <a:off x="6400800" y="2807208"/>
            <a:ext cx="5212080" cy="201168"/>
          </a:xfrm>
          <a:prstGeom prst="rect">
            <a:avLst/>
          </a:prstGeom>
          <a:noFill/>
        </p:spPr>
        <p:txBody>
          <a:bodyPr wrap="square" lIns="0" tIns="0" rIns="0" bIns="0" anchor="t">
            <a:spAutoFit/>
          </a:bodyPr>
          <a:lstStyle/>
          <a:p>
            <a:pPr algn="l"/>
            <a:r>
              <a:rPr sz="1000" b="0" i="0">
                <a:solidFill>
                  <a:srgbClr val="7878A0"/>
                </a:solidFill>
                <a:latin typeface="Consolas"/>
              </a:rPr>
              <a:t>all  ·  scope = all venues</a:t>
            </a:r>
            <a:endParaRPr sz="1000" b="0" i="0">
              <a:solidFill>
                <a:srgbClr val="7878A0"/>
              </a:solidFill>
              <a:latin typeface="Consolas"/>
            </a:endParaRPr>
          </a:p>
        </p:txBody>
      </p:sp>
      <p:sp>
        <p:nvSpPr>
          <p:cNvPr id="16" name="TextBox 15"/>
          <p:cNvSpPr txBox="1"/>
          <p:nvPr/>
        </p:nvSpPr>
        <p:spPr>
          <a:xfrm>
            <a:off x="548640" y="3154680"/>
            <a:ext cx="11064240" cy="201168"/>
          </a:xfrm>
          <a:prstGeom prst="rect">
            <a:avLst/>
          </a:prstGeom>
          <a:noFill/>
        </p:spPr>
        <p:txBody>
          <a:bodyPr wrap="square" lIns="0" tIns="0" rIns="0" bIns="0" anchor="t">
            <a:spAutoFit/>
          </a:bodyPr>
          <a:lstStyle/>
          <a:p>
            <a:pPr algn="l"/>
            <a:r>
              <a:rPr sz="900" b="0" i="1">
                <a:solidFill>
                  <a:srgbClr val="7878A0"/>
                </a:solidFill>
                <a:latin typeface="Consolas"/>
              </a:rPr>
              <a:t>(The 3rd P-constraint  at_least: 1 cafe  is a positive-inclusion check on its own pool — handled separately, not part of A × A.)</a:t>
            </a:r>
            <a:endParaRPr sz="900" b="0" i="1">
              <a:solidFill>
                <a:srgbClr val="7878A0"/>
              </a:solidFill>
              <a:latin typeface="Consolas"/>
            </a:endParaRPr>
          </a:p>
        </p:txBody>
      </p:sp>
      <p:sp>
        <p:nvSpPr>
          <p:cNvPr id="17" name="TextBox 16"/>
          <p:cNvSpPr txBox="1"/>
          <p:nvPr/>
        </p:nvSpPr>
        <p:spPr>
          <a:xfrm>
            <a:off x="548640" y="3657600"/>
            <a:ext cx="11064240" cy="228600"/>
          </a:xfrm>
          <a:prstGeom prst="rect">
            <a:avLst/>
          </a:prstGeom>
          <a:noFill/>
        </p:spPr>
        <p:txBody>
          <a:bodyPr wrap="square" lIns="0" tIns="0" rIns="0" bIns="0" anchor="t">
            <a:spAutoFit/>
          </a:bodyPr>
          <a:lstStyle/>
          <a:p>
            <a:pPr algn="l"/>
            <a:r>
              <a:rPr sz="1000" b="1" i="0">
                <a:solidFill>
                  <a:srgbClr val="6C8EFF"/>
                </a:solidFill>
                <a:latin typeface="Consolas"/>
              </a:rPr>
              <a:t>POOL NARROWING  —  applying each filter to the 70-venue NYC pool</a:t>
            </a:r>
            <a:endParaRPr sz="1000" b="1" i="0">
              <a:solidFill>
                <a:srgbClr val="6C8EFF"/>
              </a:solidFill>
              <a:latin typeface="Consolas"/>
            </a:endParaRPr>
          </a:p>
        </p:txBody>
      </p:sp>
      <p:sp>
        <p:nvSpPr>
          <p:cNvPr id="18" name="Rounded Rectangle 17"/>
          <p:cNvSpPr/>
          <p:nvPr/>
        </p:nvSpPr>
        <p:spPr>
          <a:xfrm>
            <a:off x="548640" y="3913632"/>
            <a:ext cx="11064240" cy="4572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968496"/>
            <a:ext cx="3108960" cy="201168"/>
          </a:xfrm>
          <a:prstGeom prst="rect">
            <a:avLst/>
          </a:prstGeom>
          <a:noFill/>
        </p:spPr>
        <p:txBody>
          <a:bodyPr wrap="square" lIns="0" tIns="0" rIns="0" bIns="0" anchor="t">
            <a:spAutoFit/>
          </a:bodyPr>
          <a:lstStyle/>
          <a:p>
            <a:pPr algn="l"/>
            <a:r>
              <a:rPr sz="1050" b="1" i="0">
                <a:solidFill>
                  <a:srgbClr val="7878A0"/>
                </a:solidFill>
                <a:latin typeface="Consolas"/>
              </a:rPr>
              <a:t>baseline</a:t>
            </a:r>
            <a:endParaRPr sz="1050" b="1" i="0">
              <a:solidFill>
                <a:srgbClr val="7878A0"/>
              </a:solidFill>
              <a:latin typeface="Consolas"/>
            </a:endParaRPr>
          </a:p>
        </p:txBody>
      </p:sp>
      <p:sp>
        <p:nvSpPr>
          <p:cNvPr id="20" name="Rounded Rectangle 19"/>
          <p:cNvSpPr/>
          <p:nvPr/>
        </p:nvSpPr>
        <p:spPr>
          <a:xfrm>
            <a:off x="3840480" y="4050792"/>
            <a:ext cx="2377440" cy="18288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840480" y="4050792"/>
            <a:ext cx="2377440" cy="182880"/>
          </a:xfrm>
          <a:prstGeom prst="roundRect">
            <a:avLst>
              <a:gd name="adj" fmla="val 6000"/>
            </a:avLst>
          </a:prstGeom>
          <a:solidFill>
            <a:srgbClr val="787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4005072"/>
            <a:ext cx="548640" cy="274320"/>
          </a:xfrm>
          <a:prstGeom prst="rect">
            <a:avLst/>
          </a:prstGeom>
          <a:noFill/>
        </p:spPr>
        <p:txBody>
          <a:bodyPr wrap="square" lIns="0" tIns="0" rIns="0" bIns="0" anchor="t">
            <a:spAutoFit/>
          </a:bodyPr>
          <a:lstStyle/>
          <a:p>
            <a:pPr algn="l"/>
            <a:r>
              <a:rPr sz="1400" b="1" i="0">
                <a:solidFill>
                  <a:srgbClr val="7878A0"/>
                </a:solidFill>
                <a:latin typeface="Consolas"/>
              </a:rPr>
              <a:t>70</a:t>
            </a:r>
            <a:endParaRPr sz="1400" b="1" i="0">
              <a:solidFill>
                <a:srgbClr val="7878A0"/>
              </a:solidFill>
              <a:latin typeface="Consolas"/>
            </a:endParaRPr>
          </a:p>
        </p:txBody>
      </p:sp>
      <p:sp>
        <p:nvSpPr>
          <p:cNvPr id="23" name="TextBox 22"/>
          <p:cNvSpPr txBox="1"/>
          <p:nvPr/>
        </p:nvSpPr>
        <p:spPr>
          <a:xfrm>
            <a:off x="6949440" y="4050792"/>
            <a:ext cx="4572000" cy="292608"/>
          </a:xfrm>
          <a:prstGeom prst="rect">
            <a:avLst/>
          </a:prstGeom>
          <a:noFill/>
        </p:spPr>
        <p:txBody>
          <a:bodyPr wrap="square" lIns="0" tIns="0" rIns="0" bIns="0" anchor="t">
            <a:spAutoFit/>
          </a:bodyPr>
          <a:lstStyle/>
          <a:p>
            <a:pPr algn="l"/>
            <a:r>
              <a:rPr sz="850" b="0" i="1">
                <a:solidFill>
                  <a:srgbClr val="7878A0"/>
                </a:solidFill>
                <a:latin typeface="Consolas"/>
              </a:rPr>
              <a:t>all NYC venues</a:t>
            </a:r>
            <a:endParaRPr sz="850" b="0" i="1">
              <a:solidFill>
                <a:srgbClr val="7878A0"/>
              </a:solidFill>
              <a:latin typeface="Consolas"/>
            </a:endParaRPr>
          </a:p>
        </p:txBody>
      </p:sp>
      <p:sp>
        <p:nvSpPr>
          <p:cNvPr id="24" name="Rounded Rectangle 23"/>
          <p:cNvSpPr/>
          <p:nvPr/>
        </p:nvSpPr>
        <p:spPr>
          <a:xfrm>
            <a:off x="548640" y="4416552"/>
            <a:ext cx="11064240" cy="4572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471416"/>
            <a:ext cx="3108960" cy="201168"/>
          </a:xfrm>
          <a:prstGeom prst="rect">
            <a:avLst/>
          </a:prstGeom>
          <a:noFill/>
        </p:spPr>
        <p:txBody>
          <a:bodyPr wrap="square" lIns="0" tIns="0" rIns="0" bIns="0" anchor="t">
            <a:spAutoFit/>
          </a:bodyPr>
          <a:lstStyle/>
          <a:p>
            <a:pPr algn="l"/>
            <a:r>
              <a:rPr sz="1050" b="1" i="0">
                <a:solidFill>
                  <a:srgbClr val="6C8EFF"/>
                </a:solidFill>
                <a:latin typeface="Consolas"/>
              </a:rPr>
              <a:t>∩ A1  wheelchair_accessible</a:t>
            </a:r>
            <a:endParaRPr sz="1050" b="1" i="0">
              <a:solidFill>
                <a:srgbClr val="6C8EFF"/>
              </a:solidFill>
              <a:latin typeface="Consolas"/>
            </a:endParaRPr>
          </a:p>
        </p:txBody>
      </p:sp>
      <p:sp>
        <p:nvSpPr>
          <p:cNvPr id="26" name="Rounded Rectangle 25"/>
          <p:cNvSpPr/>
          <p:nvPr/>
        </p:nvSpPr>
        <p:spPr>
          <a:xfrm>
            <a:off x="3840480" y="4553712"/>
            <a:ext cx="2377440" cy="18288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840480" y="4553712"/>
            <a:ext cx="747195" cy="182880"/>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4507992"/>
            <a:ext cx="548640" cy="274320"/>
          </a:xfrm>
          <a:prstGeom prst="rect">
            <a:avLst/>
          </a:prstGeom>
          <a:noFill/>
        </p:spPr>
        <p:txBody>
          <a:bodyPr wrap="square" lIns="0" tIns="0" rIns="0" bIns="0" anchor="t">
            <a:spAutoFit/>
          </a:bodyPr>
          <a:lstStyle/>
          <a:p>
            <a:pPr algn="l"/>
            <a:r>
              <a:rPr sz="1400" b="1" i="0">
                <a:solidFill>
                  <a:srgbClr val="6C8EFF"/>
                </a:solidFill>
                <a:latin typeface="Consolas"/>
              </a:rPr>
              <a:t>22</a:t>
            </a:r>
            <a:endParaRPr sz="1400" b="1" i="0">
              <a:solidFill>
                <a:srgbClr val="6C8EFF"/>
              </a:solidFill>
              <a:latin typeface="Consolas"/>
            </a:endParaRPr>
          </a:p>
        </p:txBody>
      </p:sp>
      <p:sp>
        <p:nvSpPr>
          <p:cNvPr id="29" name="TextBox 28"/>
          <p:cNvSpPr txBox="1"/>
          <p:nvPr/>
        </p:nvSpPr>
        <p:spPr>
          <a:xfrm>
            <a:off x="6949440" y="4553712"/>
            <a:ext cx="4572000" cy="292608"/>
          </a:xfrm>
          <a:prstGeom prst="rect">
            <a:avLst/>
          </a:prstGeom>
          <a:noFill/>
        </p:spPr>
        <p:txBody>
          <a:bodyPr wrap="square" lIns="0" tIns="0" rIns="0" bIns="0" anchor="t">
            <a:spAutoFit/>
          </a:bodyPr>
          <a:lstStyle/>
          <a:p>
            <a:pPr algn="l"/>
            <a:r>
              <a:rPr sz="850" b="0" i="1">
                <a:solidFill>
                  <a:srgbClr val="7878A0"/>
                </a:solidFill>
                <a:latin typeface="Consolas"/>
              </a:rPr>
              <a:t>Brooklyn Bridge Park · The High Line · 9/11 Memorial · Empire State · Whitney · Times Square · …</a:t>
            </a:r>
            <a:endParaRPr sz="850" b="0" i="1">
              <a:solidFill>
                <a:srgbClr val="7878A0"/>
              </a:solidFill>
              <a:latin typeface="Consolas"/>
            </a:endParaRPr>
          </a:p>
        </p:txBody>
      </p:sp>
      <p:sp>
        <p:nvSpPr>
          <p:cNvPr id="30" name="Rounded Rectangle 29"/>
          <p:cNvSpPr/>
          <p:nvPr/>
        </p:nvSpPr>
        <p:spPr>
          <a:xfrm>
            <a:off x="548640" y="4919472"/>
            <a:ext cx="11064240" cy="4572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74336"/>
            <a:ext cx="3108960" cy="201168"/>
          </a:xfrm>
          <a:prstGeom prst="rect">
            <a:avLst/>
          </a:prstGeom>
          <a:noFill/>
        </p:spPr>
        <p:txBody>
          <a:bodyPr wrap="square" lIns="0" tIns="0" rIns="0" bIns="0" anchor="t">
            <a:spAutoFit/>
          </a:bodyPr>
          <a:lstStyle/>
          <a:p>
            <a:pPr algn="l"/>
            <a:r>
              <a:rPr sz="1050" b="1" i="0">
                <a:solidFill>
                  <a:srgbClr val="6CFFC8"/>
                </a:solidFill>
                <a:latin typeface="Consolas"/>
              </a:rPr>
              <a:t>∩ A1 ∩ A2  + price ≤ budget</a:t>
            </a:r>
            <a:endParaRPr sz="1050" b="1" i="0">
              <a:solidFill>
                <a:srgbClr val="6CFFC8"/>
              </a:solidFill>
              <a:latin typeface="Consolas"/>
            </a:endParaRPr>
          </a:p>
        </p:txBody>
      </p:sp>
      <p:sp>
        <p:nvSpPr>
          <p:cNvPr id="32" name="Rounded Rectangle 31"/>
          <p:cNvSpPr/>
          <p:nvPr/>
        </p:nvSpPr>
        <p:spPr>
          <a:xfrm>
            <a:off x="3840480" y="5056632"/>
            <a:ext cx="2377440" cy="18288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840480" y="5056632"/>
            <a:ext cx="611341" cy="182880"/>
          </a:xfrm>
          <a:prstGeom prst="roundRect">
            <a:avLst>
              <a:gd name="adj" fmla="val 6000"/>
            </a:avLst>
          </a:prstGeom>
          <a:solidFill>
            <a:srgbClr val="6CF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5010912"/>
            <a:ext cx="548640" cy="274320"/>
          </a:xfrm>
          <a:prstGeom prst="rect">
            <a:avLst/>
          </a:prstGeom>
          <a:noFill/>
        </p:spPr>
        <p:txBody>
          <a:bodyPr wrap="square" lIns="0" tIns="0" rIns="0" bIns="0" anchor="t">
            <a:spAutoFit/>
          </a:bodyPr>
          <a:lstStyle/>
          <a:p>
            <a:pPr algn="l"/>
            <a:r>
              <a:rPr sz="1400" b="1" i="0">
                <a:solidFill>
                  <a:srgbClr val="6CFFC8"/>
                </a:solidFill>
                <a:latin typeface="Consolas"/>
              </a:rPr>
              <a:t>18</a:t>
            </a:r>
            <a:endParaRPr sz="1400" b="1" i="0">
              <a:solidFill>
                <a:srgbClr val="6CFFC8"/>
              </a:solidFill>
              <a:latin typeface="Consolas"/>
            </a:endParaRPr>
          </a:p>
        </p:txBody>
      </p:sp>
      <p:sp>
        <p:nvSpPr>
          <p:cNvPr id="35" name="TextBox 34"/>
          <p:cNvSpPr txBox="1"/>
          <p:nvPr/>
        </p:nvSpPr>
        <p:spPr>
          <a:xfrm>
            <a:off x="6949440" y="5056632"/>
            <a:ext cx="4572000" cy="292608"/>
          </a:xfrm>
          <a:prstGeom prst="rect">
            <a:avLst/>
          </a:prstGeom>
          <a:noFill/>
        </p:spPr>
        <p:txBody>
          <a:bodyPr wrap="square" lIns="0" tIns="0" rIns="0" bIns="0" anchor="t">
            <a:spAutoFit/>
          </a:bodyPr>
          <a:lstStyle/>
          <a:p>
            <a:pPr algn="l"/>
            <a:r>
              <a:rPr sz="850" b="0" i="1">
                <a:solidFill>
                  <a:srgbClr val="7878A0"/>
                </a:solidFill>
                <a:latin typeface="Consolas"/>
              </a:rPr>
              <a:t>NY Stock Exchange · Brooklyn Bridge Park · The High Line · Times Square · Brooklyn Bridge · …</a:t>
            </a:r>
            <a:endParaRPr sz="850" b="0" i="1">
              <a:solidFill>
                <a:srgbClr val="7878A0"/>
              </a:solidFill>
              <a:latin typeface="Consolas"/>
            </a:endParaRPr>
          </a:p>
        </p:txBody>
      </p:sp>
      <p:sp>
        <p:nvSpPr>
          <p:cNvPr id="36" name="Rounded Rectangle 35"/>
          <p:cNvSpPr/>
          <p:nvPr/>
        </p:nvSpPr>
        <p:spPr>
          <a:xfrm>
            <a:off x="548640" y="5495544"/>
            <a:ext cx="11064240" cy="548640"/>
          </a:xfrm>
          <a:prstGeom prst="roundRect">
            <a:avLst>
              <a:gd name="adj" fmla="val 6000"/>
            </a:avLst>
          </a:prstGeom>
          <a:solidFill>
            <a:srgbClr val="122A22"/>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541264"/>
            <a:ext cx="10698480" cy="228600"/>
          </a:xfrm>
          <a:prstGeom prst="rect">
            <a:avLst/>
          </a:prstGeom>
          <a:noFill/>
        </p:spPr>
        <p:txBody>
          <a:bodyPr wrap="square" lIns="0" tIns="0" rIns="0" bIns="0" anchor="t">
            <a:spAutoFit/>
          </a:bodyPr>
          <a:lstStyle/>
          <a:p>
            <a:pPr algn="l"/>
            <a:r>
              <a:rPr sz="1000" b="1" i="0">
                <a:solidFill>
                  <a:srgbClr val="6CFFC8"/>
                </a:solidFill>
                <a:latin typeface="Consolas"/>
              </a:rPr>
              <a:t>A × A CHECK</a:t>
            </a:r>
            <a:endParaRPr sz="1000" b="1" i="0">
              <a:solidFill>
                <a:srgbClr val="6CFFC8"/>
              </a:solidFill>
              <a:latin typeface="Consolas"/>
            </a:endParaRPr>
          </a:p>
        </p:txBody>
      </p:sp>
      <p:sp>
        <p:nvSpPr>
          <p:cNvPr id="38" name="TextBox 37"/>
          <p:cNvSpPr txBox="1"/>
          <p:nvPr/>
        </p:nvSpPr>
        <p:spPr>
          <a:xfrm>
            <a:off x="731520" y="5769864"/>
            <a:ext cx="10698480" cy="168910"/>
          </a:xfrm>
          <a:prstGeom prst="rect">
            <a:avLst/>
          </a:prstGeom>
          <a:noFill/>
        </p:spPr>
        <p:txBody>
          <a:bodyPr wrap="square" lIns="0" tIns="0" rIns="0" bIns="0" anchor="t">
            <a:spAutoFit/>
          </a:bodyPr>
          <a:lstStyle/>
          <a:p>
            <a:pPr algn="l"/>
            <a:r>
              <a:rPr sz="1100" b="1" i="0">
                <a:solidFill>
                  <a:srgbClr val="E8E8F0"/>
                </a:solidFill>
                <a:latin typeface="Consolas"/>
              </a:rPr>
              <a:t>intersection  |A1 ∩ A2|  ≥ </a:t>
            </a:r>
            <a:r>
              <a:rPr lang="en-US" sz="1100" b="1" i="0">
                <a:solidFill>
                  <a:srgbClr val="E8E8F0"/>
                </a:solidFill>
                <a:latin typeface="Consolas"/>
              </a:rPr>
              <a:t>4 x day_count</a:t>
            </a:r>
            <a:r>
              <a:rPr sz="1100" b="0" i="0">
                <a:solidFill>
                  <a:srgbClr val="6CFFC8"/>
                </a:solidFill>
                <a:latin typeface="Consolas"/>
              </a:rPr>
              <a:t>   →   18 venues qualify ✓     Solvable for the universal-filter pair.</a:t>
            </a:r>
            <a:endParaRPr sz="1100" b="0" i="0">
              <a:solidFill>
                <a:srgbClr val="6CFFC8"/>
              </a:solidFill>
              <a:latin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16  —  B × B PLAN-SPACE NARROWING</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B × B  —  do counting + per-day constraints fit any schedule?</a:t>
            </a:r>
            <a:endParaRPr sz="2200" b="0" i="0">
              <a:solidFill>
                <a:srgbClr val="E8E8F0"/>
              </a:solidFill>
              <a:latin typeface="Georgia" panose="02040502050405090303"/>
            </a:endParaRPr>
          </a:p>
        </p:txBody>
      </p:sp>
      <p:sp>
        <p:nvSpPr>
          <p:cNvPr id="4" name="TextBox 3"/>
          <p:cNvSpPr txBox="1"/>
          <p:nvPr/>
        </p:nvSpPr>
        <p:spPr>
          <a:xfrm>
            <a:off x="548640" y="960120"/>
            <a:ext cx="10972800" cy="457200"/>
          </a:xfrm>
          <a:prstGeom prst="rect">
            <a:avLst/>
          </a:prstGeom>
          <a:noFill/>
        </p:spPr>
        <p:txBody>
          <a:bodyPr wrap="square" lIns="0" tIns="0" rIns="0" bIns="0" anchor="t">
            <a:spAutoFit/>
          </a:bodyPr>
          <a:lstStyle/>
          <a:p>
            <a:pPr algn="l"/>
            <a:r>
              <a:rPr sz="1600" b="1" i="0">
                <a:solidFill>
                  <a:srgbClr val="E8E8F0"/>
                </a:solidFill>
                <a:latin typeface="Calibri"/>
              </a:rPr>
              <a:t>Real example: NYC Type 3 — 4 at_least's + count_distinct + per_day park</a:t>
            </a:r>
            <a:endParaRPr sz="1600" b="1" i="0">
              <a:solidFill>
                <a:srgbClr val="E8E8F0"/>
              </a:solidFill>
              <a:latin typeface="Calibri"/>
            </a:endParaRPr>
          </a:p>
        </p:txBody>
      </p:sp>
      <p:sp>
        <p:nvSpPr>
          <p:cNvPr id="5" name="Rounded Rectangle 4"/>
          <p:cNvSpPr/>
          <p:nvPr/>
        </p:nvSpPr>
        <p:spPr>
          <a:xfrm>
            <a:off x="548640" y="1417320"/>
            <a:ext cx="11064240" cy="54864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90472"/>
            <a:ext cx="10698480" cy="457200"/>
          </a:xfrm>
          <a:prstGeom prst="rect">
            <a:avLst/>
          </a:prstGeom>
          <a:noFill/>
        </p:spPr>
        <p:txBody>
          <a:bodyPr wrap="square" lIns="0" tIns="0" rIns="0" bIns="0" anchor="t">
            <a:spAutoFit/>
          </a:bodyPr>
          <a:lstStyle/>
          <a:p>
            <a:pPr algn="l"/>
            <a:r>
              <a:rPr sz="1250" b="0" i="1">
                <a:solidFill>
                  <a:srgbClr val="E8E8F0"/>
                </a:solidFill>
                <a:latin typeface="Georgia" panose="02040502050405090303"/>
              </a:rPr>
              <a:t>“2-day NYC trip Jul 4. Partner insists on the famous sites, I prefer hidden gems. As many different mid-priced cuisines as possible. One park visit every day.”</a:t>
            </a:r>
            <a:endParaRPr sz="1250" b="0" i="1">
              <a:solidFill>
                <a:srgbClr val="E8E8F0"/>
              </a:solidFill>
              <a:latin typeface="Georgia" panose="02040502050405090303"/>
            </a:endParaRPr>
          </a:p>
        </p:txBody>
      </p:sp>
      <p:sp>
        <p:nvSpPr>
          <p:cNvPr id="7" name="TextBox 6"/>
          <p:cNvSpPr txBox="1"/>
          <p:nvPr/>
        </p:nvSpPr>
        <p:spPr>
          <a:xfrm>
            <a:off x="548640" y="2103120"/>
            <a:ext cx="11064240" cy="228600"/>
          </a:xfrm>
          <a:prstGeom prst="rect">
            <a:avLst/>
          </a:prstGeom>
          <a:noFill/>
        </p:spPr>
        <p:txBody>
          <a:bodyPr wrap="square" lIns="0" tIns="0" rIns="0" bIns="0" anchor="t">
            <a:spAutoFit/>
          </a:bodyPr>
          <a:lstStyle/>
          <a:p>
            <a:pPr algn="l"/>
            <a:r>
              <a:rPr sz="1000" b="1" i="0">
                <a:solidFill>
                  <a:srgbClr val="FFA84A"/>
                </a:solidFill>
                <a:latin typeface="Consolas"/>
              </a:rPr>
              <a:t>B-CONSTRAINTS  —  each narrows the SCHEDULE, not the venue pool</a:t>
            </a:r>
            <a:endParaRPr sz="1000" b="1" i="0">
              <a:solidFill>
                <a:srgbClr val="FFA84A"/>
              </a:solidFill>
              <a:latin typeface="Consolas"/>
            </a:endParaRPr>
          </a:p>
        </p:txBody>
      </p:sp>
      <p:sp>
        <p:nvSpPr>
          <p:cNvPr id="8" name="Rounded Rectangle 7"/>
          <p:cNvSpPr/>
          <p:nvPr/>
        </p:nvSpPr>
        <p:spPr>
          <a:xfrm>
            <a:off x="548640" y="2377440"/>
            <a:ext cx="11064240" cy="292608"/>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4"/>
            <a:ext cx="457200" cy="201168"/>
          </a:xfrm>
          <a:prstGeom prst="rect">
            <a:avLst/>
          </a:prstGeom>
          <a:noFill/>
        </p:spPr>
        <p:txBody>
          <a:bodyPr wrap="square" lIns="0" tIns="0" rIns="0" bIns="0" anchor="t">
            <a:spAutoFit/>
          </a:bodyPr>
          <a:lstStyle/>
          <a:p>
            <a:pPr algn="l"/>
            <a:r>
              <a:rPr sz="1100" b="1" i="0">
                <a:solidFill>
                  <a:srgbClr val="FFA84A"/>
                </a:solidFill>
                <a:latin typeface="Consolas"/>
              </a:rPr>
              <a:t>B1</a:t>
            </a:r>
            <a:endParaRPr sz="1100" b="1" i="0">
              <a:solidFill>
                <a:srgbClr val="FFA84A"/>
              </a:solidFill>
              <a:latin typeface="Consolas"/>
            </a:endParaRPr>
          </a:p>
        </p:txBody>
      </p:sp>
      <p:sp>
        <p:nvSpPr>
          <p:cNvPr id="10" name="TextBox 9"/>
          <p:cNvSpPr txBox="1"/>
          <p:nvPr/>
        </p:nvSpPr>
        <p:spPr>
          <a:xfrm>
            <a:off x="1188720" y="2432304"/>
            <a:ext cx="5212080" cy="201168"/>
          </a:xfrm>
          <a:prstGeom prst="rect">
            <a:avLst/>
          </a:prstGeom>
          <a:noFill/>
        </p:spPr>
        <p:txBody>
          <a:bodyPr wrap="square" lIns="0" tIns="0" rIns="0" bIns="0" anchor="t">
            <a:spAutoFit/>
          </a:bodyPr>
          <a:lstStyle/>
          <a:p>
            <a:pPr algn="l"/>
            <a:r>
              <a:rPr sz="1050" b="0" i="0">
                <a:solidFill>
                  <a:srgbClr val="E8E8F0"/>
                </a:solidFill>
                <a:latin typeface="Consolas"/>
              </a:rPr>
              <a:t>at_least: 4   condition: traffic_tier=high</a:t>
            </a:r>
            <a:endParaRPr sz="1050" b="0" i="0">
              <a:solidFill>
                <a:srgbClr val="E8E8F0"/>
              </a:solidFill>
              <a:latin typeface="Consolas"/>
            </a:endParaRPr>
          </a:p>
        </p:txBody>
      </p:sp>
      <p:sp>
        <p:nvSpPr>
          <p:cNvPr id="11" name="TextBox 10"/>
          <p:cNvSpPr txBox="1"/>
          <p:nvPr/>
        </p:nvSpPr>
        <p:spPr>
          <a:xfrm>
            <a:off x="6492240" y="2432304"/>
            <a:ext cx="5120640" cy="201168"/>
          </a:xfrm>
          <a:prstGeom prst="rect">
            <a:avLst/>
          </a:prstGeom>
          <a:noFill/>
        </p:spPr>
        <p:txBody>
          <a:bodyPr wrap="square" lIns="0" tIns="0" rIns="0" bIns="0" anchor="t">
            <a:spAutoFit/>
          </a:bodyPr>
          <a:lstStyle/>
          <a:p>
            <a:pPr algn="l"/>
            <a:r>
              <a:rPr sz="1000" b="0" i="1">
                <a:solidFill>
                  <a:srgbClr val="7878A0"/>
                </a:solidFill>
                <a:latin typeface="Consolas"/>
              </a:rPr>
              <a:t>≥ 4 famous-site visits across the 2 days</a:t>
            </a:r>
            <a:endParaRPr sz="1000" b="0" i="1">
              <a:solidFill>
                <a:srgbClr val="7878A0"/>
              </a:solidFill>
              <a:latin typeface="Consolas"/>
            </a:endParaRPr>
          </a:p>
        </p:txBody>
      </p:sp>
      <p:sp>
        <p:nvSpPr>
          <p:cNvPr id="12" name="Rounded Rectangle 11"/>
          <p:cNvSpPr/>
          <p:nvPr/>
        </p:nvSpPr>
        <p:spPr>
          <a:xfrm>
            <a:off x="548640" y="2706624"/>
            <a:ext cx="11064240" cy="292608"/>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61488"/>
            <a:ext cx="457200" cy="201168"/>
          </a:xfrm>
          <a:prstGeom prst="rect">
            <a:avLst/>
          </a:prstGeom>
          <a:noFill/>
        </p:spPr>
        <p:txBody>
          <a:bodyPr wrap="square" lIns="0" tIns="0" rIns="0" bIns="0" anchor="t">
            <a:spAutoFit/>
          </a:bodyPr>
          <a:lstStyle/>
          <a:p>
            <a:pPr algn="l"/>
            <a:r>
              <a:rPr sz="1100" b="1" i="0">
                <a:solidFill>
                  <a:srgbClr val="6CFFC8"/>
                </a:solidFill>
                <a:latin typeface="Consolas"/>
              </a:rPr>
              <a:t>B2</a:t>
            </a:r>
            <a:endParaRPr sz="1100" b="1" i="0">
              <a:solidFill>
                <a:srgbClr val="6CFFC8"/>
              </a:solidFill>
              <a:latin typeface="Consolas"/>
            </a:endParaRPr>
          </a:p>
        </p:txBody>
      </p:sp>
      <p:sp>
        <p:nvSpPr>
          <p:cNvPr id="14" name="TextBox 13"/>
          <p:cNvSpPr txBox="1"/>
          <p:nvPr/>
        </p:nvSpPr>
        <p:spPr>
          <a:xfrm>
            <a:off x="1188720" y="2761488"/>
            <a:ext cx="5212080" cy="201168"/>
          </a:xfrm>
          <a:prstGeom prst="rect">
            <a:avLst/>
          </a:prstGeom>
          <a:noFill/>
        </p:spPr>
        <p:txBody>
          <a:bodyPr wrap="square" lIns="0" tIns="0" rIns="0" bIns="0" anchor="t">
            <a:spAutoFit/>
          </a:bodyPr>
          <a:lstStyle/>
          <a:p>
            <a:pPr algn="l"/>
            <a:r>
              <a:rPr sz="1050" b="0" i="0">
                <a:solidFill>
                  <a:srgbClr val="E8E8F0"/>
                </a:solidFill>
                <a:latin typeface="Consolas"/>
              </a:rPr>
              <a:t>at_least: 4   condition: traffic_tier=low</a:t>
            </a:r>
            <a:endParaRPr sz="1050" b="0" i="0">
              <a:solidFill>
                <a:srgbClr val="E8E8F0"/>
              </a:solidFill>
              <a:latin typeface="Consolas"/>
            </a:endParaRPr>
          </a:p>
        </p:txBody>
      </p:sp>
      <p:sp>
        <p:nvSpPr>
          <p:cNvPr id="15" name="TextBox 14"/>
          <p:cNvSpPr txBox="1"/>
          <p:nvPr/>
        </p:nvSpPr>
        <p:spPr>
          <a:xfrm>
            <a:off x="6492240" y="2761488"/>
            <a:ext cx="5120640" cy="201168"/>
          </a:xfrm>
          <a:prstGeom prst="rect">
            <a:avLst/>
          </a:prstGeom>
          <a:noFill/>
        </p:spPr>
        <p:txBody>
          <a:bodyPr wrap="square" lIns="0" tIns="0" rIns="0" bIns="0" anchor="t">
            <a:spAutoFit/>
          </a:bodyPr>
          <a:lstStyle/>
          <a:p>
            <a:pPr algn="l"/>
            <a:r>
              <a:rPr sz="1000" b="0" i="1">
                <a:solidFill>
                  <a:srgbClr val="7878A0"/>
                </a:solidFill>
                <a:latin typeface="Consolas"/>
              </a:rPr>
              <a:t>≥ 4 hidden-gem visits across the 2 days</a:t>
            </a:r>
            <a:endParaRPr sz="1000" b="0" i="1">
              <a:solidFill>
                <a:srgbClr val="7878A0"/>
              </a:solidFill>
              <a:latin typeface="Consolas"/>
            </a:endParaRPr>
          </a:p>
        </p:txBody>
      </p:sp>
      <p:sp>
        <p:nvSpPr>
          <p:cNvPr id="16" name="Rounded Rectangle 15"/>
          <p:cNvSpPr/>
          <p:nvPr/>
        </p:nvSpPr>
        <p:spPr>
          <a:xfrm>
            <a:off x="548640" y="3035808"/>
            <a:ext cx="11064240" cy="292608"/>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090672"/>
            <a:ext cx="457200" cy="201168"/>
          </a:xfrm>
          <a:prstGeom prst="rect">
            <a:avLst/>
          </a:prstGeom>
          <a:noFill/>
        </p:spPr>
        <p:txBody>
          <a:bodyPr wrap="square" lIns="0" tIns="0" rIns="0" bIns="0" anchor="t">
            <a:spAutoFit/>
          </a:bodyPr>
          <a:lstStyle/>
          <a:p>
            <a:pPr algn="l"/>
            <a:r>
              <a:rPr sz="1100" b="1" i="0">
                <a:solidFill>
                  <a:srgbClr val="6C8EFF"/>
                </a:solidFill>
                <a:latin typeface="Consolas"/>
              </a:rPr>
              <a:t>B3</a:t>
            </a:r>
            <a:endParaRPr sz="1100" b="1" i="0">
              <a:solidFill>
                <a:srgbClr val="6C8EFF"/>
              </a:solidFill>
              <a:latin typeface="Consolas"/>
            </a:endParaRPr>
          </a:p>
        </p:txBody>
      </p:sp>
      <p:sp>
        <p:nvSpPr>
          <p:cNvPr id="18" name="TextBox 17"/>
          <p:cNvSpPr txBox="1"/>
          <p:nvPr/>
        </p:nvSpPr>
        <p:spPr>
          <a:xfrm>
            <a:off x="1188720" y="3090672"/>
            <a:ext cx="5212080" cy="201168"/>
          </a:xfrm>
          <a:prstGeom prst="rect">
            <a:avLst/>
          </a:prstGeom>
          <a:noFill/>
        </p:spPr>
        <p:txBody>
          <a:bodyPr wrap="square" lIns="0" tIns="0" rIns="0" bIns="0" anchor="t">
            <a:spAutoFit/>
          </a:bodyPr>
          <a:lstStyle/>
          <a:p>
            <a:pPr algn="l"/>
            <a:r>
              <a:rPr sz="1050" b="0" i="0">
                <a:solidFill>
                  <a:srgbClr val="E8E8F0"/>
                </a:solidFill>
                <a:latin typeface="Consolas"/>
              </a:rPr>
              <a:t>at_least: 1   category=park   per_day</a:t>
            </a:r>
            <a:endParaRPr sz="1050" b="0" i="0">
              <a:solidFill>
                <a:srgbClr val="E8E8F0"/>
              </a:solidFill>
              <a:latin typeface="Consolas"/>
            </a:endParaRPr>
          </a:p>
        </p:txBody>
      </p:sp>
      <p:sp>
        <p:nvSpPr>
          <p:cNvPr id="19" name="TextBox 18"/>
          <p:cNvSpPr txBox="1"/>
          <p:nvPr/>
        </p:nvSpPr>
        <p:spPr>
          <a:xfrm>
            <a:off x="6492240" y="3090672"/>
            <a:ext cx="5120640" cy="201168"/>
          </a:xfrm>
          <a:prstGeom prst="rect">
            <a:avLst/>
          </a:prstGeom>
          <a:noFill/>
        </p:spPr>
        <p:txBody>
          <a:bodyPr wrap="square" lIns="0" tIns="0" rIns="0" bIns="0" anchor="t">
            <a:spAutoFit/>
          </a:bodyPr>
          <a:lstStyle/>
          <a:p>
            <a:pPr algn="l"/>
            <a:r>
              <a:rPr sz="1000" b="0" i="1">
                <a:solidFill>
                  <a:srgbClr val="7878A0"/>
                </a:solidFill>
                <a:latin typeface="Consolas"/>
              </a:rPr>
              <a:t>park required EVERY day  (not just total)</a:t>
            </a:r>
            <a:endParaRPr sz="1000" b="0" i="1">
              <a:solidFill>
                <a:srgbClr val="7878A0"/>
              </a:solidFill>
              <a:latin typeface="Consolas"/>
            </a:endParaRPr>
          </a:p>
        </p:txBody>
      </p:sp>
      <p:sp>
        <p:nvSpPr>
          <p:cNvPr id="20" name="Rounded Rectangle 19"/>
          <p:cNvSpPr/>
          <p:nvPr/>
        </p:nvSpPr>
        <p:spPr>
          <a:xfrm>
            <a:off x="548640" y="3364992"/>
            <a:ext cx="11064240" cy="292608"/>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419856"/>
            <a:ext cx="457200" cy="201168"/>
          </a:xfrm>
          <a:prstGeom prst="rect">
            <a:avLst/>
          </a:prstGeom>
          <a:noFill/>
        </p:spPr>
        <p:txBody>
          <a:bodyPr wrap="square" lIns="0" tIns="0" rIns="0" bIns="0" anchor="t">
            <a:spAutoFit/>
          </a:bodyPr>
          <a:lstStyle/>
          <a:p>
            <a:pPr algn="l"/>
            <a:r>
              <a:rPr sz="1100" b="1" i="0">
                <a:solidFill>
                  <a:srgbClr val="C87EFF"/>
                </a:solidFill>
                <a:latin typeface="Consolas"/>
              </a:rPr>
              <a:t>B4</a:t>
            </a:r>
            <a:endParaRPr sz="1100" b="1" i="0">
              <a:solidFill>
                <a:srgbClr val="C87EFF"/>
              </a:solidFill>
              <a:latin typeface="Consolas"/>
            </a:endParaRPr>
          </a:p>
        </p:txBody>
      </p:sp>
      <p:sp>
        <p:nvSpPr>
          <p:cNvPr id="22" name="TextBox 21"/>
          <p:cNvSpPr txBox="1"/>
          <p:nvPr/>
        </p:nvSpPr>
        <p:spPr>
          <a:xfrm>
            <a:off x="1188720" y="3419856"/>
            <a:ext cx="5212080" cy="201168"/>
          </a:xfrm>
          <a:prstGeom prst="rect">
            <a:avLst/>
          </a:prstGeom>
          <a:noFill/>
        </p:spPr>
        <p:txBody>
          <a:bodyPr wrap="square" lIns="0" tIns="0" rIns="0" bIns="0" anchor="t">
            <a:spAutoFit/>
          </a:bodyPr>
          <a:lstStyle/>
          <a:p>
            <a:pPr algn="l"/>
            <a:r>
              <a:rPr sz="1050" b="0" i="0">
                <a:solidFill>
                  <a:srgbClr val="E8E8F0"/>
                </a:solidFill>
                <a:latin typeface="Consolas"/>
              </a:rPr>
              <a:t>count_distinct: 3   field=cuisine   restaurants=mid</a:t>
            </a:r>
            <a:endParaRPr sz="1050" b="0" i="0">
              <a:solidFill>
                <a:srgbClr val="E8E8F0"/>
              </a:solidFill>
              <a:latin typeface="Consolas"/>
            </a:endParaRPr>
          </a:p>
        </p:txBody>
      </p:sp>
      <p:sp>
        <p:nvSpPr>
          <p:cNvPr id="23" name="TextBox 22"/>
          <p:cNvSpPr txBox="1"/>
          <p:nvPr/>
        </p:nvSpPr>
        <p:spPr>
          <a:xfrm>
            <a:off x="6492240" y="3419856"/>
            <a:ext cx="5120640" cy="201168"/>
          </a:xfrm>
          <a:prstGeom prst="rect">
            <a:avLst/>
          </a:prstGeom>
          <a:noFill/>
        </p:spPr>
        <p:txBody>
          <a:bodyPr wrap="square" lIns="0" tIns="0" rIns="0" bIns="0" anchor="t">
            <a:spAutoFit/>
          </a:bodyPr>
          <a:lstStyle/>
          <a:p>
            <a:pPr algn="l"/>
            <a:r>
              <a:rPr sz="1000" b="0" i="1">
                <a:solidFill>
                  <a:srgbClr val="7878A0"/>
                </a:solidFill>
                <a:latin typeface="Consolas"/>
              </a:rPr>
              <a:t>3 different mid-price cuisines across meal venues</a:t>
            </a:r>
            <a:endParaRPr sz="1000" b="0" i="1">
              <a:solidFill>
                <a:srgbClr val="7878A0"/>
              </a:solidFill>
              <a:latin typeface="Consolas"/>
            </a:endParaRPr>
          </a:p>
        </p:txBody>
      </p:sp>
      <p:sp>
        <p:nvSpPr>
          <p:cNvPr id="24" name="Rounded Rectangle 23"/>
          <p:cNvSpPr/>
          <p:nvPr/>
        </p:nvSpPr>
        <p:spPr>
          <a:xfrm>
            <a:off x="548640" y="4160520"/>
            <a:ext cx="11064240" cy="18288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251960"/>
            <a:ext cx="10698480" cy="228600"/>
          </a:xfrm>
          <a:prstGeom prst="rect">
            <a:avLst/>
          </a:prstGeom>
          <a:noFill/>
        </p:spPr>
        <p:txBody>
          <a:bodyPr wrap="square" lIns="0" tIns="0" rIns="0" bIns="0" anchor="t">
            <a:spAutoFit/>
          </a:bodyPr>
          <a:lstStyle/>
          <a:p>
            <a:pPr algn="l"/>
            <a:r>
              <a:rPr sz="1000" b="1" i="0">
                <a:solidFill>
                  <a:srgbClr val="FFA84A"/>
                </a:solidFill>
                <a:latin typeface="Consolas"/>
              </a:rPr>
              <a:t>HYPERGEOMETRIC NARROWING  ·  baseline × ∏ fᵢ  ·  scipy.stats.hypergeom.sf in the validator</a:t>
            </a:r>
            <a:endParaRPr sz="1000" b="1" i="0">
              <a:solidFill>
                <a:srgbClr val="FFA84A"/>
              </a:solidFill>
              <a:latin typeface="Consolas"/>
            </a:endParaRPr>
          </a:p>
        </p:txBody>
      </p:sp>
      <p:sp>
        <p:nvSpPr>
          <p:cNvPr id="26" name="TextBox 25"/>
          <p:cNvSpPr txBox="1"/>
          <p:nvPr/>
        </p:nvSpPr>
        <p:spPr>
          <a:xfrm>
            <a:off x="731520" y="4507992"/>
            <a:ext cx="2651760" cy="201168"/>
          </a:xfrm>
          <a:prstGeom prst="rect">
            <a:avLst/>
          </a:prstGeom>
          <a:noFill/>
        </p:spPr>
        <p:txBody>
          <a:bodyPr wrap="square" lIns="0" tIns="0" rIns="0" bIns="0" anchor="t">
            <a:spAutoFit/>
          </a:bodyPr>
          <a:lstStyle/>
          <a:p>
            <a:pPr algn="l"/>
            <a:r>
              <a:rPr sz="950" b="1" i="0">
                <a:solidFill>
                  <a:srgbClr val="7878A0"/>
                </a:solidFill>
                <a:latin typeface="Consolas"/>
              </a:rPr>
              <a:t>baseline    K_food=4, K_site=4</a:t>
            </a:r>
            <a:endParaRPr sz="950" b="1" i="0">
              <a:solidFill>
                <a:srgbClr val="7878A0"/>
              </a:solidFill>
              <a:latin typeface="Consolas"/>
            </a:endParaRPr>
          </a:p>
        </p:txBody>
      </p:sp>
      <p:sp>
        <p:nvSpPr>
          <p:cNvPr id="27" name="TextBox 26"/>
          <p:cNvSpPr txBox="1"/>
          <p:nvPr/>
        </p:nvSpPr>
        <p:spPr>
          <a:xfrm>
            <a:off x="3383280" y="4507992"/>
            <a:ext cx="3200400" cy="201168"/>
          </a:xfrm>
          <a:prstGeom prst="rect">
            <a:avLst/>
          </a:prstGeom>
          <a:noFill/>
        </p:spPr>
        <p:txBody>
          <a:bodyPr wrap="square" lIns="0" tIns="0" rIns="0" bIns="0" anchor="t">
            <a:spAutoFit/>
          </a:bodyPr>
          <a:lstStyle/>
          <a:p>
            <a:pPr algn="l"/>
            <a:r>
              <a:rPr sz="900" b="0" i="0">
                <a:solidFill>
                  <a:srgbClr val="7878A0"/>
                </a:solidFill>
                <a:latin typeface="Consolas"/>
              </a:rPr>
              <a:t>C(35,4) · C(35,4)</a:t>
            </a:r>
            <a:endParaRPr sz="900" b="0" i="0">
              <a:solidFill>
                <a:srgbClr val="7878A0"/>
              </a:solidFill>
              <a:latin typeface="Consolas"/>
            </a:endParaRPr>
          </a:p>
        </p:txBody>
      </p:sp>
      <p:sp>
        <p:nvSpPr>
          <p:cNvPr id="28" name="TextBox 27"/>
          <p:cNvSpPr txBox="1"/>
          <p:nvPr/>
        </p:nvSpPr>
        <p:spPr>
          <a:xfrm>
            <a:off x="6675120" y="4507992"/>
            <a:ext cx="1005840" cy="201168"/>
          </a:xfrm>
          <a:prstGeom prst="rect">
            <a:avLst/>
          </a:prstGeom>
          <a:noFill/>
        </p:spPr>
        <p:txBody>
          <a:bodyPr wrap="square" lIns="0" tIns="0" rIns="0" bIns="0" anchor="t">
            <a:spAutoFit/>
          </a:bodyPr>
          <a:lstStyle/>
          <a:p>
            <a:pPr algn="l"/>
            <a:endParaRPr sz="1000" b="1" i="0">
              <a:solidFill>
                <a:srgbClr val="7878A0"/>
              </a:solidFill>
              <a:latin typeface="Consolas"/>
            </a:endParaRPr>
          </a:p>
        </p:txBody>
      </p:sp>
      <p:sp>
        <p:nvSpPr>
          <p:cNvPr id="29" name="Rounded Rectangle 28"/>
          <p:cNvSpPr/>
          <p:nvPr/>
        </p:nvSpPr>
        <p:spPr>
          <a:xfrm>
            <a:off x="7772400" y="4553712"/>
            <a:ext cx="2194560" cy="146304"/>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772400" y="4553712"/>
            <a:ext cx="2194560" cy="146304"/>
          </a:xfrm>
          <a:prstGeom prst="roundRect">
            <a:avLst>
              <a:gd name="adj" fmla="val 6000"/>
            </a:avLst>
          </a:prstGeom>
          <a:solidFill>
            <a:srgbClr val="787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0" y="4507992"/>
            <a:ext cx="1554480" cy="201168"/>
          </a:xfrm>
          <a:prstGeom prst="rect">
            <a:avLst/>
          </a:prstGeom>
          <a:noFill/>
        </p:spPr>
        <p:txBody>
          <a:bodyPr wrap="square" lIns="0" tIns="0" rIns="0" bIns="0" anchor="t">
            <a:spAutoFit/>
          </a:bodyPr>
          <a:lstStyle/>
          <a:p>
            <a:pPr algn="l"/>
            <a:r>
              <a:rPr sz="1000" b="1" i="0">
                <a:solidFill>
                  <a:srgbClr val="E8E8F0"/>
                </a:solidFill>
                <a:latin typeface="Consolas"/>
              </a:rPr>
              <a:t>≈ 2.74 × 10⁹</a:t>
            </a:r>
            <a:endParaRPr sz="1000" b="1" i="0">
              <a:solidFill>
                <a:srgbClr val="E8E8F0"/>
              </a:solidFill>
              <a:latin typeface="Consolas"/>
            </a:endParaRPr>
          </a:p>
        </p:txBody>
      </p:sp>
      <p:sp>
        <p:nvSpPr>
          <p:cNvPr id="32" name="TextBox 31"/>
          <p:cNvSpPr txBox="1"/>
          <p:nvPr/>
        </p:nvSpPr>
        <p:spPr>
          <a:xfrm>
            <a:off x="731520" y="4782312"/>
            <a:ext cx="2651760" cy="201168"/>
          </a:xfrm>
          <a:prstGeom prst="rect">
            <a:avLst/>
          </a:prstGeom>
          <a:noFill/>
        </p:spPr>
        <p:txBody>
          <a:bodyPr wrap="square" lIns="0" tIns="0" rIns="0" bIns="0" anchor="t">
            <a:spAutoFit/>
          </a:bodyPr>
          <a:lstStyle/>
          <a:p>
            <a:pPr algn="l"/>
            <a:r>
              <a:rPr sz="950" b="1" i="0">
                <a:solidFill>
                  <a:srgbClr val="FFA84A"/>
                </a:solidFill>
                <a:latin typeface="Consolas"/>
              </a:rPr>
              <a:t>× B1  ≥ 4 high  in K=8</a:t>
            </a:r>
            <a:endParaRPr sz="950" b="1" i="0">
              <a:solidFill>
                <a:srgbClr val="FFA84A"/>
              </a:solidFill>
              <a:latin typeface="Consolas"/>
            </a:endParaRPr>
          </a:p>
        </p:txBody>
      </p:sp>
      <p:sp>
        <p:nvSpPr>
          <p:cNvPr id="33" name="TextBox 32"/>
          <p:cNvSpPr txBox="1"/>
          <p:nvPr/>
        </p:nvSpPr>
        <p:spPr>
          <a:xfrm>
            <a:off x="3383280" y="4782312"/>
            <a:ext cx="3200400" cy="201168"/>
          </a:xfrm>
          <a:prstGeom prst="rect">
            <a:avLst/>
          </a:prstGeom>
          <a:noFill/>
        </p:spPr>
        <p:txBody>
          <a:bodyPr wrap="square" lIns="0" tIns="0" rIns="0" bIns="0" anchor="t">
            <a:spAutoFit/>
          </a:bodyPr>
          <a:lstStyle/>
          <a:p>
            <a:pPr algn="l"/>
            <a:r>
              <a:rPr sz="900" b="0" i="0">
                <a:solidFill>
                  <a:srgbClr val="7878A0"/>
                </a:solidFill>
                <a:latin typeface="Consolas"/>
              </a:rPr>
              <a:t>1 − F_hg(3; M=70, n=18, N=8)</a:t>
            </a:r>
            <a:endParaRPr sz="900" b="0" i="0">
              <a:solidFill>
                <a:srgbClr val="7878A0"/>
              </a:solidFill>
              <a:latin typeface="Consolas"/>
            </a:endParaRPr>
          </a:p>
        </p:txBody>
      </p:sp>
      <p:sp>
        <p:nvSpPr>
          <p:cNvPr id="34" name="TextBox 33"/>
          <p:cNvSpPr txBox="1"/>
          <p:nvPr/>
        </p:nvSpPr>
        <p:spPr>
          <a:xfrm>
            <a:off x="6675120" y="4782312"/>
            <a:ext cx="1005840" cy="201168"/>
          </a:xfrm>
          <a:prstGeom prst="rect">
            <a:avLst/>
          </a:prstGeom>
          <a:noFill/>
        </p:spPr>
        <p:txBody>
          <a:bodyPr wrap="square" lIns="0" tIns="0" rIns="0" bIns="0" anchor="t">
            <a:spAutoFit/>
          </a:bodyPr>
          <a:lstStyle/>
          <a:p>
            <a:pPr algn="l"/>
            <a:r>
              <a:rPr sz="1000" b="1" i="0">
                <a:solidFill>
                  <a:srgbClr val="FFA84A"/>
                </a:solidFill>
                <a:latin typeface="Consolas"/>
              </a:rPr>
              <a:t>= 0.111</a:t>
            </a:r>
            <a:endParaRPr sz="1000" b="1" i="0">
              <a:solidFill>
                <a:srgbClr val="FFA84A"/>
              </a:solidFill>
              <a:latin typeface="Consolas"/>
            </a:endParaRPr>
          </a:p>
        </p:txBody>
      </p:sp>
      <p:sp>
        <p:nvSpPr>
          <p:cNvPr id="35" name="Rounded Rectangle 34"/>
          <p:cNvSpPr/>
          <p:nvPr/>
        </p:nvSpPr>
        <p:spPr>
          <a:xfrm>
            <a:off x="7772400" y="4828032"/>
            <a:ext cx="2194560" cy="146304"/>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772400" y="4828032"/>
            <a:ext cx="1775540" cy="146304"/>
          </a:xfrm>
          <a:prstGeom prst="roundRect">
            <a:avLst>
              <a:gd name="adj" fmla="val 6000"/>
            </a:avLst>
          </a:prstGeom>
          <a:solidFill>
            <a:srgbClr val="FF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0" y="4782312"/>
            <a:ext cx="1554480" cy="201168"/>
          </a:xfrm>
          <a:prstGeom prst="rect">
            <a:avLst/>
          </a:prstGeom>
          <a:noFill/>
        </p:spPr>
        <p:txBody>
          <a:bodyPr wrap="square" lIns="0" tIns="0" rIns="0" bIns="0" anchor="t">
            <a:spAutoFit/>
          </a:bodyPr>
          <a:lstStyle/>
          <a:p>
            <a:pPr algn="l"/>
            <a:r>
              <a:rPr sz="1000" b="0" i="0">
                <a:solidFill>
                  <a:srgbClr val="E8E8F0"/>
                </a:solidFill>
                <a:latin typeface="Consolas"/>
              </a:rPr>
              <a:t>≈ 3.0 × 10⁸</a:t>
            </a:r>
            <a:endParaRPr sz="1000" b="0" i="0">
              <a:solidFill>
                <a:srgbClr val="E8E8F0"/>
              </a:solidFill>
              <a:latin typeface="Consolas"/>
            </a:endParaRPr>
          </a:p>
        </p:txBody>
      </p:sp>
      <p:sp>
        <p:nvSpPr>
          <p:cNvPr id="38" name="TextBox 37"/>
          <p:cNvSpPr txBox="1"/>
          <p:nvPr/>
        </p:nvSpPr>
        <p:spPr>
          <a:xfrm>
            <a:off x="731520" y="5056632"/>
            <a:ext cx="2651760" cy="201168"/>
          </a:xfrm>
          <a:prstGeom prst="rect">
            <a:avLst/>
          </a:prstGeom>
          <a:noFill/>
        </p:spPr>
        <p:txBody>
          <a:bodyPr wrap="square" lIns="0" tIns="0" rIns="0" bIns="0" anchor="t">
            <a:spAutoFit/>
          </a:bodyPr>
          <a:lstStyle/>
          <a:p>
            <a:pPr algn="l"/>
            <a:r>
              <a:rPr sz="950" b="1" i="0">
                <a:solidFill>
                  <a:srgbClr val="6CFFC8"/>
                </a:solidFill>
                <a:latin typeface="Consolas"/>
              </a:rPr>
              <a:t>× B2  ≥ 4 low   in K=8</a:t>
            </a:r>
            <a:endParaRPr sz="950" b="1" i="0">
              <a:solidFill>
                <a:srgbClr val="6CFFC8"/>
              </a:solidFill>
              <a:latin typeface="Consolas"/>
            </a:endParaRPr>
          </a:p>
        </p:txBody>
      </p:sp>
      <p:sp>
        <p:nvSpPr>
          <p:cNvPr id="39" name="TextBox 38"/>
          <p:cNvSpPr txBox="1"/>
          <p:nvPr/>
        </p:nvSpPr>
        <p:spPr>
          <a:xfrm>
            <a:off x="3383280" y="5056632"/>
            <a:ext cx="3200400" cy="201168"/>
          </a:xfrm>
          <a:prstGeom prst="rect">
            <a:avLst/>
          </a:prstGeom>
          <a:noFill/>
        </p:spPr>
        <p:txBody>
          <a:bodyPr wrap="square" lIns="0" tIns="0" rIns="0" bIns="0" anchor="t">
            <a:spAutoFit/>
          </a:bodyPr>
          <a:lstStyle/>
          <a:p>
            <a:pPr algn="l"/>
            <a:r>
              <a:rPr sz="900" b="0" i="0">
                <a:solidFill>
                  <a:srgbClr val="7878A0"/>
                </a:solidFill>
                <a:latin typeface="Consolas"/>
              </a:rPr>
              <a:t>1 − F_hg(3; M=70, n=23, N=8)</a:t>
            </a:r>
            <a:endParaRPr sz="900" b="0" i="0">
              <a:solidFill>
                <a:srgbClr val="7878A0"/>
              </a:solidFill>
              <a:latin typeface="Consolas"/>
            </a:endParaRPr>
          </a:p>
        </p:txBody>
      </p:sp>
      <p:sp>
        <p:nvSpPr>
          <p:cNvPr id="40" name="TextBox 39"/>
          <p:cNvSpPr txBox="1"/>
          <p:nvPr/>
        </p:nvSpPr>
        <p:spPr>
          <a:xfrm>
            <a:off x="6675120" y="5056632"/>
            <a:ext cx="1005840" cy="201168"/>
          </a:xfrm>
          <a:prstGeom prst="rect">
            <a:avLst/>
          </a:prstGeom>
          <a:noFill/>
        </p:spPr>
        <p:txBody>
          <a:bodyPr wrap="square" lIns="0" tIns="0" rIns="0" bIns="0" anchor="t">
            <a:spAutoFit/>
          </a:bodyPr>
          <a:lstStyle/>
          <a:p>
            <a:pPr algn="l"/>
            <a:r>
              <a:rPr sz="1000" b="1" i="0">
                <a:solidFill>
                  <a:srgbClr val="6CFFC8"/>
                </a:solidFill>
                <a:latin typeface="Consolas"/>
              </a:rPr>
              <a:t>= 0.238</a:t>
            </a:r>
            <a:endParaRPr sz="1000" b="1" i="0">
              <a:solidFill>
                <a:srgbClr val="6CFFC8"/>
              </a:solidFill>
              <a:latin typeface="Consolas"/>
            </a:endParaRPr>
          </a:p>
        </p:txBody>
      </p:sp>
      <p:sp>
        <p:nvSpPr>
          <p:cNvPr id="41" name="Rounded Rectangle 40"/>
          <p:cNvSpPr/>
          <p:nvPr/>
        </p:nvSpPr>
        <p:spPr>
          <a:xfrm>
            <a:off x="7772400" y="5102352"/>
            <a:ext cx="2194560" cy="146304"/>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7772400" y="5102352"/>
            <a:ext cx="1501783" cy="146304"/>
          </a:xfrm>
          <a:prstGeom prst="roundRect">
            <a:avLst>
              <a:gd name="adj" fmla="val 6000"/>
            </a:avLst>
          </a:prstGeom>
          <a:solidFill>
            <a:srgbClr val="6CF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0" y="5056632"/>
            <a:ext cx="1554480" cy="201168"/>
          </a:xfrm>
          <a:prstGeom prst="rect">
            <a:avLst/>
          </a:prstGeom>
          <a:noFill/>
        </p:spPr>
        <p:txBody>
          <a:bodyPr wrap="square" lIns="0" tIns="0" rIns="0" bIns="0" anchor="t">
            <a:spAutoFit/>
          </a:bodyPr>
          <a:lstStyle/>
          <a:p>
            <a:pPr algn="l"/>
            <a:r>
              <a:rPr sz="1000" b="0" i="0">
                <a:solidFill>
                  <a:srgbClr val="E8E8F0"/>
                </a:solidFill>
                <a:latin typeface="Consolas"/>
              </a:rPr>
              <a:t>≈ 7.2 × 10⁷</a:t>
            </a:r>
            <a:endParaRPr sz="1000" b="0" i="0">
              <a:solidFill>
                <a:srgbClr val="E8E8F0"/>
              </a:solidFill>
              <a:latin typeface="Consolas"/>
            </a:endParaRPr>
          </a:p>
        </p:txBody>
      </p:sp>
      <p:sp>
        <p:nvSpPr>
          <p:cNvPr id="44" name="TextBox 43"/>
          <p:cNvSpPr txBox="1"/>
          <p:nvPr/>
        </p:nvSpPr>
        <p:spPr>
          <a:xfrm>
            <a:off x="731520" y="5330952"/>
            <a:ext cx="2651760" cy="201168"/>
          </a:xfrm>
          <a:prstGeom prst="rect">
            <a:avLst/>
          </a:prstGeom>
          <a:noFill/>
        </p:spPr>
        <p:txBody>
          <a:bodyPr wrap="square" lIns="0" tIns="0" rIns="0" bIns="0" anchor="t">
            <a:spAutoFit/>
          </a:bodyPr>
          <a:lstStyle/>
          <a:p>
            <a:pPr algn="l"/>
            <a:r>
              <a:rPr sz="950" b="1" i="0">
                <a:solidFill>
                  <a:srgbClr val="6C8EFF"/>
                </a:solidFill>
                <a:latin typeface="Consolas"/>
              </a:rPr>
              <a:t>× B3  ≥ 1 park each day</a:t>
            </a:r>
            <a:endParaRPr sz="950" b="1" i="0">
              <a:solidFill>
                <a:srgbClr val="6C8EFF"/>
              </a:solidFill>
              <a:latin typeface="Consolas"/>
            </a:endParaRPr>
          </a:p>
        </p:txBody>
      </p:sp>
      <p:sp>
        <p:nvSpPr>
          <p:cNvPr id="45" name="TextBox 44"/>
          <p:cNvSpPr txBox="1"/>
          <p:nvPr/>
        </p:nvSpPr>
        <p:spPr>
          <a:xfrm>
            <a:off x="3383280" y="5330952"/>
            <a:ext cx="3200400" cy="201168"/>
          </a:xfrm>
          <a:prstGeom prst="rect">
            <a:avLst/>
          </a:prstGeom>
          <a:noFill/>
        </p:spPr>
        <p:txBody>
          <a:bodyPr wrap="square" lIns="0" tIns="0" rIns="0" bIns="0" anchor="t">
            <a:spAutoFit/>
          </a:bodyPr>
          <a:lstStyle/>
          <a:p>
            <a:pPr algn="l"/>
            <a:r>
              <a:rPr sz="900" b="0" i="0">
                <a:solidFill>
                  <a:srgbClr val="7878A0"/>
                </a:solidFill>
                <a:latin typeface="Consolas"/>
              </a:rPr>
              <a:t>[1 − pmf(0; 35, 8, 2)] ²  per_day</a:t>
            </a:r>
            <a:endParaRPr sz="900" b="0" i="0">
              <a:solidFill>
                <a:srgbClr val="7878A0"/>
              </a:solidFill>
              <a:latin typeface="Consolas"/>
            </a:endParaRPr>
          </a:p>
        </p:txBody>
      </p:sp>
      <p:sp>
        <p:nvSpPr>
          <p:cNvPr id="46" name="TextBox 45"/>
          <p:cNvSpPr txBox="1"/>
          <p:nvPr/>
        </p:nvSpPr>
        <p:spPr>
          <a:xfrm>
            <a:off x="6675120" y="5330952"/>
            <a:ext cx="1005840" cy="201168"/>
          </a:xfrm>
          <a:prstGeom prst="rect">
            <a:avLst/>
          </a:prstGeom>
          <a:noFill/>
        </p:spPr>
        <p:txBody>
          <a:bodyPr wrap="square" lIns="0" tIns="0" rIns="0" bIns="0" anchor="t">
            <a:spAutoFit/>
          </a:bodyPr>
          <a:lstStyle/>
          <a:p>
            <a:pPr algn="l"/>
            <a:r>
              <a:rPr sz="1000" b="1" i="0">
                <a:solidFill>
                  <a:srgbClr val="6C8EFF"/>
                </a:solidFill>
                <a:latin typeface="Consolas"/>
              </a:rPr>
              <a:t>= 0.168</a:t>
            </a:r>
            <a:endParaRPr sz="1000" b="1" i="0">
              <a:solidFill>
                <a:srgbClr val="6C8EFF"/>
              </a:solidFill>
              <a:latin typeface="Consolas"/>
            </a:endParaRPr>
          </a:p>
        </p:txBody>
      </p:sp>
      <p:sp>
        <p:nvSpPr>
          <p:cNvPr id="47" name="Rounded Rectangle 46"/>
          <p:cNvSpPr/>
          <p:nvPr/>
        </p:nvSpPr>
        <p:spPr>
          <a:xfrm>
            <a:off x="7772400" y="5376672"/>
            <a:ext cx="2194560" cy="146304"/>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772400" y="5376672"/>
            <a:ext cx="1161968" cy="146304"/>
          </a:xfrm>
          <a:prstGeom prst="roundRect">
            <a:avLst>
              <a:gd name="adj" fmla="val 6000"/>
            </a:avLst>
          </a:prstGeom>
          <a:solidFill>
            <a:srgbClr val="6C8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0" y="5330952"/>
            <a:ext cx="1554480" cy="201168"/>
          </a:xfrm>
          <a:prstGeom prst="rect">
            <a:avLst/>
          </a:prstGeom>
          <a:noFill/>
        </p:spPr>
        <p:txBody>
          <a:bodyPr wrap="square" lIns="0" tIns="0" rIns="0" bIns="0" anchor="t">
            <a:spAutoFit/>
          </a:bodyPr>
          <a:lstStyle/>
          <a:p>
            <a:pPr algn="l"/>
            <a:r>
              <a:rPr sz="1000" b="0" i="0">
                <a:solidFill>
                  <a:srgbClr val="E8E8F0"/>
                </a:solidFill>
                <a:latin typeface="Consolas"/>
              </a:rPr>
              <a:t>≈ 1.2 × 10⁷</a:t>
            </a:r>
            <a:endParaRPr sz="1000" b="0" i="0">
              <a:solidFill>
                <a:srgbClr val="E8E8F0"/>
              </a:solidFill>
              <a:latin typeface="Consolas"/>
            </a:endParaRPr>
          </a:p>
        </p:txBody>
      </p:sp>
      <p:sp>
        <p:nvSpPr>
          <p:cNvPr id="50" name="TextBox 49"/>
          <p:cNvSpPr txBox="1"/>
          <p:nvPr/>
        </p:nvSpPr>
        <p:spPr>
          <a:xfrm>
            <a:off x="731520" y="5605272"/>
            <a:ext cx="2651760" cy="201168"/>
          </a:xfrm>
          <a:prstGeom prst="rect">
            <a:avLst/>
          </a:prstGeom>
          <a:noFill/>
        </p:spPr>
        <p:txBody>
          <a:bodyPr wrap="square" lIns="0" tIns="0" rIns="0" bIns="0" anchor="t">
            <a:spAutoFit/>
          </a:bodyPr>
          <a:lstStyle/>
          <a:p>
            <a:pPr algn="l"/>
            <a:r>
              <a:rPr sz="950" b="1" i="0">
                <a:solidFill>
                  <a:srgbClr val="C87EFF"/>
                </a:solidFill>
                <a:latin typeface="Consolas"/>
              </a:rPr>
              <a:t>× B4  3 distinct cuisines</a:t>
            </a:r>
            <a:endParaRPr sz="950" b="1" i="0">
              <a:solidFill>
                <a:srgbClr val="C87EFF"/>
              </a:solidFill>
              <a:latin typeface="Consolas"/>
            </a:endParaRPr>
          </a:p>
        </p:txBody>
      </p:sp>
      <p:sp>
        <p:nvSpPr>
          <p:cNvPr id="51" name="TextBox 50"/>
          <p:cNvSpPr txBox="1"/>
          <p:nvPr/>
        </p:nvSpPr>
        <p:spPr>
          <a:xfrm>
            <a:off x="3383280" y="5605272"/>
            <a:ext cx="3200400" cy="201168"/>
          </a:xfrm>
          <a:prstGeom prst="rect">
            <a:avLst/>
          </a:prstGeom>
          <a:noFill/>
        </p:spPr>
        <p:txBody>
          <a:bodyPr wrap="square" lIns="0" tIns="0" rIns="0" bIns="0" anchor="t">
            <a:spAutoFit/>
          </a:bodyPr>
          <a:lstStyle/>
          <a:p>
            <a:pPr algn="l"/>
            <a:r>
              <a:rPr sz="900" b="0" i="0">
                <a:solidFill>
                  <a:srgbClr val="7878A0"/>
                </a:solidFill>
                <a:latin typeface="Consolas"/>
              </a:rPr>
              <a:t>P_coupon · P(≥3 mid-meals in K=4)</a:t>
            </a:r>
            <a:endParaRPr sz="900" b="0" i="0">
              <a:solidFill>
                <a:srgbClr val="7878A0"/>
              </a:solidFill>
              <a:latin typeface="Consolas"/>
            </a:endParaRPr>
          </a:p>
        </p:txBody>
      </p:sp>
      <p:sp>
        <p:nvSpPr>
          <p:cNvPr id="52" name="TextBox 51"/>
          <p:cNvSpPr txBox="1"/>
          <p:nvPr/>
        </p:nvSpPr>
        <p:spPr>
          <a:xfrm>
            <a:off x="6675120" y="5605272"/>
            <a:ext cx="1005840" cy="201168"/>
          </a:xfrm>
          <a:prstGeom prst="rect">
            <a:avLst/>
          </a:prstGeom>
          <a:noFill/>
        </p:spPr>
        <p:txBody>
          <a:bodyPr wrap="square" lIns="0" tIns="0" rIns="0" bIns="0" anchor="t">
            <a:spAutoFit/>
          </a:bodyPr>
          <a:lstStyle/>
          <a:p>
            <a:pPr algn="l"/>
            <a:r>
              <a:rPr sz="1000" b="1" i="0">
                <a:solidFill>
                  <a:srgbClr val="C87EFF"/>
                </a:solidFill>
                <a:latin typeface="Consolas"/>
              </a:rPr>
              <a:t>= 0.020</a:t>
            </a:r>
            <a:endParaRPr sz="1000" b="1" i="0">
              <a:solidFill>
                <a:srgbClr val="C87EFF"/>
              </a:solidFill>
              <a:latin typeface="Consolas"/>
            </a:endParaRPr>
          </a:p>
        </p:txBody>
      </p:sp>
      <p:sp>
        <p:nvSpPr>
          <p:cNvPr id="53" name="Rounded Rectangle 52"/>
          <p:cNvSpPr/>
          <p:nvPr/>
        </p:nvSpPr>
        <p:spPr>
          <a:xfrm>
            <a:off x="7772400" y="5650992"/>
            <a:ext cx="2194560" cy="146304"/>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7772400" y="5650992"/>
            <a:ext cx="412585" cy="146304"/>
          </a:xfrm>
          <a:prstGeom prst="roundRect">
            <a:avLst>
              <a:gd name="adj" fmla="val 6000"/>
            </a:avLst>
          </a:prstGeom>
          <a:solidFill>
            <a:srgbClr val="C8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058400" y="5605272"/>
            <a:ext cx="1554480" cy="201168"/>
          </a:xfrm>
          <a:prstGeom prst="rect">
            <a:avLst/>
          </a:prstGeom>
          <a:noFill/>
        </p:spPr>
        <p:txBody>
          <a:bodyPr wrap="square" lIns="0" tIns="0" rIns="0" bIns="0" anchor="t">
            <a:spAutoFit/>
          </a:bodyPr>
          <a:lstStyle/>
          <a:p>
            <a:pPr algn="l"/>
            <a:r>
              <a:rPr sz="1000" b="1" i="0">
                <a:solidFill>
                  <a:srgbClr val="E8E8F0"/>
                </a:solidFill>
                <a:latin typeface="Consolas"/>
              </a:rPr>
              <a:t>≈ 2.4 × 10⁵</a:t>
            </a:r>
            <a:endParaRPr sz="1000" b="1" i="0">
              <a:solidFill>
                <a:srgbClr val="E8E8F0"/>
              </a:solidFill>
              <a:latin typeface="Consolas"/>
            </a:endParaRPr>
          </a:p>
        </p:txBody>
      </p:sp>
      <p:sp>
        <p:nvSpPr>
          <p:cNvPr id="56" name="TextBox 55"/>
          <p:cNvSpPr txBox="1"/>
          <p:nvPr/>
        </p:nvSpPr>
        <p:spPr>
          <a:xfrm>
            <a:off x="731520" y="5788152"/>
            <a:ext cx="10698480" cy="164592"/>
          </a:xfrm>
          <a:prstGeom prst="rect">
            <a:avLst/>
          </a:prstGeom>
          <a:noFill/>
        </p:spPr>
        <p:txBody>
          <a:bodyPr wrap="square" lIns="0" tIns="0" rIns="0" bIns="0" anchor="t">
            <a:spAutoFit/>
          </a:bodyPr>
          <a:lstStyle/>
          <a:p>
            <a:pPr algn="l"/>
            <a:r>
              <a:rPr sz="850" b="0" i="1">
                <a:solidFill>
                  <a:srgbClr val="7878A0"/>
                </a:solidFill>
                <a:latin typeface="Consolas"/>
              </a:rPr>
              <a:t>F_hg = hypergeometric CDF.  Independence-product is an upper bound — correlated constraints narrow more.</a:t>
            </a:r>
            <a:endParaRPr sz="850" b="0" i="1">
              <a:solidFill>
                <a:srgbClr val="7878A0"/>
              </a:solidFill>
              <a:latin typeface="Consolas"/>
            </a:endParaRPr>
          </a:p>
        </p:txBody>
      </p:sp>
      <p:sp>
        <p:nvSpPr>
          <p:cNvPr id="57" name="Rounded Rectangle 56"/>
          <p:cNvSpPr/>
          <p:nvPr/>
        </p:nvSpPr>
        <p:spPr>
          <a:xfrm>
            <a:off x="548640" y="6080760"/>
            <a:ext cx="11064240" cy="594360"/>
          </a:xfrm>
          <a:prstGeom prst="roundRect">
            <a:avLst>
              <a:gd name="adj" fmla="val 6000"/>
            </a:avLst>
          </a:prstGeom>
          <a:solidFill>
            <a:srgbClr val="2A2112"/>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1520" y="6153912"/>
            <a:ext cx="10698480" cy="228600"/>
          </a:xfrm>
          <a:prstGeom prst="rect">
            <a:avLst/>
          </a:prstGeom>
          <a:noFill/>
        </p:spPr>
        <p:txBody>
          <a:bodyPr wrap="square" lIns="0" tIns="0" rIns="0" bIns="0" anchor="t">
            <a:spAutoFit/>
          </a:bodyPr>
          <a:lstStyle/>
          <a:p>
            <a:pPr algn="l"/>
            <a:r>
              <a:rPr sz="1000" b="1" i="0">
                <a:solidFill>
                  <a:srgbClr val="FFA84A"/>
                </a:solidFill>
                <a:latin typeface="Consolas"/>
              </a:rPr>
              <a:t>B × B CHECK  ·  combined narrowing</a:t>
            </a:r>
            <a:endParaRPr sz="1000" b="1" i="0">
              <a:solidFill>
                <a:srgbClr val="FFA84A"/>
              </a:solidFill>
              <a:latin typeface="Consolas"/>
            </a:endParaRPr>
          </a:p>
        </p:txBody>
      </p:sp>
      <p:sp>
        <p:nvSpPr>
          <p:cNvPr id="59" name="TextBox 58"/>
          <p:cNvSpPr txBox="1"/>
          <p:nvPr/>
        </p:nvSpPr>
        <p:spPr>
          <a:xfrm>
            <a:off x="731520" y="6382512"/>
            <a:ext cx="10698480" cy="256032"/>
          </a:xfrm>
          <a:prstGeom prst="rect">
            <a:avLst/>
          </a:prstGeom>
          <a:noFill/>
        </p:spPr>
        <p:txBody>
          <a:bodyPr wrap="square" lIns="0" tIns="0" rIns="0" bIns="0" anchor="t">
            <a:spAutoFit/>
          </a:bodyPr>
          <a:lstStyle/>
          <a:p>
            <a:pPr algn="l"/>
            <a:r>
              <a:rPr sz="1200" b="1" i="0">
                <a:solidFill>
                  <a:srgbClr val="FFA84A"/>
                </a:solidFill>
                <a:latin typeface="Consolas"/>
              </a:rPr>
              <a:t>f_joint ≈ 8.7 × 10⁻⁵   </a:t>
            </a:r>
            <a:r>
              <a:rPr sz="1100" b="0" i="0">
                <a:solidFill>
                  <a:srgbClr val="7878A0"/>
                </a:solidFill>
                <a:latin typeface="Consolas"/>
              </a:rPr>
              <a:t>→  ≈ 2.4 × 10⁵ valid plans   (above the 2,000-plan lower bar).  </a:t>
            </a:r>
            <a:r>
              <a:rPr sz="1100" b="1" i="0">
                <a:solidFill>
                  <a:srgbClr val="E8E8F0"/>
                </a:solidFill>
                <a:latin typeface="Consolas"/>
              </a:rPr>
              <a:t>4 orders of magnitude narrower than baseline — tight but solvable.</a:t>
            </a:r>
            <a:endParaRPr sz="1100" b="1" i="0">
              <a:solidFill>
                <a:srgbClr val="E8E8F0"/>
              </a:solidFill>
              <a:latin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07  —  MODEL EVALUATION</a:t>
            </a:r>
            <a:endParaRPr sz="1000" b="0" i="0">
              <a:solidFill>
                <a:srgbClr val="6C8EFF"/>
              </a:solidFill>
              <a:latin typeface="Consolas"/>
            </a:endParaRPr>
          </a:p>
        </p:txBody>
      </p:sp>
      <p:sp>
        <p:nvSpPr>
          <p:cNvPr id="3" name="TextBox 2"/>
          <p:cNvSpPr txBox="1"/>
          <p:nvPr/>
        </p:nvSpPr>
        <p:spPr>
          <a:xfrm>
            <a:off x="548640" y="685800"/>
            <a:ext cx="10972800" cy="822960"/>
          </a:xfrm>
          <a:prstGeom prst="rect">
            <a:avLst/>
          </a:prstGeom>
          <a:noFill/>
        </p:spPr>
        <p:txBody>
          <a:bodyPr wrap="square" lIns="0" tIns="0" rIns="0" bIns="0" anchor="t">
            <a:spAutoFit/>
          </a:bodyPr>
          <a:lstStyle/>
          <a:p>
            <a:pPr algn="l"/>
            <a:r>
              <a:rPr sz="3000" b="0" i="0">
                <a:solidFill>
                  <a:srgbClr val="E8E8F0"/>
                </a:solidFill>
                <a:latin typeface="Georgia" panose="02040502050405090303"/>
              </a:rPr>
              <a:t>Model Evaluation</a:t>
            </a:r>
            <a:endParaRPr sz="3000" b="0" i="0">
              <a:solidFill>
                <a:srgbClr val="E8E8F0"/>
              </a:solidFill>
              <a:latin typeface="Georgia" panose="02040502050405090303"/>
            </a:endParaRPr>
          </a:p>
        </p:txBody>
      </p:sp>
      <p:sp>
        <p:nvSpPr>
          <p:cNvPr id="4" name="TextBox 3"/>
          <p:cNvSpPr txBox="1"/>
          <p:nvPr/>
        </p:nvSpPr>
        <p:spPr>
          <a:xfrm>
            <a:off x="548640" y="1234440"/>
            <a:ext cx="10972800" cy="457200"/>
          </a:xfrm>
          <a:prstGeom prst="rect">
            <a:avLst/>
          </a:prstGeom>
          <a:noFill/>
        </p:spPr>
        <p:txBody>
          <a:bodyPr wrap="square" lIns="0" tIns="0" rIns="0" bIns="0" anchor="t">
            <a:spAutoFit/>
          </a:bodyPr>
          <a:lstStyle/>
          <a:p>
            <a:pPr algn="l"/>
            <a:r>
              <a:rPr sz="1600" b="1" i="0">
                <a:solidFill>
                  <a:srgbClr val="E8E8F0"/>
                </a:solidFill>
                <a:latin typeface="Calibri"/>
              </a:rPr>
              <a:t>Three-Score Evaluation System</a:t>
            </a:r>
            <a:endParaRPr sz="1600" b="1" i="0">
              <a:solidFill>
                <a:srgbClr val="E8E8F0"/>
              </a:solidFill>
              <a:latin typeface="Calibri"/>
            </a:endParaRPr>
          </a:p>
        </p:txBody>
      </p:sp>
      <p:sp>
        <p:nvSpPr>
          <p:cNvPr id="5" name="TextBox 4"/>
          <p:cNvSpPr txBox="1"/>
          <p:nvPr/>
        </p:nvSpPr>
        <p:spPr>
          <a:xfrm>
            <a:off x="548640" y="1691640"/>
            <a:ext cx="11064240" cy="548640"/>
          </a:xfrm>
          <a:prstGeom prst="rect">
            <a:avLst/>
          </a:prstGeom>
          <a:noFill/>
        </p:spPr>
        <p:txBody>
          <a:bodyPr wrap="square" lIns="0" tIns="0" rIns="0" bIns="0" anchor="t">
            <a:spAutoFit/>
          </a:bodyPr>
          <a:lstStyle/>
          <a:p>
            <a:pPr algn="l"/>
            <a:r>
              <a:rPr sz="1200" b="0" i="0">
                <a:solidFill>
                  <a:srgbClr val="7878A0"/>
                </a:solidFill>
                <a:latin typeface="Calibri"/>
              </a:rPr>
              <a:t>Each tier gates the next. F and P scores only apply if C passes. The three tiers together characterise plan quality: process, feasibility, and preference satisfaction.</a:t>
            </a:r>
            <a:endParaRPr sz="1200" b="0" i="0">
              <a:solidFill>
                <a:srgbClr val="7878A0"/>
              </a:solidFill>
              <a:latin typeface="Calibri"/>
            </a:endParaRPr>
          </a:p>
        </p:txBody>
      </p:sp>
      <p:sp>
        <p:nvSpPr>
          <p:cNvPr id="6" name="Rounded Rectangle 5"/>
          <p:cNvSpPr/>
          <p:nvPr/>
        </p:nvSpPr>
        <p:spPr>
          <a:xfrm>
            <a:off x="548640" y="2331720"/>
            <a:ext cx="3703320" cy="443484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41448"/>
            <a:ext cx="1828800" cy="685800"/>
          </a:xfrm>
          <a:prstGeom prst="rect">
            <a:avLst/>
          </a:prstGeom>
          <a:noFill/>
        </p:spPr>
        <p:txBody>
          <a:bodyPr wrap="square" lIns="0" tIns="0" rIns="0" bIns="0" anchor="t">
            <a:spAutoFit/>
          </a:bodyPr>
          <a:lstStyle/>
          <a:p>
            <a:pPr algn="l"/>
            <a:r>
              <a:rPr sz="4400" b="0" i="0">
                <a:solidFill>
                  <a:srgbClr val="6C8EFF"/>
                </a:solidFill>
                <a:latin typeface="Georgia" panose="02040502050405090303"/>
              </a:rPr>
              <a:t>C</a:t>
            </a:r>
            <a:endParaRPr sz="4400" b="0" i="0">
              <a:solidFill>
                <a:srgbClr val="6C8EFF"/>
              </a:solidFill>
              <a:latin typeface="Georgia" panose="02040502050405090303"/>
            </a:endParaRPr>
          </a:p>
        </p:txBody>
      </p:sp>
      <p:sp>
        <p:nvSpPr>
          <p:cNvPr id="8" name="TextBox 7"/>
          <p:cNvSpPr txBox="1"/>
          <p:nvPr/>
        </p:nvSpPr>
        <p:spPr>
          <a:xfrm>
            <a:off x="731520" y="3154680"/>
            <a:ext cx="3337560" cy="274320"/>
          </a:xfrm>
          <a:prstGeom prst="rect">
            <a:avLst/>
          </a:prstGeom>
          <a:noFill/>
        </p:spPr>
        <p:txBody>
          <a:bodyPr wrap="square" lIns="0" tIns="0" rIns="0" bIns="0" anchor="t">
            <a:spAutoFit/>
          </a:bodyPr>
          <a:lstStyle/>
          <a:p>
            <a:pPr algn="l"/>
            <a:r>
              <a:rPr sz="1100" b="1" i="0">
                <a:solidFill>
                  <a:srgbClr val="E8E8F0"/>
                </a:solidFill>
                <a:latin typeface="Calibri"/>
              </a:rPr>
              <a:t>PROCESS SCORE</a:t>
            </a:r>
            <a:endParaRPr sz="1100" b="1" i="0">
              <a:solidFill>
                <a:srgbClr val="E8E8F0"/>
              </a:solidFill>
              <a:latin typeface="Calibri"/>
            </a:endParaRPr>
          </a:p>
        </p:txBody>
      </p:sp>
      <p:sp>
        <p:nvSpPr>
          <p:cNvPr id="9" name="TextBox 8"/>
          <p:cNvSpPr txBox="1"/>
          <p:nvPr/>
        </p:nvSpPr>
        <p:spPr>
          <a:xfrm>
            <a:off x="731520" y="3447288"/>
            <a:ext cx="3337560" cy="685800"/>
          </a:xfrm>
          <a:prstGeom prst="rect">
            <a:avLst/>
          </a:prstGeom>
          <a:noFill/>
        </p:spPr>
        <p:txBody>
          <a:bodyPr wrap="square" lIns="0" tIns="0" rIns="0" bIns="0" anchor="t">
            <a:spAutoFit/>
          </a:bodyPr>
          <a:lstStyle/>
          <a:p>
            <a:pPr algn="l"/>
            <a:r>
              <a:rPr sz="1000" b="0" i="0">
                <a:solidFill>
                  <a:srgbClr val="7878A0"/>
                </a:solidFill>
                <a:latin typeface="Calibri"/>
              </a:rPr>
              <a:t>AST validation of every tool call + plan-format check. Per-call / per-field issues are −0.04 each. Two binary hard gates only.</a:t>
            </a:r>
            <a:endParaRPr sz="1000" b="0" i="0">
              <a:solidFill>
                <a:srgbClr val="7878A0"/>
              </a:solidFill>
              <a:latin typeface="Calibri"/>
            </a:endParaRPr>
          </a:p>
        </p:txBody>
      </p:sp>
      <p:sp>
        <p:nvSpPr>
          <p:cNvPr id="10" name="TextBox 9"/>
          <p:cNvSpPr txBox="1"/>
          <p:nvPr/>
        </p:nvSpPr>
        <p:spPr>
          <a:xfrm>
            <a:off x="731520" y="4206239"/>
            <a:ext cx="3337560" cy="201168"/>
          </a:xfrm>
          <a:prstGeom prst="rect">
            <a:avLst/>
          </a:prstGeom>
          <a:noFill/>
        </p:spPr>
        <p:txBody>
          <a:bodyPr wrap="square" lIns="0" tIns="0" rIns="0" bIns="0" anchor="t">
            <a:spAutoFit/>
          </a:bodyPr>
          <a:lstStyle/>
          <a:p>
            <a:pPr algn="l"/>
            <a:r>
              <a:rPr sz="850" b="0" i="0">
                <a:solidFill>
                  <a:srgbClr val="7878A0"/>
                </a:solidFill>
                <a:latin typeface="Consolas"/>
              </a:rPr>
              <a:t>WHAT WE CHECK</a:t>
            </a:r>
            <a:endParaRPr sz="850" b="0" i="0">
              <a:solidFill>
                <a:srgbClr val="7878A0"/>
              </a:solidFill>
              <a:latin typeface="Consolas"/>
            </a:endParaRPr>
          </a:p>
        </p:txBody>
      </p:sp>
      <p:sp>
        <p:nvSpPr>
          <p:cNvPr id="11" name="TextBox 10"/>
          <p:cNvSpPr txBox="1"/>
          <p:nvPr/>
        </p:nvSpPr>
        <p:spPr>
          <a:xfrm>
            <a:off x="731520" y="4434839"/>
            <a:ext cx="3337560" cy="182880"/>
          </a:xfrm>
          <a:prstGeom prst="rect">
            <a:avLst/>
          </a:prstGeom>
          <a:noFill/>
        </p:spPr>
        <p:txBody>
          <a:bodyPr wrap="square" lIns="0" tIns="0" rIns="0" bIns="0" anchor="t">
            <a:spAutoFit/>
          </a:bodyPr>
          <a:lstStyle/>
          <a:p>
            <a:pPr algn="l"/>
            <a:r>
              <a:rPr sz="950" b="1" i="0">
                <a:solidFill>
                  <a:srgbClr val="6C8EFF"/>
                </a:solidFill>
                <a:latin typeface="Consolas"/>
              </a:rPr>
              <a:t>·  HARD GATE 1</a:t>
            </a:r>
            <a:endParaRPr sz="950" b="1" i="0">
              <a:solidFill>
                <a:srgbClr val="6C8EFF"/>
              </a:solidFill>
              <a:latin typeface="Consolas"/>
            </a:endParaRPr>
          </a:p>
        </p:txBody>
      </p:sp>
      <p:sp>
        <p:nvSpPr>
          <p:cNvPr id="12" name="TextBox 11"/>
          <p:cNvSpPr txBox="1"/>
          <p:nvPr/>
        </p:nvSpPr>
        <p:spPr>
          <a:xfrm>
            <a:off x="731520" y="4608575"/>
            <a:ext cx="3337560" cy="246888"/>
          </a:xfrm>
          <a:prstGeom prst="rect">
            <a:avLst/>
          </a:prstGeom>
          <a:noFill/>
        </p:spPr>
        <p:txBody>
          <a:bodyPr wrap="square" lIns="0" tIns="0" rIns="0" bIns="0" anchor="t">
            <a:spAutoFit/>
          </a:bodyPr>
          <a:lstStyle/>
          <a:p>
            <a:pPr algn="l"/>
            <a:r>
              <a:rPr sz="850" b="0" i="0">
                <a:solidFill>
                  <a:srgbClr val="7878A0"/>
                </a:solidFill>
                <a:latin typeface="Calibri"/>
              </a:rPr>
              <a:t>Zero tool calls</a:t>
            </a:r>
            <a:endParaRPr sz="850" b="0" i="0">
              <a:solidFill>
                <a:srgbClr val="7878A0"/>
              </a:solidFill>
              <a:latin typeface="Calibri"/>
            </a:endParaRPr>
          </a:p>
        </p:txBody>
      </p:sp>
      <p:sp>
        <p:nvSpPr>
          <p:cNvPr id="13" name="TextBox 12"/>
          <p:cNvSpPr txBox="1"/>
          <p:nvPr/>
        </p:nvSpPr>
        <p:spPr>
          <a:xfrm>
            <a:off x="731520" y="4809743"/>
            <a:ext cx="3337560" cy="182880"/>
          </a:xfrm>
          <a:prstGeom prst="rect">
            <a:avLst/>
          </a:prstGeom>
          <a:noFill/>
        </p:spPr>
        <p:txBody>
          <a:bodyPr wrap="square" lIns="0" tIns="0" rIns="0" bIns="0" anchor="t">
            <a:spAutoFit/>
          </a:bodyPr>
          <a:lstStyle/>
          <a:p>
            <a:pPr algn="l"/>
            <a:r>
              <a:rPr sz="950" b="1" i="0">
                <a:solidFill>
                  <a:srgbClr val="6C8EFF"/>
                </a:solidFill>
                <a:latin typeface="Consolas"/>
              </a:rPr>
              <a:t>·  HARD GATE 2</a:t>
            </a:r>
            <a:endParaRPr sz="950" b="1" i="0">
              <a:solidFill>
                <a:srgbClr val="6C8EFF"/>
              </a:solidFill>
              <a:latin typeface="Consolas"/>
            </a:endParaRPr>
          </a:p>
        </p:txBody>
      </p:sp>
      <p:sp>
        <p:nvSpPr>
          <p:cNvPr id="14" name="TextBox 13"/>
          <p:cNvSpPr txBox="1"/>
          <p:nvPr/>
        </p:nvSpPr>
        <p:spPr>
          <a:xfrm>
            <a:off x="731520" y="4983479"/>
            <a:ext cx="3337560" cy="246888"/>
          </a:xfrm>
          <a:prstGeom prst="rect">
            <a:avLst/>
          </a:prstGeom>
          <a:noFill/>
        </p:spPr>
        <p:txBody>
          <a:bodyPr wrap="square" lIns="0" tIns="0" rIns="0" bIns="0" anchor="t">
            <a:spAutoFit/>
          </a:bodyPr>
          <a:lstStyle/>
          <a:p>
            <a:pPr algn="l"/>
            <a:r>
              <a:rPr sz="850" b="0" i="0">
                <a:solidFill>
                  <a:srgbClr val="7878A0"/>
                </a:solidFill>
                <a:latin typeface="Calibri"/>
              </a:rPr>
              <a:t>No &lt;final_plan&gt; tag (or JSON parse failed)</a:t>
            </a:r>
            <a:endParaRPr sz="850" b="0" i="0">
              <a:solidFill>
                <a:srgbClr val="7878A0"/>
              </a:solidFill>
              <a:latin typeface="Calibri"/>
            </a:endParaRPr>
          </a:p>
        </p:txBody>
      </p:sp>
      <p:sp>
        <p:nvSpPr>
          <p:cNvPr id="15" name="TextBox 14"/>
          <p:cNvSpPr txBox="1"/>
          <p:nvPr/>
        </p:nvSpPr>
        <p:spPr>
          <a:xfrm>
            <a:off x="731520" y="5184647"/>
            <a:ext cx="3337560" cy="182880"/>
          </a:xfrm>
          <a:prstGeom prst="rect">
            <a:avLst/>
          </a:prstGeom>
          <a:noFill/>
        </p:spPr>
        <p:txBody>
          <a:bodyPr wrap="square" lIns="0" tIns="0" rIns="0" bIns="0" anchor="t">
            <a:spAutoFit/>
          </a:bodyPr>
          <a:lstStyle/>
          <a:p>
            <a:pPr algn="l"/>
            <a:r>
              <a:rPr sz="950" b="1" i="0">
                <a:solidFill>
                  <a:srgbClr val="6C8EFF"/>
                </a:solidFill>
                <a:latin typeface="Consolas"/>
              </a:rPr>
              <a:t>·  Deductions  −0.04 each</a:t>
            </a:r>
            <a:endParaRPr sz="950" b="1" i="0">
              <a:solidFill>
                <a:srgbClr val="6C8EFF"/>
              </a:solidFill>
              <a:latin typeface="Consolas"/>
            </a:endParaRPr>
          </a:p>
        </p:txBody>
      </p:sp>
      <p:sp>
        <p:nvSpPr>
          <p:cNvPr id="16" name="TextBox 15"/>
          <p:cNvSpPr txBox="1"/>
          <p:nvPr/>
        </p:nvSpPr>
        <p:spPr>
          <a:xfrm>
            <a:off x="731520" y="5358383"/>
            <a:ext cx="3337560" cy="246888"/>
          </a:xfrm>
          <a:prstGeom prst="rect">
            <a:avLst/>
          </a:prstGeom>
          <a:noFill/>
        </p:spPr>
        <p:txBody>
          <a:bodyPr wrap="square" lIns="0" tIns="0" rIns="0" bIns="0" anchor="t">
            <a:spAutoFit/>
          </a:bodyPr>
          <a:lstStyle/>
          <a:p>
            <a:pPr algn="l"/>
            <a:r>
              <a:rPr sz="850" b="0" i="0">
                <a:solidFill>
                  <a:srgbClr val="7878A0"/>
                </a:solidFill>
                <a:latin typeface="Calibri"/>
              </a:rPr>
              <a:t>unknown tool · missing params · wrong type · venue_id not in prior results · plan fields missing / malformed times · …</a:t>
            </a:r>
            <a:endParaRPr sz="850" b="0" i="0">
              <a:solidFill>
                <a:srgbClr val="7878A0"/>
              </a:solidFill>
              <a:latin typeface="Calibri"/>
            </a:endParaRPr>
          </a:p>
        </p:txBody>
      </p:sp>
      <p:sp>
        <p:nvSpPr>
          <p:cNvPr id="17" name="Rounded Rectangle 16"/>
          <p:cNvSpPr/>
          <p:nvPr/>
        </p:nvSpPr>
        <p:spPr>
          <a:xfrm>
            <a:off x="731520" y="6309360"/>
            <a:ext cx="3337560" cy="3657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373368"/>
            <a:ext cx="3246120" cy="292608"/>
          </a:xfrm>
          <a:prstGeom prst="rect">
            <a:avLst/>
          </a:prstGeom>
          <a:noFill/>
        </p:spPr>
        <p:txBody>
          <a:bodyPr wrap="square" lIns="0" tIns="0" rIns="0" bIns="0" anchor="t">
            <a:spAutoFit/>
          </a:bodyPr>
          <a:lstStyle/>
          <a:p>
            <a:pPr algn="ctr"/>
            <a:r>
              <a:rPr sz="850" b="1" i="0">
                <a:solidFill>
                  <a:srgbClr val="6C8EFF"/>
                </a:solidFill>
                <a:latin typeface="Consolas"/>
              </a:rPr>
              <a:t>Only the 2 gates skip F / P.  Otherwise: max(0, 1 − Σ deductions).</a:t>
            </a:r>
            <a:endParaRPr sz="850" b="1" i="0">
              <a:solidFill>
                <a:srgbClr val="6C8EFF"/>
              </a:solidFill>
              <a:latin typeface="Consolas"/>
            </a:endParaRPr>
          </a:p>
        </p:txBody>
      </p:sp>
      <p:sp>
        <p:nvSpPr>
          <p:cNvPr id="19" name="Rounded Rectangle 18"/>
          <p:cNvSpPr/>
          <p:nvPr/>
        </p:nvSpPr>
        <p:spPr>
          <a:xfrm>
            <a:off x="4434840" y="2331720"/>
            <a:ext cx="3703320" cy="443484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2441448"/>
            <a:ext cx="1828800" cy="685800"/>
          </a:xfrm>
          <a:prstGeom prst="rect">
            <a:avLst/>
          </a:prstGeom>
          <a:noFill/>
        </p:spPr>
        <p:txBody>
          <a:bodyPr wrap="square" lIns="0" tIns="0" rIns="0" bIns="0" anchor="t">
            <a:spAutoFit/>
          </a:bodyPr>
          <a:lstStyle/>
          <a:p>
            <a:pPr algn="l"/>
            <a:r>
              <a:rPr sz="4400" b="0" i="0">
                <a:solidFill>
                  <a:srgbClr val="6CFFC8"/>
                </a:solidFill>
                <a:latin typeface="Georgia" panose="02040502050405090303"/>
              </a:rPr>
              <a:t>F</a:t>
            </a:r>
            <a:endParaRPr sz="4400" b="0" i="0">
              <a:solidFill>
                <a:srgbClr val="6CFFC8"/>
              </a:solidFill>
              <a:latin typeface="Georgia" panose="02040502050405090303"/>
            </a:endParaRPr>
          </a:p>
        </p:txBody>
      </p:sp>
      <p:sp>
        <p:nvSpPr>
          <p:cNvPr id="21" name="TextBox 20"/>
          <p:cNvSpPr txBox="1"/>
          <p:nvPr/>
        </p:nvSpPr>
        <p:spPr>
          <a:xfrm>
            <a:off x="4617720" y="3154680"/>
            <a:ext cx="3337560" cy="274320"/>
          </a:xfrm>
          <a:prstGeom prst="rect">
            <a:avLst/>
          </a:prstGeom>
          <a:noFill/>
        </p:spPr>
        <p:txBody>
          <a:bodyPr wrap="square" lIns="0" tIns="0" rIns="0" bIns="0" anchor="t">
            <a:spAutoFit/>
          </a:bodyPr>
          <a:lstStyle/>
          <a:p>
            <a:pPr algn="l"/>
            <a:r>
              <a:rPr sz="1100" b="1" i="0">
                <a:solidFill>
                  <a:srgbClr val="E8E8F0"/>
                </a:solidFill>
                <a:latin typeface="Calibri"/>
              </a:rPr>
              <a:t>FEASIBILITY SCORE</a:t>
            </a:r>
            <a:endParaRPr sz="1100" b="1" i="0">
              <a:solidFill>
                <a:srgbClr val="E8E8F0"/>
              </a:solidFill>
              <a:latin typeface="Calibri"/>
            </a:endParaRPr>
          </a:p>
        </p:txBody>
      </p:sp>
      <p:sp>
        <p:nvSpPr>
          <p:cNvPr id="22" name="TextBox 21"/>
          <p:cNvSpPr txBox="1"/>
          <p:nvPr/>
        </p:nvSpPr>
        <p:spPr>
          <a:xfrm>
            <a:off x="4617720" y="3447288"/>
            <a:ext cx="3337560" cy="685800"/>
          </a:xfrm>
          <a:prstGeom prst="rect">
            <a:avLst/>
          </a:prstGeom>
          <a:noFill/>
        </p:spPr>
        <p:txBody>
          <a:bodyPr wrap="square" lIns="0" tIns="0" rIns="0" bIns="0" anchor="t">
            <a:spAutoFit/>
          </a:bodyPr>
          <a:lstStyle/>
          <a:p>
            <a:pPr algn="l"/>
            <a:r>
              <a:rPr sz="1000" b="0" i="0">
                <a:solidFill>
                  <a:srgbClr val="7878A0"/>
                </a:solidFill>
                <a:latin typeface="Calibri"/>
              </a:rPr>
              <a:t>Deduction-based.  No hard fails.  Clamped at 0.0 — does NOT propagate to other tiers.</a:t>
            </a:r>
            <a:endParaRPr sz="1000" b="0" i="0">
              <a:solidFill>
                <a:srgbClr val="7878A0"/>
              </a:solidFill>
              <a:latin typeface="Calibri"/>
            </a:endParaRPr>
          </a:p>
        </p:txBody>
      </p:sp>
      <p:sp>
        <p:nvSpPr>
          <p:cNvPr id="23" name="TextBox 22"/>
          <p:cNvSpPr txBox="1"/>
          <p:nvPr/>
        </p:nvSpPr>
        <p:spPr>
          <a:xfrm>
            <a:off x="4617720" y="4105274"/>
            <a:ext cx="3337560" cy="201168"/>
          </a:xfrm>
          <a:prstGeom prst="rect">
            <a:avLst/>
          </a:prstGeom>
          <a:noFill/>
        </p:spPr>
        <p:txBody>
          <a:bodyPr wrap="square" lIns="0" tIns="0" rIns="0" bIns="0" anchor="t">
            <a:spAutoFit/>
          </a:bodyPr>
          <a:lstStyle/>
          <a:p>
            <a:pPr algn="l"/>
            <a:r>
              <a:rPr sz="850" b="0" i="0">
                <a:solidFill>
                  <a:srgbClr val="7878A0"/>
                </a:solidFill>
                <a:latin typeface="Consolas"/>
              </a:rPr>
              <a:t>WHAT WE CHECK</a:t>
            </a:r>
            <a:endParaRPr sz="850" b="0" i="0">
              <a:solidFill>
                <a:srgbClr val="7878A0"/>
              </a:solidFill>
              <a:latin typeface="Consolas"/>
            </a:endParaRPr>
          </a:p>
        </p:txBody>
      </p:sp>
      <p:sp>
        <p:nvSpPr>
          <p:cNvPr id="24" name="TextBox 23"/>
          <p:cNvSpPr txBox="1"/>
          <p:nvPr/>
        </p:nvSpPr>
        <p:spPr>
          <a:xfrm>
            <a:off x="4617720" y="4333874"/>
            <a:ext cx="3337560" cy="182880"/>
          </a:xfrm>
          <a:prstGeom prst="rect">
            <a:avLst/>
          </a:prstGeom>
          <a:noFill/>
        </p:spPr>
        <p:txBody>
          <a:bodyPr wrap="square" lIns="0" tIns="0" rIns="0" bIns="0" anchor="t">
            <a:spAutoFit/>
          </a:bodyPr>
          <a:lstStyle/>
          <a:p>
            <a:pPr algn="l"/>
            <a:r>
              <a:rPr sz="950" b="1" i="0">
                <a:solidFill>
                  <a:srgbClr val="6CFFC8"/>
                </a:solidFill>
                <a:latin typeface="Consolas"/>
              </a:rPr>
              <a:t>·  Opening hours  −0.15</a:t>
            </a:r>
            <a:endParaRPr sz="950" b="1" i="0">
              <a:solidFill>
                <a:srgbClr val="6CFFC8"/>
              </a:solidFill>
              <a:latin typeface="Consolas"/>
            </a:endParaRPr>
          </a:p>
        </p:txBody>
      </p:sp>
      <p:sp>
        <p:nvSpPr>
          <p:cNvPr id="25" name="TextBox 24"/>
          <p:cNvSpPr txBox="1"/>
          <p:nvPr/>
        </p:nvSpPr>
        <p:spPr>
          <a:xfrm>
            <a:off x="4617720" y="4507610"/>
            <a:ext cx="3337560" cy="246888"/>
          </a:xfrm>
          <a:prstGeom prst="rect">
            <a:avLst/>
          </a:prstGeom>
          <a:noFill/>
        </p:spPr>
        <p:txBody>
          <a:bodyPr wrap="square" lIns="0" tIns="0" rIns="0" bIns="0" anchor="t">
            <a:spAutoFit/>
          </a:bodyPr>
          <a:lstStyle/>
          <a:p>
            <a:pPr algn="l"/>
            <a:r>
              <a:rPr sz="850" b="0" i="0">
                <a:solidFill>
                  <a:srgbClr val="7878A0"/>
                </a:solidFill>
                <a:latin typeface="Calibri"/>
              </a:rPr>
              <a:t>Visit outside day-specific opening window</a:t>
            </a:r>
            <a:endParaRPr sz="850" b="0" i="0">
              <a:solidFill>
                <a:srgbClr val="7878A0"/>
              </a:solidFill>
              <a:latin typeface="Calibri"/>
            </a:endParaRPr>
          </a:p>
        </p:txBody>
      </p:sp>
      <p:sp>
        <p:nvSpPr>
          <p:cNvPr id="26" name="TextBox 25"/>
          <p:cNvSpPr txBox="1"/>
          <p:nvPr/>
        </p:nvSpPr>
        <p:spPr>
          <a:xfrm>
            <a:off x="4617720" y="4708778"/>
            <a:ext cx="3337560" cy="182880"/>
          </a:xfrm>
          <a:prstGeom prst="rect">
            <a:avLst/>
          </a:prstGeom>
          <a:noFill/>
        </p:spPr>
        <p:txBody>
          <a:bodyPr wrap="square" lIns="0" tIns="0" rIns="0" bIns="0" anchor="t">
            <a:spAutoFit/>
          </a:bodyPr>
          <a:lstStyle/>
          <a:p>
            <a:pPr algn="l"/>
            <a:r>
              <a:rPr sz="950" b="1" i="0">
                <a:solidFill>
                  <a:srgbClr val="6CFFC8"/>
                </a:solidFill>
                <a:latin typeface="Consolas"/>
              </a:rPr>
              <a:t>·  Activity overlap  −0.20</a:t>
            </a:r>
            <a:endParaRPr sz="950" b="1" i="0">
              <a:solidFill>
                <a:srgbClr val="6CFFC8"/>
              </a:solidFill>
              <a:latin typeface="Consolas"/>
            </a:endParaRPr>
          </a:p>
        </p:txBody>
      </p:sp>
      <p:sp>
        <p:nvSpPr>
          <p:cNvPr id="27" name="TextBox 26"/>
          <p:cNvSpPr txBox="1"/>
          <p:nvPr/>
        </p:nvSpPr>
        <p:spPr>
          <a:xfrm>
            <a:off x="4617720" y="4882514"/>
            <a:ext cx="3337560" cy="246888"/>
          </a:xfrm>
          <a:prstGeom prst="rect">
            <a:avLst/>
          </a:prstGeom>
          <a:noFill/>
        </p:spPr>
        <p:txBody>
          <a:bodyPr wrap="square" lIns="0" tIns="0" rIns="0" bIns="0" anchor="t">
            <a:spAutoFit/>
          </a:bodyPr>
          <a:lstStyle/>
          <a:p>
            <a:pPr algn="l"/>
            <a:r>
              <a:rPr sz="850" b="0" i="0">
                <a:solidFill>
                  <a:srgbClr val="7878A0"/>
                </a:solidFill>
                <a:latin typeface="Calibri"/>
              </a:rPr>
              <a:t>Two activities have overlapping windows</a:t>
            </a:r>
            <a:endParaRPr sz="850" b="0" i="0">
              <a:solidFill>
                <a:srgbClr val="7878A0"/>
              </a:solidFill>
              <a:latin typeface="Calibri"/>
            </a:endParaRPr>
          </a:p>
        </p:txBody>
      </p:sp>
      <p:sp>
        <p:nvSpPr>
          <p:cNvPr id="28" name="TextBox 27"/>
          <p:cNvSpPr txBox="1"/>
          <p:nvPr/>
        </p:nvSpPr>
        <p:spPr>
          <a:xfrm>
            <a:off x="4617720" y="5083682"/>
            <a:ext cx="3337560" cy="182880"/>
          </a:xfrm>
          <a:prstGeom prst="rect">
            <a:avLst/>
          </a:prstGeom>
          <a:noFill/>
        </p:spPr>
        <p:txBody>
          <a:bodyPr wrap="square" lIns="0" tIns="0" rIns="0" bIns="0" anchor="t">
            <a:spAutoFit/>
          </a:bodyPr>
          <a:lstStyle/>
          <a:p>
            <a:pPr algn="l"/>
            <a:r>
              <a:rPr sz="950" b="1" i="0">
                <a:solidFill>
                  <a:srgbClr val="6CFFC8"/>
                </a:solidFill>
                <a:latin typeface="Consolas"/>
              </a:rPr>
              <a:t>·  Travel time  −0.15</a:t>
            </a:r>
            <a:endParaRPr sz="950" b="1" i="0">
              <a:solidFill>
                <a:srgbClr val="6CFFC8"/>
              </a:solidFill>
              <a:latin typeface="Consolas"/>
            </a:endParaRPr>
          </a:p>
        </p:txBody>
      </p:sp>
      <p:sp>
        <p:nvSpPr>
          <p:cNvPr id="29" name="TextBox 28"/>
          <p:cNvSpPr txBox="1"/>
          <p:nvPr/>
        </p:nvSpPr>
        <p:spPr>
          <a:xfrm>
            <a:off x="4617720" y="5257418"/>
            <a:ext cx="3337560" cy="246888"/>
          </a:xfrm>
          <a:prstGeom prst="rect">
            <a:avLst/>
          </a:prstGeom>
          <a:noFill/>
        </p:spPr>
        <p:txBody>
          <a:bodyPr wrap="square" lIns="0" tIns="0" rIns="0" bIns="0" anchor="t">
            <a:spAutoFit/>
          </a:bodyPr>
          <a:lstStyle/>
          <a:p>
            <a:pPr algn="l"/>
            <a:r>
              <a:rPr sz="850" b="0" i="0">
                <a:solidFill>
                  <a:srgbClr val="7878A0"/>
                </a:solidFill>
                <a:latin typeface="Calibri"/>
              </a:rPr>
              <a:t>Gap too short for matrix walk / transit</a:t>
            </a:r>
            <a:endParaRPr sz="850" b="0" i="0">
              <a:solidFill>
                <a:srgbClr val="7878A0"/>
              </a:solidFill>
              <a:latin typeface="Calibri"/>
            </a:endParaRPr>
          </a:p>
        </p:txBody>
      </p:sp>
      <p:sp>
        <p:nvSpPr>
          <p:cNvPr id="30" name="TextBox 29"/>
          <p:cNvSpPr txBox="1"/>
          <p:nvPr/>
        </p:nvSpPr>
        <p:spPr>
          <a:xfrm>
            <a:off x="4617720" y="5458586"/>
            <a:ext cx="3337560" cy="182880"/>
          </a:xfrm>
          <a:prstGeom prst="rect">
            <a:avLst/>
          </a:prstGeom>
          <a:noFill/>
        </p:spPr>
        <p:txBody>
          <a:bodyPr wrap="square" lIns="0" tIns="0" rIns="0" bIns="0" anchor="t">
            <a:spAutoFit/>
          </a:bodyPr>
          <a:lstStyle/>
          <a:p>
            <a:pPr algn="l"/>
            <a:r>
              <a:rPr sz="950" b="1" i="0">
                <a:solidFill>
                  <a:srgbClr val="6CFFC8"/>
                </a:solidFill>
                <a:latin typeface="Consolas"/>
              </a:rPr>
              <a:t>·  Truth-carrier  −0.05</a:t>
            </a:r>
            <a:endParaRPr sz="950" b="1" i="0">
              <a:solidFill>
                <a:srgbClr val="6CFFC8"/>
              </a:solidFill>
              <a:latin typeface="Consolas"/>
            </a:endParaRPr>
          </a:p>
        </p:txBody>
      </p:sp>
      <p:sp>
        <p:nvSpPr>
          <p:cNvPr id="31" name="TextBox 30"/>
          <p:cNvSpPr txBox="1"/>
          <p:nvPr/>
        </p:nvSpPr>
        <p:spPr>
          <a:xfrm>
            <a:off x="4617720" y="5632322"/>
            <a:ext cx="3337560" cy="246888"/>
          </a:xfrm>
          <a:prstGeom prst="rect">
            <a:avLst/>
          </a:prstGeom>
          <a:noFill/>
        </p:spPr>
        <p:txBody>
          <a:bodyPr wrap="square" lIns="0" tIns="0" rIns="0" bIns="0" anchor="t">
            <a:spAutoFit/>
          </a:bodyPr>
          <a:lstStyle/>
          <a:p>
            <a:pPr algn="l"/>
            <a:r>
              <a:rPr sz="850" b="0" i="0">
                <a:solidFill>
                  <a:srgbClr val="7878A0"/>
                </a:solidFill>
                <a:latin typeface="Calibri"/>
              </a:rPr>
              <a:t>Wrong-info venue scheduled w/o retrieving truth carrier</a:t>
            </a:r>
            <a:endParaRPr sz="850" b="0" i="0">
              <a:solidFill>
                <a:srgbClr val="7878A0"/>
              </a:solidFill>
              <a:latin typeface="Calibri"/>
            </a:endParaRPr>
          </a:p>
        </p:txBody>
      </p:sp>
      <p:sp>
        <p:nvSpPr>
          <p:cNvPr id="32" name="TextBox 31"/>
          <p:cNvSpPr txBox="1"/>
          <p:nvPr/>
        </p:nvSpPr>
        <p:spPr>
          <a:xfrm>
            <a:off x="4617720" y="5833490"/>
            <a:ext cx="3337560" cy="182880"/>
          </a:xfrm>
          <a:prstGeom prst="rect">
            <a:avLst/>
          </a:prstGeom>
          <a:noFill/>
        </p:spPr>
        <p:txBody>
          <a:bodyPr wrap="square" lIns="0" tIns="0" rIns="0" bIns="0" anchor="t">
            <a:spAutoFit/>
          </a:bodyPr>
          <a:lstStyle/>
          <a:p>
            <a:pPr algn="l"/>
            <a:r>
              <a:rPr sz="950" b="1" i="0">
                <a:solidFill>
                  <a:srgbClr val="6CFFC8"/>
                </a:solidFill>
                <a:latin typeface="Consolas"/>
              </a:rPr>
              <a:t>·  Buffer &amp; duration</a:t>
            </a:r>
            <a:endParaRPr sz="950" b="1" i="0">
              <a:solidFill>
                <a:srgbClr val="6CFFC8"/>
              </a:solidFill>
              <a:latin typeface="Consolas"/>
            </a:endParaRPr>
          </a:p>
        </p:txBody>
      </p:sp>
      <p:sp>
        <p:nvSpPr>
          <p:cNvPr id="33" name="TextBox 32"/>
          <p:cNvSpPr txBox="1"/>
          <p:nvPr/>
        </p:nvSpPr>
        <p:spPr>
          <a:xfrm>
            <a:off x="4617720" y="6007226"/>
            <a:ext cx="3337560" cy="246888"/>
          </a:xfrm>
          <a:prstGeom prst="rect">
            <a:avLst/>
          </a:prstGeom>
          <a:noFill/>
        </p:spPr>
        <p:txBody>
          <a:bodyPr wrap="square" lIns="0" tIns="0" rIns="0" bIns="0" anchor="t">
            <a:spAutoFit/>
          </a:bodyPr>
          <a:lstStyle/>
          <a:p>
            <a:pPr algn="l"/>
            <a:r>
              <a:rPr sz="850" b="0" i="0">
                <a:solidFill>
                  <a:srgbClr val="7878A0"/>
                </a:solidFill>
                <a:latin typeface="Calibri"/>
              </a:rPr>
              <a:t>Tiered: &lt;5 min buffer −0.10  ·  over-spaced −0.02  ·  under-scheduled visit −0.05</a:t>
            </a:r>
            <a:endParaRPr sz="850" b="0" i="0">
              <a:solidFill>
                <a:srgbClr val="7878A0"/>
              </a:solidFill>
              <a:latin typeface="Calibri"/>
            </a:endParaRPr>
          </a:p>
        </p:txBody>
      </p:sp>
      <p:sp>
        <p:nvSpPr>
          <p:cNvPr id="34" name="Rounded Rectangle 33"/>
          <p:cNvSpPr/>
          <p:nvPr/>
        </p:nvSpPr>
        <p:spPr>
          <a:xfrm>
            <a:off x="4617720" y="6309360"/>
            <a:ext cx="3337560" cy="3657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0" y="6373368"/>
            <a:ext cx="3246120" cy="292608"/>
          </a:xfrm>
          <a:prstGeom prst="rect">
            <a:avLst/>
          </a:prstGeom>
          <a:noFill/>
        </p:spPr>
        <p:txBody>
          <a:bodyPr wrap="square" lIns="0" tIns="0" rIns="0" bIns="0" anchor="t">
            <a:spAutoFit/>
          </a:bodyPr>
          <a:lstStyle/>
          <a:p>
            <a:pPr algn="ctr"/>
            <a:r>
              <a:rPr sz="850" b="1" i="0">
                <a:solidFill>
                  <a:srgbClr val="6CFFC8"/>
                </a:solidFill>
                <a:latin typeface="Consolas"/>
              </a:rPr>
              <a:t>max(0, 1 − Σ deductions).  ⚠ flag if any single deduction ≥ 0.10.</a:t>
            </a:r>
            <a:endParaRPr sz="850" b="1" i="0">
              <a:solidFill>
                <a:srgbClr val="6CFFC8"/>
              </a:solidFill>
              <a:latin typeface="Consolas"/>
            </a:endParaRPr>
          </a:p>
        </p:txBody>
      </p:sp>
      <p:sp>
        <p:nvSpPr>
          <p:cNvPr id="36" name="Rounded Rectangle 35"/>
          <p:cNvSpPr/>
          <p:nvPr/>
        </p:nvSpPr>
        <p:spPr>
          <a:xfrm>
            <a:off x="8321040" y="2331720"/>
            <a:ext cx="3703320" cy="4434840"/>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03920" y="2441448"/>
            <a:ext cx="1828800" cy="685800"/>
          </a:xfrm>
          <a:prstGeom prst="rect">
            <a:avLst/>
          </a:prstGeom>
          <a:noFill/>
        </p:spPr>
        <p:txBody>
          <a:bodyPr wrap="square" lIns="0" tIns="0" rIns="0" bIns="0" anchor="t">
            <a:spAutoFit/>
          </a:bodyPr>
          <a:lstStyle/>
          <a:p>
            <a:pPr algn="l"/>
            <a:r>
              <a:rPr sz="4400" b="0" i="0">
                <a:solidFill>
                  <a:srgbClr val="FFA84A"/>
                </a:solidFill>
                <a:latin typeface="Georgia" panose="02040502050405090303"/>
              </a:rPr>
              <a:t>P</a:t>
            </a:r>
            <a:endParaRPr sz="4400" b="0" i="0">
              <a:solidFill>
                <a:srgbClr val="FFA84A"/>
              </a:solidFill>
              <a:latin typeface="Georgia" panose="02040502050405090303"/>
            </a:endParaRPr>
          </a:p>
        </p:txBody>
      </p:sp>
      <p:sp>
        <p:nvSpPr>
          <p:cNvPr id="38" name="TextBox 37"/>
          <p:cNvSpPr txBox="1"/>
          <p:nvPr/>
        </p:nvSpPr>
        <p:spPr>
          <a:xfrm>
            <a:off x="8503920" y="3154680"/>
            <a:ext cx="3337560" cy="274320"/>
          </a:xfrm>
          <a:prstGeom prst="rect">
            <a:avLst/>
          </a:prstGeom>
          <a:noFill/>
        </p:spPr>
        <p:txBody>
          <a:bodyPr wrap="square" lIns="0" tIns="0" rIns="0" bIns="0" anchor="t">
            <a:spAutoFit/>
          </a:bodyPr>
          <a:lstStyle/>
          <a:p>
            <a:pPr algn="l"/>
            <a:r>
              <a:rPr sz="1100" b="1" i="0">
                <a:solidFill>
                  <a:srgbClr val="E8E8F0"/>
                </a:solidFill>
                <a:latin typeface="Calibri"/>
              </a:rPr>
              <a:t>PREFERENCE SCORE</a:t>
            </a:r>
            <a:endParaRPr sz="1100" b="1" i="0">
              <a:solidFill>
                <a:srgbClr val="E8E8F0"/>
              </a:solidFill>
              <a:latin typeface="Calibri"/>
            </a:endParaRPr>
          </a:p>
        </p:txBody>
      </p:sp>
      <p:sp>
        <p:nvSpPr>
          <p:cNvPr id="39" name="TextBox 38"/>
          <p:cNvSpPr txBox="1"/>
          <p:nvPr/>
        </p:nvSpPr>
        <p:spPr>
          <a:xfrm>
            <a:off x="8503920" y="3447288"/>
            <a:ext cx="3337560" cy="685800"/>
          </a:xfrm>
          <a:prstGeom prst="rect">
            <a:avLst/>
          </a:prstGeom>
          <a:noFill/>
        </p:spPr>
        <p:txBody>
          <a:bodyPr wrap="square" lIns="0" tIns="0" rIns="0" bIns="0" anchor="t">
            <a:spAutoFit/>
          </a:bodyPr>
          <a:lstStyle/>
          <a:p>
            <a:pPr algn="l"/>
            <a:r>
              <a:rPr sz="1000" b="0" i="0">
                <a:solidFill>
                  <a:srgbClr val="7878A0"/>
                </a:solidFill>
                <a:latin typeface="Calibri"/>
              </a:rPr>
              <a:t>Per-constraint check via the engine on slide 11. Each P-constraint scores 0 or 1; final = mean. LLM judge available for semantic constraints.</a:t>
            </a:r>
            <a:endParaRPr sz="1000" b="0" i="0">
              <a:solidFill>
                <a:srgbClr val="7878A0"/>
              </a:solidFill>
              <a:latin typeface="Calibri"/>
            </a:endParaRPr>
          </a:p>
        </p:txBody>
      </p:sp>
      <p:sp>
        <p:nvSpPr>
          <p:cNvPr id="40" name="Rounded Rectangle 39"/>
          <p:cNvSpPr/>
          <p:nvPr/>
        </p:nvSpPr>
        <p:spPr>
          <a:xfrm>
            <a:off x="8503920" y="6309360"/>
            <a:ext cx="3337560" cy="36576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49640" y="6373368"/>
            <a:ext cx="3246120" cy="292608"/>
          </a:xfrm>
          <a:prstGeom prst="rect">
            <a:avLst/>
          </a:prstGeom>
          <a:noFill/>
        </p:spPr>
        <p:txBody>
          <a:bodyPr wrap="square" lIns="0" tIns="0" rIns="0" bIns="0" anchor="t">
            <a:spAutoFit/>
          </a:bodyPr>
          <a:lstStyle/>
          <a:p>
            <a:pPr algn="ctr"/>
            <a:r>
              <a:rPr sz="850" b="1" i="0">
                <a:solidFill>
                  <a:srgbClr val="FFA84A"/>
                </a:solidFill>
                <a:latin typeface="Consolas"/>
              </a:rPr>
              <a:t>Proportional [0.0, 1.0].  No gates, no propagation.</a:t>
            </a:r>
            <a:endParaRPr sz="850" b="1" i="0">
              <a:solidFill>
                <a:srgbClr val="FFA84A"/>
              </a:solidFill>
              <a:latin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12  —  SOLVING SANDBOX</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First — what the solving agent receives</a:t>
            </a:r>
            <a:endParaRPr sz="2200" b="0" i="0">
              <a:solidFill>
                <a:srgbClr val="E8E8F0"/>
              </a:solidFill>
              <a:latin typeface="Georgia" panose="02040502050405090303"/>
            </a:endParaRPr>
          </a:p>
        </p:txBody>
      </p:sp>
      <p:sp>
        <p:nvSpPr>
          <p:cNvPr id="4" name="TextBox 3"/>
          <p:cNvSpPr txBox="1"/>
          <p:nvPr/>
        </p:nvSpPr>
        <p:spPr>
          <a:xfrm>
            <a:off x="548640" y="960120"/>
            <a:ext cx="10972800" cy="274320"/>
          </a:xfrm>
          <a:prstGeom prst="rect">
            <a:avLst/>
          </a:prstGeom>
          <a:noFill/>
        </p:spPr>
        <p:txBody>
          <a:bodyPr wrap="square" lIns="0" tIns="0" rIns="0" bIns="0" anchor="t">
            <a:spAutoFit/>
          </a:bodyPr>
          <a:lstStyle/>
          <a:p>
            <a:pPr algn="l"/>
            <a:r>
              <a:rPr sz="1200" b="0" i="1">
                <a:solidFill>
                  <a:srgbClr val="7878A0"/>
                </a:solidFill>
                <a:latin typeface="Calibri"/>
              </a:rPr>
              <a:t>Same NYC Type 4 task that was generated in the previous section. Now: how does one solver work through it?</a:t>
            </a:r>
            <a:endParaRPr sz="1200" b="0" i="1">
              <a:solidFill>
                <a:srgbClr val="7878A0"/>
              </a:solidFill>
              <a:latin typeface="Calibri"/>
            </a:endParaRPr>
          </a:p>
        </p:txBody>
      </p:sp>
      <p:sp>
        <p:nvSpPr>
          <p:cNvPr id="5" name="Rounded Rectangle 4"/>
          <p:cNvSpPr/>
          <p:nvPr/>
        </p:nvSpPr>
        <p:spPr>
          <a:xfrm>
            <a:off x="548640" y="1508760"/>
            <a:ext cx="11064240" cy="502920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10698480" cy="274320"/>
          </a:xfrm>
          <a:prstGeom prst="rect">
            <a:avLst/>
          </a:prstGeom>
          <a:noFill/>
        </p:spPr>
        <p:txBody>
          <a:bodyPr wrap="square" lIns="0" tIns="0" rIns="0" bIns="0" anchor="t">
            <a:spAutoFit/>
          </a:bodyPr>
          <a:lstStyle/>
          <a:p>
            <a:pPr algn="l"/>
            <a:r>
              <a:rPr sz="1000" b="1" i="0">
                <a:solidFill>
                  <a:srgbClr val="6C8EFF"/>
                </a:solidFill>
                <a:latin typeface="Consolas"/>
              </a:rPr>
              <a:t>INPUT TO THE SOLVING AGENT</a:t>
            </a:r>
            <a:endParaRPr sz="1000" b="1" i="0">
              <a:solidFill>
                <a:srgbClr val="6C8EFF"/>
              </a:solidFill>
              <a:latin typeface="Consolas"/>
            </a:endParaRPr>
          </a:p>
        </p:txBody>
      </p:sp>
      <p:sp>
        <p:nvSpPr>
          <p:cNvPr id="7" name="TextBox 6"/>
          <p:cNvSpPr txBox="1"/>
          <p:nvPr/>
        </p:nvSpPr>
        <p:spPr>
          <a:xfrm>
            <a:off x="731520" y="1920240"/>
            <a:ext cx="10698480" cy="274320"/>
          </a:xfrm>
          <a:prstGeom prst="rect">
            <a:avLst/>
          </a:prstGeom>
          <a:noFill/>
        </p:spPr>
        <p:txBody>
          <a:bodyPr wrap="square" lIns="0" tIns="0" rIns="0" bIns="0" anchor="t">
            <a:spAutoFit/>
          </a:bodyPr>
          <a:lstStyle/>
          <a:p>
            <a:pPr algn="l"/>
            <a:r>
              <a:rPr sz="1000" b="0" i="0">
                <a:solidFill>
                  <a:srgbClr val="7878A0"/>
                </a:solidFill>
                <a:latin typeface="Consolas"/>
              </a:rPr>
              <a:t>task_id  </a:t>
            </a:r>
            <a:r>
              <a:rPr sz="1100" b="1" i="0">
                <a:solidFill>
                  <a:srgbClr val="E8E8F0"/>
                </a:solidFill>
                <a:latin typeface="Consolas"/>
              </a:rPr>
              <a:t>gpt_5_4_new_york_type4_20260521_1779375371</a:t>
            </a:r>
            <a:endParaRPr sz="1100" b="1" i="0">
              <a:solidFill>
                <a:srgbClr val="E8E8F0"/>
              </a:solidFill>
              <a:latin typeface="Consolas"/>
            </a:endParaRPr>
          </a:p>
        </p:txBody>
      </p:sp>
      <p:sp>
        <p:nvSpPr>
          <p:cNvPr id="8" name="TextBox 7"/>
          <p:cNvSpPr txBox="1"/>
          <p:nvPr/>
        </p:nvSpPr>
        <p:spPr>
          <a:xfrm>
            <a:off x="731520" y="2194560"/>
            <a:ext cx="10698480" cy="274320"/>
          </a:xfrm>
          <a:prstGeom prst="rect">
            <a:avLst/>
          </a:prstGeom>
          <a:noFill/>
        </p:spPr>
        <p:txBody>
          <a:bodyPr wrap="square" lIns="0" tIns="0" rIns="0" bIns="0" anchor="t">
            <a:spAutoFit/>
          </a:bodyPr>
          <a:lstStyle/>
          <a:p>
            <a:pPr algn="l"/>
            <a:r>
              <a:rPr sz="1000" b="0" i="0">
                <a:solidFill>
                  <a:srgbClr val="7878A0"/>
                </a:solidFill>
                <a:latin typeface="Consolas"/>
              </a:rPr>
              <a:t>type     </a:t>
            </a:r>
            <a:r>
              <a:rPr sz="1100" b="1" i="0">
                <a:solidFill>
                  <a:srgbClr val="FFA84A"/>
                </a:solidFill>
                <a:latin typeface="Consolas"/>
              </a:rPr>
              <a:t>type4_precision_allocation</a:t>
            </a:r>
            <a:r>
              <a:rPr sz="1000" b="0" i="0">
                <a:solidFill>
                  <a:srgbClr val="7878A0"/>
                </a:solidFill>
                <a:latin typeface="Consolas"/>
              </a:rPr>
              <a:t>    window  </a:t>
            </a:r>
            <a:r>
              <a:rPr sz="1100" b="0" i="0">
                <a:solidFill>
                  <a:srgbClr val="E8E8F0"/>
                </a:solidFill>
                <a:latin typeface="Consolas"/>
              </a:rPr>
              <a:t>Independence Day 2026  (Jul 3–4)</a:t>
            </a:r>
            <a:r>
              <a:rPr sz="1000" b="0" i="0">
                <a:solidFill>
                  <a:srgbClr val="7878A0"/>
                </a:solidFill>
                <a:latin typeface="Consolas"/>
              </a:rPr>
              <a:t>    days  </a:t>
            </a:r>
            <a:r>
              <a:rPr sz="1100" b="1" i="0">
                <a:solidFill>
                  <a:srgbClr val="E8E8F0"/>
                </a:solidFill>
                <a:latin typeface="Consolas"/>
              </a:rPr>
              <a:t>2</a:t>
            </a:r>
            <a:r>
              <a:rPr sz="1000" b="0" i="0">
                <a:solidFill>
                  <a:srgbClr val="7878A0"/>
                </a:solidFill>
                <a:latin typeface="Consolas"/>
              </a:rPr>
              <a:t>    budget  </a:t>
            </a:r>
            <a:r>
              <a:rPr sz="1100" b="1" i="0">
                <a:solidFill>
                  <a:srgbClr val="6CFFC8"/>
                </a:solidFill>
                <a:latin typeface="Consolas"/>
              </a:rPr>
              <a:t>$24/day</a:t>
            </a:r>
            <a:endParaRPr sz="1100" b="1" i="0">
              <a:solidFill>
                <a:srgbClr val="6CFFC8"/>
              </a:solidFill>
              <a:latin typeface="Consolas"/>
            </a:endParaRPr>
          </a:p>
        </p:txBody>
      </p:sp>
      <p:sp>
        <p:nvSpPr>
          <p:cNvPr id="9" name="TextBox 8"/>
          <p:cNvSpPr txBox="1"/>
          <p:nvPr/>
        </p:nvSpPr>
        <p:spPr>
          <a:xfrm>
            <a:off x="731520" y="2606040"/>
            <a:ext cx="10698480" cy="274320"/>
          </a:xfrm>
          <a:prstGeom prst="rect">
            <a:avLst/>
          </a:prstGeom>
          <a:noFill/>
        </p:spPr>
        <p:txBody>
          <a:bodyPr wrap="square" lIns="0" tIns="0" rIns="0" bIns="0" anchor="t">
            <a:spAutoFit/>
          </a:bodyPr>
          <a:lstStyle/>
          <a:p>
            <a:pPr algn="l"/>
            <a:r>
              <a:rPr sz="1000" b="0" i="0">
                <a:solidFill>
                  <a:srgbClr val="7878A0"/>
                </a:solidFill>
                <a:latin typeface="Consolas"/>
              </a:rPr>
              <a:t>public_input.query  ·  the ONLY field the agent sees:</a:t>
            </a:r>
            <a:endParaRPr sz="1000" b="0" i="0">
              <a:solidFill>
                <a:srgbClr val="7878A0"/>
              </a:solidFill>
              <a:latin typeface="Consolas"/>
            </a:endParaRPr>
          </a:p>
        </p:txBody>
      </p:sp>
      <p:sp>
        <p:nvSpPr>
          <p:cNvPr id="10" name="Rounded Rectangle 9"/>
          <p:cNvSpPr/>
          <p:nvPr/>
        </p:nvSpPr>
        <p:spPr>
          <a:xfrm>
            <a:off x="731520" y="2880360"/>
            <a:ext cx="10698480" cy="86868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971800"/>
            <a:ext cx="10332720" cy="777240"/>
          </a:xfrm>
          <a:prstGeom prst="rect">
            <a:avLst/>
          </a:prstGeom>
          <a:noFill/>
        </p:spPr>
        <p:txBody>
          <a:bodyPr wrap="square" lIns="0" tIns="0" rIns="0" bIns="0" anchor="t">
            <a:spAutoFit/>
          </a:bodyPr>
          <a:lstStyle/>
          <a:p>
            <a:pPr algn="l"/>
            <a:r>
              <a:rPr sz="1400" b="0" i="1">
                <a:solidFill>
                  <a:srgbClr val="E8E8F0"/>
                </a:solidFill>
                <a:latin typeface="Georgia" panose="02040502050405090303"/>
              </a:rPr>
              <a:t>“I'm doing a 2-day New York trip over Independence Day weekend on a strict budget of $24 per day. I want to keep admission costs near zero by using free-entry sights, I want to avoid tourist traps, and I only want budget-priced meals.”</a:t>
            </a:r>
            <a:endParaRPr sz="1400" b="0" i="1">
              <a:solidFill>
                <a:srgbClr val="E8E8F0"/>
              </a:solidFill>
              <a:latin typeface="Georgia" panose="02040502050405090303"/>
            </a:endParaRPr>
          </a:p>
        </p:txBody>
      </p:sp>
      <p:sp>
        <p:nvSpPr>
          <p:cNvPr id="12" name="TextBox 11"/>
          <p:cNvSpPr txBox="1"/>
          <p:nvPr/>
        </p:nvSpPr>
        <p:spPr>
          <a:xfrm>
            <a:off x="731520" y="3931920"/>
            <a:ext cx="10698480" cy="274320"/>
          </a:xfrm>
          <a:prstGeom prst="rect">
            <a:avLst/>
          </a:prstGeom>
          <a:noFill/>
        </p:spPr>
        <p:txBody>
          <a:bodyPr wrap="square" lIns="0" tIns="0" rIns="0" bIns="0" anchor="t">
            <a:spAutoFit/>
          </a:bodyPr>
          <a:lstStyle/>
          <a:p>
            <a:pPr algn="l"/>
            <a:r>
              <a:rPr sz="1000" b="0" i="0">
                <a:solidFill>
                  <a:srgbClr val="7878A0"/>
                </a:solidFill>
                <a:latin typeface="Consolas"/>
              </a:rPr>
              <a:t>rubric.personal_constraints  ·  HIDDEN from the agent  ·  used by the evaluator:</a:t>
            </a:r>
            <a:endParaRPr sz="1000" b="0" i="0">
              <a:solidFill>
                <a:srgbClr val="7878A0"/>
              </a:solidFill>
              <a:latin typeface="Consolas"/>
            </a:endParaRPr>
          </a:p>
        </p:txBody>
      </p:sp>
      <p:sp>
        <p:nvSpPr>
          <p:cNvPr id="13" name="Rounded Rectangle 12"/>
          <p:cNvSpPr/>
          <p:nvPr/>
        </p:nvSpPr>
        <p:spPr>
          <a:xfrm>
            <a:off x="731520" y="4206240"/>
            <a:ext cx="1069848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270248"/>
            <a:ext cx="10424160" cy="228600"/>
          </a:xfrm>
          <a:prstGeom prst="rect">
            <a:avLst/>
          </a:prstGeom>
          <a:noFill/>
        </p:spPr>
        <p:txBody>
          <a:bodyPr wrap="square" lIns="0" tIns="0" rIns="0" bIns="0" anchor="t">
            <a:spAutoFit/>
          </a:bodyPr>
          <a:lstStyle/>
          <a:p>
            <a:pPr algn="l"/>
            <a:r>
              <a:rPr sz="1000" b="1" i="0">
                <a:solidFill>
                  <a:srgbClr val="6C8EFF"/>
                </a:solidFill>
                <a:latin typeface="Consolas"/>
              </a:rPr>
              <a:t>pc_001</a:t>
            </a:r>
            <a:r>
              <a:rPr sz="1000" b="0" i="0">
                <a:solidFill>
                  <a:srgbClr val="E8E8F0"/>
                </a:solidFill>
                <a:latin typeface="Calibri"/>
              </a:rPr>
              <a:t>   </a:t>
            </a:r>
            <a:r>
              <a:rPr sz="900" b="0" i="0">
                <a:solidFill>
                  <a:srgbClr val="FFA84A"/>
                </a:solidFill>
                <a:latin typeface="Consolas"/>
              </a:rPr>
              <a:t>[hop-2]</a:t>
            </a:r>
            <a:r>
              <a:rPr sz="1000" b="0" i="0">
                <a:solidFill>
                  <a:srgbClr val="E8E8F0"/>
                </a:solidFill>
                <a:latin typeface="Calibri"/>
              </a:rPr>
              <a:t>   </a:t>
            </a:r>
            <a:r>
              <a:rPr sz="1100" b="0" i="0">
                <a:solidFill>
                  <a:srgbClr val="E8E8F0"/>
                </a:solidFill>
                <a:latin typeface="Calibri"/>
              </a:rPr>
              <a:t>Total cost per day  ≤  $24</a:t>
            </a:r>
            <a:endParaRPr sz="1100" b="0" i="0">
              <a:solidFill>
                <a:srgbClr val="E8E8F0"/>
              </a:solidFill>
              <a:latin typeface="Calibri"/>
            </a:endParaRPr>
          </a:p>
        </p:txBody>
      </p:sp>
      <p:sp>
        <p:nvSpPr>
          <p:cNvPr id="15" name="TextBox 14"/>
          <p:cNvSpPr txBox="1"/>
          <p:nvPr/>
        </p:nvSpPr>
        <p:spPr>
          <a:xfrm>
            <a:off x="868680" y="4489704"/>
            <a:ext cx="10424160" cy="201168"/>
          </a:xfrm>
          <a:prstGeom prst="rect">
            <a:avLst/>
          </a:prstGeom>
          <a:noFill/>
        </p:spPr>
        <p:txBody>
          <a:bodyPr wrap="square" lIns="0" tIns="0" rIns="0" bIns="0" anchor="t">
            <a:spAutoFit/>
          </a:bodyPr>
          <a:lstStyle/>
          <a:p>
            <a:pPr algn="l"/>
            <a:r>
              <a:rPr sz="950" b="0" i="0">
                <a:solidFill>
                  <a:srgbClr val="7878A0"/>
                </a:solidFill>
                <a:latin typeface="Consolas"/>
              </a:rPr>
              <a:t>sum: estimated_cost_local · operator: &lt;=  · value: 24  · scope: per_day</a:t>
            </a:r>
            <a:endParaRPr sz="950" b="0" i="0">
              <a:solidFill>
                <a:srgbClr val="7878A0"/>
              </a:solidFill>
              <a:latin typeface="Consolas"/>
            </a:endParaRPr>
          </a:p>
        </p:txBody>
      </p:sp>
      <p:sp>
        <p:nvSpPr>
          <p:cNvPr id="16" name="Rounded Rectangle 15"/>
          <p:cNvSpPr/>
          <p:nvPr/>
        </p:nvSpPr>
        <p:spPr>
          <a:xfrm>
            <a:off x="731520" y="4754880"/>
            <a:ext cx="1069848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18888"/>
            <a:ext cx="10424160" cy="228600"/>
          </a:xfrm>
          <a:prstGeom prst="rect">
            <a:avLst/>
          </a:prstGeom>
          <a:noFill/>
        </p:spPr>
        <p:txBody>
          <a:bodyPr wrap="square" lIns="0" tIns="0" rIns="0" bIns="0" anchor="t">
            <a:spAutoFit/>
          </a:bodyPr>
          <a:lstStyle/>
          <a:p>
            <a:pPr algn="l"/>
            <a:r>
              <a:rPr sz="1000" b="1" i="0">
                <a:solidFill>
                  <a:srgbClr val="6C8EFF"/>
                </a:solidFill>
                <a:latin typeface="Consolas"/>
              </a:rPr>
              <a:t>pc_002</a:t>
            </a:r>
            <a:r>
              <a:rPr sz="1000" b="0" i="0">
                <a:solidFill>
                  <a:srgbClr val="E8E8F0"/>
                </a:solidFill>
                <a:latin typeface="Calibri"/>
              </a:rPr>
              <a:t>   </a:t>
            </a:r>
            <a:r>
              <a:rPr sz="900" b="0" i="0">
                <a:solidFill>
                  <a:srgbClr val="FFA84A"/>
                </a:solidFill>
                <a:latin typeface="Consolas"/>
              </a:rPr>
              <a:t>[hop-1]</a:t>
            </a:r>
            <a:r>
              <a:rPr sz="1000" b="0" i="0">
                <a:solidFill>
                  <a:srgbClr val="E8E8F0"/>
                </a:solidFill>
                <a:latin typeface="Calibri"/>
              </a:rPr>
              <a:t>   </a:t>
            </a:r>
            <a:r>
              <a:rPr sz="1100" b="0" i="0">
                <a:solidFill>
                  <a:srgbClr val="E8E8F0"/>
                </a:solidFill>
                <a:latin typeface="Calibri"/>
              </a:rPr>
              <a:t>All visit activities at free-entry venues</a:t>
            </a:r>
            <a:endParaRPr sz="1100" b="0" i="0">
              <a:solidFill>
                <a:srgbClr val="E8E8F0"/>
              </a:solidFill>
              <a:latin typeface="Calibri"/>
            </a:endParaRPr>
          </a:p>
        </p:txBody>
      </p:sp>
      <p:sp>
        <p:nvSpPr>
          <p:cNvPr id="18" name="TextBox 17"/>
          <p:cNvSpPr txBox="1"/>
          <p:nvPr/>
        </p:nvSpPr>
        <p:spPr>
          <a:xfrm>
            <a:off x="868680" y="5038344"/>
            <a:ext cx="10424160" cy="201168"/>
          </a:xfrm>
          <a:prstGeom prst="rect">
            <a:avLst/>
          </a:prstGeom>
          <a:noFill/>
        </p:spPr>
        <p:txBody>
          <a:bodyPr wrap="square" lIns="0" tIns="0" rIns="0" bIns="0" anchor="t">
            <a:spAutoFit/>
          </a:bodyPr>
          <a:lstStyle/>
          <a:p>
            <a:pPr algn="l"/>
            <a:r>
              <a:rPr sz="950" b="0" i="0">
                <a:solidFill>
                  <a:srgbClr val="7878A0"/>
                </a:solidFill>
                <a:latin typeface="Consolas"/>
              </a:rPr>
              <a:t>all  ·  scope: activity_type=visit  ·  condition: has_tag = free-entry</a:t>
            </a:r>
            <a:endParaRPr sz="950" b="0" i="0">
              <a:solidFill>
                <a:srgbClr val="7878A0"/>
              </a:solidFill>
              <a:latin typeface="Consolas"/>
            </a:endParaRPr>
          </a:p>
        </p:txBody>
      </p:sp>
      <p:sp>
        <p:nvSpPr>
          <p:cNvPr id="19" name="Rounded Rectangle 18"/>
          <p:cNvSpPr/>
          <p:nvPr/>
        </p:nvSpPr>
        <p:spPr>
          <a:xfrm>
            <a:off x="731520" y="5303520"/>
            <a:ext cx="1069848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367528"/>
            <a:ext cx="10424160" cy="228600"/>
          </a:xfrm>
          <a:prstGeom prst="rect">
            <a:avLst/>
          </a:prstGeom>
          <a:noFill/>
        </p:spPr>
        <p:txBody>
          <a:bodyPr wrap="square" lIns="0" tIns="0" rIns="0" bIns="0" anchor="t">
            <a:spAutoFit/>
          </a:bodyPr>
          <a:lstStyle/>
          <a:p>
            <a:pPr algn="l"/>
            <a:r>
              <a:rPr sz="1000" b="1" i="0">
                <a:solidFill>
                  <a:srgbClr val="6C8EFF"/>
                </a:solidFill>
                <a:latin typeface="Consolas"/>
              </a:rPr>
              <a:t>pc_003</a:t>
            </a:r>
            <a:r>
              <a:rPr sz="1000" b="0" i="0">
                <a:solidFill>
                  <a:srgbClr val="E8E8F0"/>
                </a:solidFill>
                <a:latin typeface="Calibri"/>
              </a:rPr>
              <a:t>   </a:t>
            </a:r>
            <a:r>
              <a:rPr sz="900" b="0" i="0">
                <a:solidFill>
                  <a:srgbClr val="FFA84A"/>
                </a:solidFill>
                <a:latin typeface="Consolas"/>
              </a:rPr>
              <a:t>[hop-2]</a:t>
            </a:r>
            <a:r>
              <a:rPr sz="1000" b="0" i="0">
                <a:solidFill>
                  <a:srgbClr val="E8E8F0"/>
                </a:solidFill>
                <a:latin typeface="Calibri"/>
              </a:rPr>
              <a:t>   </a:t>
            </a:r>
            <a:r>
              <a:rPr sz="1100" b="0" i="0">
                <a:solidFill>
                  <a:srgbClr val="E8E8F0"/>
                </a:solidFill>
                <a:latin typeface="Calibri"/>
              </a:rPr>
              <a:t>No tourist-trap venues</a:t>
            </a:r>
            <a:endParaRPr sz="1100" b="0" i="0">
              <a:solidFill>
                <a:srgbClr val="E8E8F0"/>
              </a:solidFill>
              <a:latin typeface="Calibri"/>
            </a:endParaRPr>
          </a:p>
        </p:txBody>
      </p:sp>
      <p:sp>
        <p:nvSpPr>
          <p:cNvPr id="21" name="TextBox 20"/>
          <p:cNvSpPr txBox="1"/>
          <p:nvPr/>
        </p:nvSpPr>
        <p:spPr>
          <a:xfrm>
            <a:off x="868680" y="5586984"/>
            <a:ext cx="10424160" cy="201168"/>
          </a:xfrm>
          <a:prstGeom prst="rect">
            <a:avLst/>
          </a:prstGeom>
          <a:noFill/>
        </p:spPr>
        <p:txBody>
          <a:bodyPr wrap="square" lIns="0" tIns="0" rIns="0" bIns="0" anchor="t">
            <a:spAutoFit/>
          </a:bodyPr>
          <a:lstStyle/>
          <a:p>
            <a:pPr algn="l"/>
            <a:r>
              <a:rPr sz="950" b="0" i="0">
                <a:solidFill>
                  <a:srgbClr val="7878A0"/>
                </a:solidFill>
                <a:latin typeface="Consolas"/>
              </a:rPr>
              <a:t>none  ·  scope: all  ·  condition: has_tag = tourist-trap</a:t>
            </a:r>
            <a:endParaRPr sz="950" b="0" i="0">
              <a:solidFill>
                <a:srgbClr val="7878A0"/>
              </a:solidFill>
              <a:latin typeface="Consolas"/>
            </a:endParaRPr>
          </a:p>
        </p:txBody>
      </p:sp>
      <p:sp>
        <p:nvSpPr>
          <p:cNvPr id="22" name="Rounded Rectangle 21"/>
          <p:cNvSpPr/>
          <p:nvPr/>
        </p:nvSpPr>
        <p:spPr>
          <a:xfrm>
            <a:off x="731520" y="5852160"/>
            <a:ext cx="1069848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916168"/>
            <a:ext cx="10424160" cy="228600"/>
          </a:xfrm>
          <a:prstGeom prst="rect">
            <a:avLst/>
          </a:prstGeom>
          <a:noFill/>
        </p:spPr>
        <p:txBody>
          <a:bodyPr wrap="square" lIns="0" tIns="0" rIns="0" bIns="0" anchor="t">
            <a:spAutoFit/>
          </a:bodyPr>
          <a:lstStyle/>
          <a:p>
            <a:pPr algn="l"/>
            <a:r>
              <a:rPr sz="1000" b="1" i="0">
                <a:solidFill>
                  <a:srgbClr val="6C8EFF"/>
                </a:solidFill>
                <a:latin typeface="Consolas"/>
              </a:rPr>
              <a:t>pc_004</a:t>
            </a:r>
            <a:r>
              <a:rPr sz="1000" b="0" i="0">
                <a:solidFill>
                  <a:srgbClr val="E8E8F0"/>
                </a:solidFill>
                <a:latin typeface="Calibri"/>
              </a:rPr>
              <a:t>   </a:t>
            </a:r>
            <a:r>
              <a:rPr sz="900" b="0" i="0">
                <a:solidFill>
                  <a:srgbClr val="FFA84A"/>
                </a:solidFill>
                <a:latin typeface="Consolas"/>
              </a:rPr>
              <a:t>[hop-1]</a:t>
            </a:r>
            <a:r>
              <a:rPr sz="1000" b="0" i="0">
                <a:solidFill>
                  <a:srgbClr val="E8E8F0"/>
                </a:solidFill>
                <a:latin typeface="Calibri"/>
              </a:rPr>
              <a:t>   </a:t>
            </a:r>
            <a:r>
              <a:rPr sz="1100" b="0" i="0">
                <a:solidFill>
                  <a:srgbClr val="E8E8F0"/>
                </a:solidFill>
                <a:latin typeface="Calibri"/>
              </a:rPr>
              <a:t>All meal activities at budget-priced venues</a:t>
            </a:r>
            <a:endParaRPr sz="1100" b="0" i="0">
              <a:solidFill>
                <a:srgbClr val="E8E8F0"/>
              </a:solidFill>
              <a:latin typeface="Calibri"/>
            </a:endParaRPr>
          </a:p>
        </p:txBody>
      </p:sp>
      <p:sp>
        <p:nvSpPr>
          <p:cNvPr id="24" name="TextBox 23"/>
          <p:cNvSpPr txBox="1"/>
          <p:nvPr/>
        </p:nvSpPr>
        <p:spPr>
          <a:xfrm>
            <a:off x="868680" y="6135624"/>
            <a:ext cx="10424160" cy="201168"/>
          </a:xfrm>
          <a:prstGeom prst="rect">
            <a:avLst/>
          </a:prstGeom>
          <a:noFill/>
        </p:spPr>
        <p:txBody>
          <a:bodyPr wrap="square" lIns="0" tIns="0" rIns="0" bIns="0" anchor="t">
            <a:spAutoFit/>
          </a:bodyPr>
          <a:lstStyle/>
          <a:p>
            <a:pPr algn="l"/>
            <a:r>
              <a:rPr sz="950" b="0" i="0">
                <a:solidFill>
                  <a:srgbClr val="7878A0"/>
                </a:solidFill>
                <a:latin typeface="Consolas"/>
              </a:rPr>
              <a:t>all  ·  scope: activity_type=meal  ·  condition: price_tier &lt;= budget</a:t>
            </a:r>
            <a:endParaRPr sz="950" b="0" i="0">
              <a:solidFill>
                <a:srgbClr val="7878A0"/>
              </a:solidFill>
              <a:latin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12  —  SOLVING SANDBOX</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Strong-model walkthrough  ·  Gemini-3.1-Pro on NYC Type 4</a:t>
            </a:r>
            <a:endParaRPr sz="2200" b="0" i="0">
              <a:solidFill>
                <a:srgbClr val="E8E8F0"/>
              </a:solidFill>
              <a:latin typeface="Georgia" panose="02040502050405090303"/>
            </a:endParaRPr>
          </a:p>
        </p:txBody>
      </p:sp>
      <p:sp>
        <p:nvSpPr>
          <p:cNvPr id="4" name="TextBox 3"/>
          <p:cNvSpPr txBox="1"/>
          <p:nvPr/>
        </p:nvSpPr>
        <p:spPr>
          <a:xfrm>
            <a:off x="548640" y="960120"/>
            <a:ext cx="10972800" cy="457200"/>
          </a:xfrm>
          <a:prstGeom prst="rect">
            <a:avLst/>
          </a:prstGeom>
          <a:noFill/>
        </p:spPr>
        <p:txBody>
          <a:bodyPr wrap="square" lIns="0" tIns="0" rIns="0" bIns="0" anchor="t">
            <a:spAutoFit/>
          </a:bodyPr>
          <a:lstStyle/>
          <a:p>
            <a:pPr algn="l"/>
            <a:r>
              <a:rPr sz="1600" b="1" i="0">
                <a:solidFill>
                  <a:srgbClr val="E8E8F0"/>
                </a:solidFill>
                <a:latin typeface="Calibri"/>
              </a:rPr>
              <a:t>Phase 1 / 6  —  Initial Discovery — broad searches</a:t>
            </a:r>
            <a:endParaRPr sz="1600" b="1" i="0">
              <a:solidFill>
                <a:srgbClr val="E8E8F0"/>
              </a:solidFill>
              <a:latin typeface="Calibri"/>
            </a:endParaRPr>
          </a:p>
        </p:txBody>
      </p:sp>
      <p:sp>
        <p:nvSpPr>
          <p:cNvPr id="5" name="Rounded Rectangle 4"/>
          <p:cNvSpPr/>
          <p:nvPr/>
        </p:nvSpPr>
        <p:spPr>
          <a:xfrm>
            <a:off x="548640" y="1417320"/>
            <a:ext cx="1106424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90472"/>
            <a:ext cx="10698480" cy="201168"/>
          </a:xfrm>
          <a:prstGeom prst="rect">
            <a:avLst/>
          </a:prstGeom>
          <a:noFill/>
        </p:spPr>
        <p:txBody>
          <a:bodyPr wrap="square" lIns="0" tIns="0" rIns="0" bIns="0" anchor="t">
            <a:spAutoFit/>
          </a:bodyPr>
          <a:lstStyle/>
          <a:p>
            <a:pPr algn="l"/>
            <a:r>
              <a:rPr sz="1000" b="1" i="0">
                <a:solidFill>
                  <a:srgbClr val="6C8EFF"/>
                </a:solidFill>
                <a:latin typeface="Consolas"/>
              </a:rPr>
              <a:t>gpt_5_4_new_york_type4_20260521_1779375371   </a:t>
            </a:r>
            <a:r>
              <a:rPr sz="900" b="0" i="0">
                <a:solidFill>
                  <a:srgbClr val="7878A0"/>
                </a:solidFill>
                <a:latin typeface="Consolas"/>
              </a:rPr>
              <a:t>$24/day · free-entry sights · no tourist traps · budget meals · 2-day Jul 4</a:t>
            </a:r>
            <a:endParaRPr sz="900" b="0" i="0">
              <a:solidFill>
                <a:srgbClr val="7878A0"/>
              </a:solidFill>
              <a:latin typeface="Consolas"/>
            </a:endParaRPr>
          </a:p>
        </p:txBody>
      </p:sp>
      <p:sp>
        <p:nvSpPr>
          <p:cNvPr id="7" name="TextBox 6"/>
          <p:cNvSpPr txBox="1"/>
          <p:nvPr/>
        </p:nvSpPr>
        <p:spPr>
          <a:xfrm>
            <a:off x="731520" y="1691640"/>
            <a:ext cx="10698480" cy="201168"/>
          </a:xfrm>
          <a:prstGeom prst="rect">
            <a:avLst/>
          </a:prstGeom>
          <a:noFill/>
        </p:spPr>
        <p:txBody>
          <a:bodyPr wrap="square" lIns="0" tIns="0" rIns="0" bIns="0" anchor="t">
            <a:spAutoFit/>
          </a:bodyPr>
          <a:lstStyle/>
          <a:p>
            <a:pPr algn="l"/>
            <a:r>
              <a:rPr sz="1000" b="1" i="0">
                <a:solidFill>
                  <a:srgbClr val="6CFFC8"/>
                </a:solidFill>
                <a:latin typeface="Consolas"/>
              </a:rPr>
              <a:t>●  gemini-3.1-pro-preview   </a:t>
            </a:r>
            <a:r>
              <a:rPr sz="1000" b="0" i="0">
                <a:solidFill>
                  <a:srgbClr val="6CFFC8"/>
                </a:solidFill>
                <a:latin typeface="Consolas"/>
              </a:rPr>
              <a:t>final  C 84%  F 63%  P 75%</a:t>
            </a:r>
            <a:endParaRPr sz="1000" b="0" i="0">
              <a:solidFill>
                <a:srgbClr val="6CFFC8"/>
              </a:solidFill>
              <a:latin typeface="Consolas"/>
            </a:endParaRPr>
          </a:p>
        </p:txBody>
      </p:sp>
      <p:sp>
        <p:nvSpPr>
          <p:cNvPr id="8" name="Rounded Rectangle 7"/>
          <p:cNvSpPr/>
          <p:nvPr/>
        </p:nvSpPr>
        <p:spPr>
          <a:xfrm>
            <a:off x="548640" y="2057400"/>
            <a:ext cx="11064240" cy="640080"/>
          </a:xfrm>
          <a:prstGeom prst="roundRect">
            <a:avLst>
              <a:gd name="adj" fmla="val 6000"/>
            </a:avLst>
          </a:prstGeom>
          <a:solidFill>
            <a:srgbClr val="122A22"/>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10698480" cy="457200"/>
          </a:xfrm>
          <a:prstGeom prst="rect">
            <a:avLst/>
          </a:prstGeom>
          <a:noFill/>
        </p:spPr>
        <p:txBody>
          <a:bodyPr wrap="square" lIns="0" tIns="0" rIns="0" bIns="0" anchor="t">
            <a:spAutoFit/>
          </a:bodyPr>
          <a:lstStyle/>
          <a:p>
            <a:pPr algn="l"/>
            <a:r>
              <a:rPr sz="1200" b="0" i="1">
                <a:solidFill>
                  <a:srgbClr val="E8E8F0"/>
                </a:solidFill>
                <a:latin typeface="Calibri"/>
              </a:rPr>
              <a:t>Rapid Yelp scans across budget restaurants, free parks, free attractions to populate the candidate pool.</a:t>
            </a:r>
            <a:endParaRPr sz="1200" b="0" i="1">
              <a:solidFill>
                <a:srgbClr val="E8E8F0"/>
              </a:solidFill>
              <a:latin typeface="Calibri"/>
            </a:endParaRPr>
          </a:p>
        </p:txBody>
      </p:sp>
      <p:sp>
        <p:nvSpPr>
          <p:cNvPr id="10" name="Rounded Rectangle 9"/>
          <p:cNvSpPr/>
          <p:nvPr/>
        </p:nvSpPr>
        <p:spPr>
          <a:xfrm>
            <a:off x="548640" y="28346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07792"/>
            <a:ext cx="10698480" cy="228600"/>
          </a:xfrm>
          <a:prstGeom prst="rect">
            <a:avLst/>
          </a:prstGeom>
          <a:noFill/>
        </p:spPr>
        <p:txBody>
          <a:bodyPr wrap="square" lIns="0" tIns="0" rIns="0" bIns="0" anchor="t">
            <a:spAutoFit/>
          </a:bodyPr>
          <a:lstStyle/>
          <a:p>
            <a:pPr algn="l"/>
            <a:r>
              <a:rPr sz="1050" b="1" i="0">
                <a:solidFill>
                  <a:srgbClr val="6C8EFF"/>
                </a:solidFill>
                <a:latin typeface="Consolas"/>
              </a:rPr>
              <a:t>search_yelp   </a:t>
            </a:r>
            <a:r>
              <a:rPr sz="1050" b="0" i="0">
                <a:solidFill>
                  <a:srgbClr val="6C8EFF"/>
                </a:solidFill>
                <a:latin typeface="Consolas"/>
              </a:rPr>
              <a:t>search_yelp(query="cheap eats", top_k=10)</a:t>
            </a:r>
            <a:endParaRPr sz="1050" b="0" i="0">
              <a:solidFill>
                <a:srgbClr val="6C8EFF"/>
              </a:solidFill>
              <a:latin typeface="Consolas"/>
            </a:endParaRPr>
          </a:p>
        </p:txBody>
      </p:sp>
      <p:sp>
        <p:nvSpPr>
          <p:cNvPr id="12" name="TextBox 11"/>
          <p:cNvSpPr txBox="1"/>
          <p:nvPr/>
        </p:nvSpPr>
        <p:spPr>
          <a:xfrm>
            <a:off x="731520" y="31546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budget restaurant clusters discovered</a:t>
            </a:r>
            <a:endParaRPr sz="1000" b="0" i="0">
              <a:solidFill>
                <a:srgbClr val="7878A0"/>
              </a:solidFill>
              <a:latin typeface="Consolas"/>
            </a:endParaRPr>
          </a:p>
        </p:txBody>
      </p:sp>
      <p:sp>
        <p:nvSpPr>
          <p:cNvPr id="13" name="Rounded Rectangle 12"/>
          <p:cNvSpPr/>
          <p:nvPr/>
        </p:nvSpPr>
        <p:spPr>
          <a:xfrm>
            <a:off x="548640" y="35204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593592"/>
            <a:ext cx="10698480" cy="228600"/>
          </a:xfrm>
          <a:prstGeom prst="rect">
            <a:avLst/>
          </a:prstGeom>
          <a:noFill/>
        </p:spPr>
        <p:txBody>
          <a:bodyPr wrap="square" lIns="0" tIns="0" rIns="0" bIns="0" anchor="t">
            <a:spAutoFit/>
          </a:bodyPr>
          <a:lstStyle/>
          <a:p>
            <a:pPr algn="l"/>
            <a:r>
              <a:rPr sz="1050" b="1" i="0">
                <a:solidFill>
                  <a:srgbClr val="6C8EFF"/>
                </a:solidFill>
                <a:latin typeface="Consolas"/>
              </a:rPr>
              <a:t>search_yelp   </a:t>
            </a:r>
            <a:r>
              <a:rPr sz="1050" b="0" i="0">
                <a:solidFill>
                  <a:srgbClr val="6C8EFF"/>
                </a:solidFill>
                <a:latin typeface="Consolas"/>
              </a:rPr>
              <a:t>search_yelp(category="park", query="free")</a:t>
            </a:r>
            <a:endParaRPr sz="1050" b="0" i="0">
              <a:solidFill>
                <a:srgbClr val="6C8EFF"/>
              </a:solidFill>
              <a:latin typeface="Consolas"/>
            </a:endParaRPr>
          </a:p>
        </p:txBody>
      </p:sp>
      <p:sp>
        <p:nvSpPr>
          <p:cNvPr id="15" name="TextBox 14"/>
          <p:cNvSpPr txBox="1"/>
          <p:nvPr/>
        </p:nvSpPr>
        <p:spPr>
          <a:xfrm>
            <a:off x="731520" y="38404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Central Park · The High Line · Brooklyn Bridge Park</a:t>
            </a:r>
            <a:endParaRPr sz="1000" b="0" i="0">
              <a:solidFill>
                <a:srgbClr val="7878A0"/>
              </a:solidFill>
              <a:latin typeface="Consolas"/>
            </a:endParaRPr>
          </a:p>
        </p:txBody>
      </p:sp>
      <p:sp>
        <p:nvSpPr>
          <p:cNvPr id="16" name="Rounded Rectangle 15"/>
          <p:cNvSpPr/>
          <p:nvPr/>
        </p:nvSpPr>
        <p:spPr>
          <a:xfrm>
            <a:off x="548640" y="42062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79392"/>
            <a:ext cx="10698480" cy="228600"/>
          </a:xfrm>
          <a:prstGeom prst="rect">
            <a:avLst/>
          </a:prstGeom>
          <a:noFill/>
        </p:spPr>
        <p:txBody>
          <a:bodyPr wrap="square" lIns="0" tIns="0" rIns="0" bIns="0" anchor="t">
            <a:spAutoFit/>
          </a:bodyPr>
          <a:lstStyle/>
          <a:p>
            <a:pPr algn="l"/>
            <a:r>
              <a:rPr sz="1050" b="1" i="0">
                <a:solidFill>
                  <a:srgbClr val="6C8EFF"/>
                </a:solidFill>
                <a:latin typeface="Consolas"/>
              </a:rPr>
              <a:t>search_yelp   </a:t>
            </a:r>
            <a:r>
              <a:rPr sz="1050" b="0" i="0">
                <a:solidFill>
                  <a:srgbClr val="6C8EFF"/>
                </a:solidFill>
                <a:latin typeface="Consolas"/>
              </a:rPr>
              <a:t>search_yelp(category="attraction", query="free")</a:t>
            </a:r>
            <a:endParaRPr sz="1050" b="0" i="0">
              <a:solidFill>
                <a:srgbClr val="6C8EFF"/>
              </a:solidFill>
              <a:latin typeface="Consolas"/>
            </a:endParaRPr>
          </a:p>
        </p:txBody>
      </p:sp>
      <p:sp>
        <p:nvSpPr>
          <p:cNvPr id="18" name="TextBox 17"/>
          <p:cNvSpPr txBox="1"/>
          <p:nvPr/>
        </p:nvSpPr>
        <p:spPr>
          <a:xfrm>
            <a:off x="731520" y="45262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~25-venue shortlist built across categories</a:t>
            </a:r>
            <a:endParaRPr sz="1000" b="0" i="0">
              <a:solidFill>
                <a:srgbClr val="7878A0"/>
              </a:solidFill>
              <a:latin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12  —  SOLVING SANDBOX</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Strong-model walkthrough  ·  Gemini-3.1-Pro on NYC Type 4</a:t>
            </a:r>
            <a:endParaRPr sz="2200" b="0" i="0">
              <a:solidFill>
                <a:srgbClr val="E8E8F0"/>
              </a:solidFill>
              <a:latin typeface="Georgia" panose="02040502050405090303"/>
            </a:endParaRPr>
          </a:p>
        </p:txBody>
      </p:sp>
      <p:sp>
        <p:nvSpPr>
          <p:cNvPr id="4" name="TextBox 3"/>
          <p:cNvSpPr txBox="1"/>
          <p:nvPr/>
        </p:nvSpPr>
        <p:spPr>
          <a:xfrm>
            <a:off x="548640" y="960120"/>
            <a:ext cx="10972800" cy="457200"/>
          </a:xfrm>
          <a:prstGeom prst="rect">
            <a:avLst/>
          </a:prstGeom>
          <a:noFill/>
        </p:spPr>
        <p:txBody>
          <a:bodyPr wrap="square" lIns="0" tIns="0" rIns="0" bIns="0" anchor="t">
            <a:spAutoFit/>
          </a:bodyPr>
          <a:lstStyle/>
          <a:p>
            <a:pPr algn="l"/>
            <a:r>
              <a:rPr sz="1600" b="1" i="0">
                <a:solidFill>
                  <a:srgbClr val="E8E8F0"/>
                </a:solidFill>
                <a:latin typeface="Calibri"/>
              </a:rPr>
              <a:t>Phase 2 / 6  —  Cross-Check — blog vetting for tourist traps</a:t>
            </a:r>
            <a:endParaRPr sz="1600" b="1" i="0">
              <a:solidFill>
                <a:srgbClr val="E8E8F0"/>
              </a:solidFill>
              <a:latin typeface="Calibri"/>
            </a:endParaRPr>
          </a:p>
        </p:txBody>
      </p:sp>
      <p:sp>
        <p:nvSpPr>
          <p:cNvPr id="5" name="Rounded Rectangle 4"/>
          <p:cNvSpPr/>
          <p:nvPr/>
        </p:nvSpPr>
        <p:spPr>
          <a:xfrm>
            <a:off x="548640" y="1417320"/>
            <a:ext cx="1106424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90472"/>
            <a:ext cx="10698480" cy="201168"/>
          </a:xfrm>
          <a:prstGeom prst="rect">
            <a:avLst/>
          </a:prstGeom>
          <a:noFill/>
        </p:spPr>
        <p:txBody>
          <a:bodyPr wrap="square" lIns="0" tIns="0" rIns="0" bIns="0" anchor="t">
            <a:spAutoFit/>
          </a:bodyPr>
          <a:lstStyle/>
          <a:p>
            <a:pPr algn="l"/>
            <a:r>
              <a:rPr sz="1000" b="1" i="0">
                <a:solidFill>
                  <a:srgbClr val="6C8EFF"/>
                </a:solidFill>
                <a:latin typeface="Consolas"/>
              </a:rPr>
              <a:t>gpt_5_4_new_york_type4_20260521_1779375371   </a:t>
            </a:r>
            <a:r>
              <a:rPr sz="900" b="0" i="0">
                <a:solidFill>
                  <a:srgbClr val="7878A0"/>
                </a:solidFill>
                <a:latin typeface="Consolas"/>
              </a:rPr>
              <a:t>$24/day · free-entry sights · no tourist traps · budget meals · 2-day Jul 4</a:t>
            </a:r>
            <a:endParaRPr sz="900" b="0" i="0">
              <a:solidFill>
                <a:srgbClr val="7878A0"/>
              </a:solidFill>
              <a:latin typeface="Consolas"/>
            </a:endParaRPr>
          </a:p>
        </p:txBody>
      </p:sp>
      <p:sp>
        <p:nvSpPr>
          <p:cNvPr id="7" name="TextBox 6"/>
          <p:cNvSpPr txBox="1"/>
          <p:nvPr/>
        </p:nvSpPr>
        <p:spPr>
          <a:xfrm>
            <a:off x="731520" y="1691640"/>
            <a:ext cx="10698480" cy="201168"/>
          </a:xfrm>
          <a:prstGeom prst="rect">
            <a:avLst/>
          </a:prstGeom>
          <a:noFill/>
        </p:spPr>
        <p:txBody>
          <a:bodyPr wrap="square" lIns="0" tIns="0" rIns="0" bIns="0" anchor="t">
            <a:spAutoFit/>
          </a:bodyPr>
          <a:lstStyle/>
          <a:p>
            <a:pPr algn="l"/>
            <a:r>
              <a:rPr sz="1000" b="1" i="0">
                <a:solidFill>
                  <a:srgbClr val="6CFFC8"/>
                </a:solidFill>
                <a:latin typeface="Consolas"/>
              </a:rPr>
              <a:t>●  gemini-3.1-pro-preview   </a:t>
            </a:r>
            <a:r>
              <a:rPr sz="1000" b="0" i="0">
                <a:solidFill>
                  <a:srgbClr val="6CFFC8"/>
                </a:solidFill>
                <a:latin typeface="Consolas"/>
              </a:rPr>
              <a:t>final  C 84%  F 63%  P 75%</a:t>
            </a:r>
            <a:endParaRPr sz="1000" b="0" i="0">
              <a:solidFill>
                <a:srgbClr val="6CFFC8"/>
              </a:solidFill>
              <a:latin typeface="Consolas"/>
            </a:endParaRPr>
          </a:p>
        </p:txBody>
      </p:sp>
      <p:sp>
        <p:nvSpPr>
          <p:cNvPr id="8" name="Rounded Rectangle 7"/>
          <p:cNvSpPr/>
          <p:nvPr/>
        </p:nvSpPr>
        <p:spPr>
          <a:xfrm>
            <a:off x="548640" y="2057400"/>
            <a:ext cx="11064240" cy="640080"/>
          </a:xfrm>
          <a:prstGeom prst="roundRect">
            <a:avLst>
              <a:gd name="adj" fmla="val 6000"/>
            </a:avLst>
          </a:prstGeom>
          <a:solidFill>
            <a:srgbClr val="122A22"/>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10698480" cy="457200"/>
          </a:xfrm>
          <a:prstGeom prst="rect">
            <a:avLst/>
          </a:prstGeom>
          <a:noFill/>
        </p:spPr>
        <p:txBody>
          <a:bodyPr wrap="square" lIns="0" tIns="0" rIns="0" bIns="0" anchor="t">
            <a:spAutoFit/>
          </a:bodyPr>
          <a:lstStyle/>
          <a:p>
            <a:pPr algn="l"/>
            <a:r>
              <a:rPr sz="1200" b="0" i="1">
                <a:solidFill>
                  <a:srgbClr val="E8E8F0"/>
                </a:solidFill>
                <a:latin typeface="Calibri"/>
              </a:rPr>
              <a:t>Iterative blog searches to validate Yelp picks and catch tourist-trap red flags BEFORE committing.</a:t>
            </a:r>
            <a:endParaRPr sz="1200" b="0" i="1">
              <a:solidFill>
                <a:srgbClr val="E8E8F0"/>
              </a:solidFill>
              <a:latin typeface="Calibri"/>
            </a:endParaRPr>
          </a:p>
        </p:txBody>
      </p:sp>
      <p:sp>
        <p:nvSpPr>
          <p:cNvPr id="10" name="Rounded Rectangle 9"/>
          <p:cNvSpPr/>
          <p:nvPr/>
        </p:nvSpPr>
        <p:spPr>
          <a:xfrm>
            <a:off x="548640" y="28346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07792"/>
            <a:ext cx="10698480" cy="228600"/>
          </a:xfrm>
          <a:prstGeom prst="rect">
            <a:avLst/>
          </a:prstGeom>
          <a:noFill/>
        </p:spPr>
        <p:txBody>
          <a:bodyPr wrap="square" lIns="0" tIns="0" rIns="0" bIns="0" anchor="t">
            <a:spAutoFit/>
          </a:bodyPr>
          <a:lstStyle/>
          <a:p>
            <a:pPr algn="l"/>
            <a:r>
              <a:rPr sz="1050" b="1" i="0">
                <a:solidFill>
                  <a:srgbClr val="C87EFF"/>
                </a:solidFill>
                <a:latin typeface="Consolas"/>
              </a:rPr>
              <a:t>search_blogs_and_forums   </a:t>
            </a:r>
            <a:r>
              <a:rPr sz="1050" b="0" i="0">
                <a:solidFill>
                  <a:srgbClr val="C87EFF"/>
                </a:solidFill>
                <a:latin typeface="Consolas"/>
              </a:rPr>
              <a:t>search_blogs("best free things to do avoid tourist traps")</a:t>
            </a:r>
            <a:endParaRPr sz="1050" b="0" i="0">
              <a:solidFill>
                <a:srgbClr val="C87EFF"/>
              </a:solidFill>
              <a:latin typeface="Consolas"/>
            </a:endParaRPr>
          </a:p>
        </p:txBody>
      </p:sp>
      <p:sp>
        <p:nvSpPr>
          <p:cNvPr id="12" name="TextBox 11"/>
          <p:cNvSpPr txBox="1"/>
          <p:nvPr/>
        </p:nvSpPr>
        <p:spPr>
          <a:xfrm>
            <a:off x="731520" y="31546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vetting framework established</a:t>
            </a:r>
            <a:endParaRPr sz="1000" b="0" i="0">
              <a:solidFill>
                <a:srgbClr val="7878A0"/>
              </a:solidFill>
              <a:latin typeface="Consolas"/>
            </a:endParaRPr>
          </a:p>
        </p:txBody>
      </p:sp>
      <p:sp>
        <p:nvSpPr>
          <p:cNvPr id="13" name="Rounded Rectangle 12"/>
          <p:cNvSpPr/>
          <p:nvPr/>
        </p:nvSpPr>
        <p:spPr>
          <a:xfrm>
            <a:off x="548640" y="35204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593592"/>
            <a:ext cx="10698480" cy="228600"/>
          </a:xfrm>
          <a:prstGeom prst="rect">
            <a:avLst/>
          </a:prstGeom>
          <a:noFill/>
        </p:spPr>
        <p:txBody>
          <a:bodyPr wrap="square" lIns="0" tIns="0" rIns="0" bIns="0" anchor="t">
            <a:spAutoFit/>
          </a:bodyPr>
          <a:lstStyle/>
          <a:p>
            <a:pPr algn="l"/>
            <a:r>
              <a:rPr sz="1050" b="1" i="0">
                <a:solidFill>
                  <a:srgbClr val="C87EFF"/>
                </a:solidFill>
                <a:latin typeface="Consolas"/>
              </a:rPr>
              <a:t>search_blogs_and_forums   </a:t>
            </a:r>
            <a:r>
              <a:rPr sz="1050" b="0" i="0">
                <a:solidFill>
                  <a:srgbClr val="C87EFF"/>
                </a:solidFill>
                <a:latin typeface="Consolas"/>
              </a:rPr>
              <a:t>search_blogs("best dollar pizza cheap dumplings Chinatown")</a:t>
            </a:r>
            <a:endParaRPr sz="1050" b="0" i="0">
              <a:solidFill>
                <a:srgbClr val="C87EFF"/>
              </a:solidFill>
              <a:latin typeface="Consolas"/>
            </a:endParaRPr>
          </a:p>
        </p:txBody>
      </p:sp>
      <p:sp>
        <p:nvSpPr>
          <p:cNvPr id="15" name="TextBox 14"/>
          <p:cNvSpPr txBox="1"/>
          <p:nvPr/>
        </p:nvSpPr>
        <p:spPr>
          <a:xfrm>
            <a:off x="731520" y="38404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neighborhood deep-dive, locals' picks identified</a:t>
            </a:r>
            <a:endParaRPr sz="1000" b="0" i="0">
              <a:solidFill>
                <a:srgbClr val="7878A0"/>
              </a:solidFill>
              <a:latin typeface="Consolas"/>
            </a:endParaRPr>
          </a:p>
        </p:txBody>
      </p:sp>
      <p:sp>
        <p:nvSpPr>
          <p:cNvPr id="16" name="Rounded Rectangle 15"/>
          <p:cNvSpPr/>
          <p:nvPr/>
        </p:nvSpPr>
        <p:spPr>
          <a:xfrm>
            <a:off x="548640" y="42062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79392"/>
            <a:ext cx="10698480" cy="228600"/>
          </a:xfrm>
          <a:prstGeom prst="rect">
            <a:avLst/>
          </a:prstGeom>
          <a:noFill/>
        </p:spPr>
        <p:txBody>
          <a:bodyPr wrap="square" lIns="0" tIns="0" rIns="0" bIns="0" anchor="t">
            <a:spAutoFit/>
          </a:bodyPr>
          <a:lstStyle/>
          <a:p>
            <a:pPr algn="l"/>
            <a:r>
              <a:rPr sz="1050" b="1" i="0">
                <a:solidFill>
                  <a:srgbClr val="C87EFF"/>
                </a:solidFill>
                <a:latin typeface="Consolas"/>
              </a:rPr>
              <a:t>search_blogs_and_forums   </a:t>
            </a:r>
            <a:r>
              <a:rPr sz="1050" b="0" i="0">
                <a:solidFill>
                  <a:srgbClr val="C87EFF"/>
                </a:solidFill>
                <a:latin typeface="Consolas"/>
              </a:rPr>
              <a:t>search_blogs("Punjabi Grocery Deli price")</a:t>
            </a:r>
            <a:endParaRPr sz="1050" b="0" i="0">
              <a:solidFill>
                <a:srgbClr val="C87EFF"/>
              </a:solidFill>
              <a:latin typeface="Consolas"/>
            </a:endParaRPr>
          </a:p>
        </p:txBody>
      </p:sp>
      <p:sp>
        <p:nvSpPr>
          <p:cNvPr id="18" name="TextBox 17"/>
          <p:cNvSpPr txBox="1"/>
          <p:nvPr/>
        </p:nvSpPr>
        <p:spPr>
          <a:xfrm>
            <a:off x="731520" y="45262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specific venue price confirmation</a:t>
            </a:r>
            <a:endParaRPr sz="1000" b="0" i="0">
              <a:solidFill>
                <a:srgbClr val="7878A0"/>
              </a:solidFill>
              <a:latin typeface="Consolas"/>
            </a:endParaRPr>
          </a:p>
        </p:txBody>
      </p:sp>
      <p:sp>
        <p:nvSpPr>
          <p:cNvPr id="19" name="Rounded Rectangle 18"/>
          <p:cNvSpPr/>
          <p:nvPr/>
        </p:nvSpPr>
        <p:spPr>
          <a:xfrm>
            <a:off x="548640" y="48920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965192"/>
            <a:ext cx="10698480" cy="228600"/>
          </a:xfrm>
          <a:prstGeom prst="rect">
            <a:avLst/>
          </a:prstGeom>
          <a:noFill/>
        </p:spPr>
        <p:txBody>
          <a:bodyPr wrap="square" lIns="0" tIns="0" rIns="0" bIns="0" anchor="t">
            <a:spAutoFit/>
          </a:bodyPr>
          <a:lstStyle/>
          <a:p>
            <a:pPr algn="l"/>
            <a:r>
              <a:rPr sz="1050" b="1" i="0">
                <a:solidFill>
                  <a:srgbClr val="C87EFF"/>
                </a:solidFill>
                <a:latin typeface="Consolas"/>
              </a:rPr>
              <a:t>search_blogs_and_forums   </a:t>
            </a:r>
            <a:r>
              <a:rPr sz="1050" b="0" i="0">
                <a:solidFill>
                  <a:srgbClr val="C87EFF"/>
                </a:solidFill>
                <a:latin typeface="Consolas"/>
              </a:rPr>
              <a:t>search_blogs("cheap breakfast lunch under 10 dollars")</a:t>
            </a:r>
            <a:endParaRPr sz="1050" b="0" i="0">
              <a:solidFill>
                <a:srgbClr val="C87EFF"/>
              </a:solidFill>
              <a:latin typeface="Consolas"/>
            </a:endParaRPr>
          </a:p>
        </p:txBody>
      </p:sp>
      <p:sp>
        <p:nvSpPr>
          <p:cNvPr id="21" name="TextBox 20"/>
          <p:cNvSpPr txBox="1"/>
          <p:nvPr/>
        </p:nvSpPr>
        <p:spPr>
          <a:xfrm>
            <a:off x="731520" y="52120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budget range validation</a:t>
            </a:r>
            <a:endParaRPr sz="1000" b="0" i="0">
              <a:solidFill>
                <a:srgbClr val="7878A0"/>
              </a:solidFill>
              <a:latin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12  —  SOLVING SANDBOX</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Strong-model walkthrough  ·  Gemini-3.1-Pro on NYC Type 4</a:t>
            </a:r>
            <a:endParaRPr sz="2200" b="0" i="0">
              <a:solidFill>
                <a:srgbClr val="E8E8F0"/>
              </a:solidFill>
              <a:latin typeface="Georgia" panose="02040502050405090303"/>
            </a:endParaRPr>
          </a:p>
        </p:txBody>
      </p:sp>
      <p:sp>
        <p:nvSpPr>
          <p:cNvPr id="4" name="TextBox 3"/>
          <p:cNvSpPr txBox="1"/>
          <p:nvPr/>
        </p:nvSpPr>
        <p:spPr>
          <a:xfrm>
            <a:off x="548640" y="960120"/>
            <a:ext cx="10972800" cy="457200"/>
          </a:xfrm>
          <a:prstGeom prst="rect">
            <a:avLst/>
          </a:prstGeom>
          <a:noFill/>
        </p:spPr>
        <p:txBody>
          <a:bodyPr wrap="square" lIns="0" tIns="0" rIns="0" bIns="0" anchor="t">
            <a:spAutoFit/>
          </a:bodyPr>
          <a:lstStyle/>
          <a:p>
            <a:pPr algn="l"/>
            <a:r>
              <a:rPr sz="1600" b="1" i="0">
                <a:solidFill>
                  <a:srgbClr val="E8E8F0"/>
                </a:solidFill>
                <a:latin typeface="Calibri"/>
              </a:rPr>
              <a:t>Phase 3 / 6  —  Refined Meal Search — lock budget anchors</a:t>
            </a:r>
            <a:endParaRPr sz="1600" b="1" i="0">
              <a:solidFill>
                <a:srgbClr val="E8E8F0"/>
              </a:solidFill>
              <a:latin typeface="Calibri"/>
            </a:endParaRPr>
          </a:p>
        </p:txBody>
      </p:sp>
      <p:sp>
        <p:nvSpPr>
          <p:cNvPr id="5" name="Rounded Rectangle 4"/>
          <p:cNvSpPr/>
          <p:nvPr/>
        </p:nvSpPr>
        <p:spPr>
          <a:xfrm>
            <a:off x="548640" y="1417320"/>
            <a:ext cx="1106424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90472"/>
            <a:ext cx="10698480" cy="201168"/>
          </a:xfrm>
          <a:prstGeom prst="rect">
            <a:avLst/>
          </a:prstGeom>
          <a:noFill/>
        </p:spPr>
        <p:txBody>
          <a:bodyPr wrap="square" lIns="0" tIns="0" rIns="0" bIns="0" anchor="t">
            <a:spAutoFit/>
          </a:bodyPr>
          <a:lstStyle/>
          <a:p>
            <a:pPr algn="l"/>
            <a:r>
              <a:rPr sz="1000" b="1" i="0">
                <a:solidFill>
                  <a:srgbClr val="6C8EFF"/>
                </a:solidFill>
                <a:latin typeface="Consolas"/>
              </a:rPr>
              <a:t>gpt_5_4_new_york_type4_20260521_1779375371   </a:t>
            </a:r>
            <a:r>
              <a:rPr sz="900" b="0" i="0">
                <a:solidFill>
                  <a:srgbClr val="7878A0"/>
                </a:solidFill>
                <a:latin typeface="Consolas"/>
              </a:rPr>
              <a:t>$24/day · free-entry sights · no tourist traps · budget meals · 2-day Jul 4</a:t>
            </a:r>
            <a:endParaRPr sz="900" b="0" i="0">
              <a:solidFill>
                <a:srgbClr val="7878A0"/>
              </a:solidFill>
              <a:latin typeface="Consolas"/>
            </a:endParaRPr>
          </a:p>
        </p:txBody>
      </p:sp>
      <p:sp>
        <p:nvSpPr>
          <p:cNvPr id="7" name="TextBox 6"/>
          <p:cNvSpPr txBox="1"/>
          <p:nvPr/>
        </p:nvSpPr>
        <p:spPr>
          <a:xfrm>
            <a:off x="731520" y="1691640"/>
            <a:ext cx="10698480" cy="201168"/>
          </a:xfrm>
          <a:prstGeom prst="rect">
            <a:avLst/>
          </a:prstGeom>
          <a:noFill/>
        </p:spPr>
        <p:txBody>
          <a:bodyPr wrap="square" lIns="0" tIns="0" rIns="0" bIns="0" anchor="t">
            <a:spAutoFit/>
          </a:bodyPr>
          <a:lstStyle/>
          <a:p>
            <a:pPr algn="l"/>
            <a:r>
              <a:rPr sz="1000" b="1" i="0">
                <a:solidFill>
                  <a:srgbClr val="6CFFC8"/>
                </a:solidFill>
                <a:latin typeface="Consolas"/>
              </a:rPr>
              <a:t>●  gemini-3.1-pro-preview   </a:t>
            </a:r>
            <a:r>
              <a:rPr sz="1000" b="0" i="0">
                <a:solidFill>
                  <a:srgbClr val="6CFFC8"/>
                </a:solidFill>
                <a:latin typeface="Consolas"/>
              </a:rPr>
              <a:t>final  C 84%  F 63%  P 75%</a:t>
            </a:r>
            <a:endParaRPr sz="1000" b="0" i="0">
              <a:solidFill>
                <a:srgbClr val="6CFFC8"/>
              </a:solidFill>
              <a:latin typeface="Consolas"/>
            </a:endParaRPr>
          </a:p>
        </p:txBody>
      </p:sp>
      <p:sp>
        <p:nvSpPr>
          <p:cNvPr id="8" name="Rounded Rectangle 7"/>
          <p:cNvSpPr/>
          <p:nvPr/>
        </p:nvSpPr>
        <p:spPr>
          <a:xfrm>
            <a:off x="548640" y="2057400"/>
            <a:ext cx="11064240" cy="640080"/>
          </a:xfrm>
          <a:prstGeom prst="roundRect">
            <a:avLst>
              <a:gd name="adj" fmla="val 6000"/>
            </a:avLst>
          </a:prstGeom>
          <a:solidFill>
            <a:srgbClr val="122A22"/>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10698480" cy="457200"/>
          </a:xfrm>
          <a:prstGeom prst="rect">
            <a:avLst/>
          </a:prstGeom>
          <a:noFill/>
        </p:spPr>
        <p:txBody>
          <a:bodyPr wrap="square" lIns="0" tIns="0" rIns="0" bIns="0" anchor="t">
            <a:spAutoFit/>
          </a:bodyPr>
          <a:lstStyle/>
          <a:p>
            <a:pPr algn="l"/>
            <a:r>
              <a:rPr sz="1200" b="0" i="1">
                <a:solidFill>
                  <a:srgbClr val="E8E8F0"/>
                </a:solidFill>
                <a:latin typeface="Calibri"/>
              </a:rPr>
              <a:t>Targeted searches to lock specific meal anchors at $6-10 per item, leaving budget headroom.</a:t>
            </a:r>
            <a:endParaRPr sz="1200" b="0" i="1">
              <a:solidFill>
                <a:srgbClr val="E8E8F0"/>
              </a:solidFill>
              <a:latin typeface="Calibri"/>
            </a:endParaRPr>
          </a:p>
        </p:txBody>
      </p:sp>
      <p:sp>
        <p:nvSpPr>
          <p:cNvPr id="10" name="Rounded Rectangle 9"/>
          <p:cNvSpPr/>
          <p:nvPr/>
        </p:nvSpPr>
        <p:spPr>
          <a:xfrm>
            <a:off x="548640" y="28346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07792"/>
            <a:ext cx="10698480" cy="228600"/>
          </a:xfrm>
          <a:prstGeom prst="rect">
            <a:avLst/>
          </a:prstGeom>
          <a:noFill/>
        </p:spPr>
        <p:txBody>
          <a:bodyPr wrap="square" lIns="0" tIns="0" rIns="0" bIns="0" anchor="t">
            <a:spAutoFit/>
          </a:bodyPr>
          <a:lstStyle/>
          <a:p>
            <a:pPr algn="l"/>
            <a:r>
              <a:rPr sz="1050" b="1" i="0">
                <a:solidFill>
                  <a:srgbClr val="6C8EFF"/>
                </a:solidFill>
                <a:latin typeface="Consolas"/>
              </a:rPr>
              <a:t>search_yelp   </a:t>
            </a:r>
            <a:r>
              <a:rPr sz="1050" b="0" i="0">
                <a:solidFill>
                  <a:srgbClr val="6C8EFF"/>
                </a:solidFill>
                <a:latin typeface="Consolas"/>
              </a:rPr>
              <a:t>search_yelp(query="bagel", category="restaurant")</a:t>
            </a:r>
            <a:endParaRPr sz="1050" b="0" i="0">
              <a:solidFill>
                <a:srgbClr val="6C8EFF"/>
              </a:solidFill>
              <a:latin typeface="Consolas"/>
            </a:endParaRPr>
          </a:p>
        </p:txBody>
      </p:sp>
      <p:sp>
        <p:nvSpPr>
          <p:cNvPr id="12" name="TextBox 11"/>
          <p:cNvSpPr txBox="1"/>
          <p:nvPr/>
        </p:nvSpPr>
        <p:spPr>
          <a:xfrm>
            <a:off x="731520" y="31546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Ess-a-Bagel confirmed at $8</a:t>
            </a:r>
            <a:endParaRPr sz="1000" b="0" i="0">
              <a:solidFill>
                <a:srgbClr val="7878A0"/>
              </a:solidFill>
              <a:latin typeface="Consolas"/>
            </a:endParaRPr>
          </a:p>
        </p:txBody>
      </p:sp>
      <p:sp>
        <p:nvSpPr>
          <p:cNvPr id="13" name="Rounded Rectangle 12"/>
          <p:cNvSpPr/>
          <p:nvPr/>
        </p:nvSpPr>
        <p:spPr>
          <a:xfrm>
            <a:off x="548640" y="35204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593592"/>
            <a:ext cx="10698480" cy="228600"/>
          </a:xfrm>
          <a:prstGeom prst="rect">
            <a:avLst/>
          </a:prstGeom>
          <a:noFill/>
        </p:spPr>
        <p:txBody>
          <a:bodyPr wrap="square" lIns="0" tIns="0" rIns="0" bIns="0" anchor="t">
            <a:spAutoFit/>
          </a:bodyPr>
          <a:lstStyle/>
          <a:p>
            <a:pPr algn="l"/>
            <a:r>
              <a:rPr sz="1050" b="1" i="0">
                <a:solidFill>
                  <a:srgbClr val="6C8EFF"/>
                </a:solidFill>
                <a:latin typeface="Consolas"/>
              </a:rPr>
              <a:t>search_yelp   </a:t>
            </a:r>
            <a:r>
              <a:rPr sz="1050" b="0" i="0">
                <a:solidFill>
                  <a:srgbClr val="6C8EFF"/>
                </a:solidFill>
                <a:latin typeface="Consolas"/>
              </a:rPr>
              <a:t>search_yelp(query="dollar pizza", category="restaurant")</a:t>
            </a:r>
            <a:endParaRPr sz="1050" b="0" i="0">
              <a:solidFill>
                <a:srgbClr val="6C8EFF"/>
              </a:solidFill>
              <a:latin typeface="Consolas"/>
            </a:endParaRPr>
          </a:p>
        </p:txBody>
      </p:sp>
      <p:sp>
        <p:nvSpPr>
          <p:cNvPr id="15" name="TextBox 14"/>
          <p:cNvSpPr txBox="1"/>
          <p:nvPr/>
        </p:nvSpPr>
        <p:spPr>
          <a:xfrm>
            <a:off x="731520" y="38404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Ops shortlisted at $6</a:t>
            </a:r>
            <a:endParaRPr sz="1000" b="0" i="0">
              <a:solidFill>
                <a:srgbClr val="7878A0"/>
              </a:solidFill>
              <a:latin typeface="Consolas"/>
            </a:endParaRPr>
          </a:p>
        </p:txBody>
      </p:sp>
      <p:sp>
        <p:nvSpPr>
          <p:cNvPr id="16" name="Rounded Rectangle 15"/>
          <p:cNvSpPr/>
          <p:nvPr/>
        </p:nvSpPr>
        <p:spPr>
          <a:xfrm>
            <a:off x="548640" y="42062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79392"/>
            <a:ext cx="10698480" cy="228600"/>
          </a:xfrm>
          <a:prstGeom prst="rect">
            <a:avLst/>
          </a:prstGeom>
          <a:noFill/>
        </p:spPr>
        <p:txBody>
          <a:bodyPr wrap="square" lIns="0" tIns="0" rIns="0" bIns="0" anchor="t">
            <a:spAutoFit/>
          </a:bodyPr>
          <a:lstStyle/>
          <a:p>
            <a:pPr algn="l"/>
            <a:r>
              <a:rPr sz="1050" b="1" i="0">
                <a:solidFill>
                  <a:srgbClr val="6C8EFF"/>
                </a:solidFill>
                <a:latin typeface="Consolas"/>
              </a:rPr>
              <a:t>search_yelp   </a:t>
            </a:r>
            <a:r>
              <a:rPr sz="1050" b="0" i="0">
                <a:solidFill>
                  <a:srgbClr val="6C8EFF"/>
                </a:solidFill>
                <a:latin typeface="Consolas"/>
              </a:rPr>
              <a:t>search_yelp(query="chinatown", category="restaurant")</a:t>
            </a:r>
            <a:endParaRPr sz="1050" b="0" i="0">
              <a:solidFill>
                <a:srgbClr val="6C8EFF"/>
              </a:solidFill>
              <a:latin typeface="Consolas"/>
            </a:endParaRPr>
          </a:p>
        </p:txBody>
      </p:sp>
      <p:sp>
        <p:nvSpPr>
          <p:cNvPr id="18" name="TextBox 17"/>
          <p:cNvSpPr txBox="1"/>
          <p:nvPr/>
        </p:nvSpPr>
        <p:spPr>
          <a:xfrm>
            <a:off x="731520" y="4526280"/>
            <a:ext cx="10698480" cy="256032"/>
          </a:xfrm>
          <a:prstGeom prst="rect">
            <a:avLst/>
          </a:prstGeom>
          <a:noFill/>
        </p:spPr>
        <p:txBody>
          <a:bodyPr wrap="square" lIns="0" tIns="0" rIns="0" bIns="0" anchor="t">
            <a:spAutoFit/>
          </a:bodyPr>
          <a:lstStyle/>
          <a:p>
            <a:pPr algn="l"/>
            <a:r>
              <a:rPr sz="1000" b="0" i="0">
                <a:solidFill>
                  <a:srgbClr val="7878A0"/>
                </a:solidFill>
                <a:latin typeface="Consolas"/>
              </a:rPr>
              <a:t>→ Halal Guys at $10 added</a:t>
            </a:r>
            <a:endParaRPr sz="1000" b="0" i="0">
              <a:solidFill>
                <a:srgbClr val="7878A0"/>
              </a:solidFill>
              <a:latin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12  —  SOLVING SANDBOX</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Strong-model walkthrough  ·  Gemini-3.1-Pro on NYC Type 4</a:t>
            </a:r>
            <a:endParaRPr sz="2200" b="0" i="0">
              <a:solidFill>
                <a:srgbClr val="E8E8F0"/>
              </a:solidFill>
              <a:latin typeface="Georgia" panose="02040502050405090303"/>
            </a:endParaRPr>
          </a:p>
        </p:txBody>
      </p:sp>
      <p:sp>
        <p:nvSpPr>
          <p:cNvPr id="4" name="TextBox 3"/>
          <p:cNvSpPr txBox="1"/>
          <p:nvPr/>
        </p:nvSpPr>
        <p:spPr>
          <a:xfrm>
            <a:off x="548640" y="960120"/>
            <a:ext cx="10972800" cy="457200"/>
          </a:xfrm>
          <a:prstGeom prst="rect">
            <a:avLst/>
          </a:prstGeom>
          <a:noFill/>
        </p:spPr>
        <p:txBody>
          <a:bodyPr wrap="square" lIns="0" tIns="0" rIns="0" bIns="0" anchor="t">
            <a:spAutoFit/>
          </a:bodyPr>
          <a:lstStyle/>
          <a:p>
            <a:pPr algn="l"/>
            <a:r>
              <a:rPr sz="1600" b="1" i="0">
                <a:solidFill>
                  <a:srgbClr val="E8E8F0"/>
                </a:solidFill>
                <a:latin typeface="Calibri"/>
              </a:rPr>
              <a:t>Phase 4 / 6  —  Travel Time Verification — confirm routing</a:t>
            </a:r>
            <a:endParaRPr sz="1600" b="1" i="0">
              <a:solidFill>
                <a:srgbClr val="E8E8F0"/>
              </a:solidFill>
              <a:latin typeface="Calibri"/>
            </a:endParaRPr>
          </a:p>
        </p:txBody>
      </p:sp>
      <p:sp>
        <p:nvSpPr>
          <p:cNvPr id="5" name="Rounded Rectangle 4"/>
          <p:cNvSpPr/>
          <p:nvPr/>
        </p:nvSpPr>
        <p:spPr>
          <a:xfrm>
            <a:off x="548640" y="1417320"/>
            <a:ext cx="1106424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90472"/>
            <a:ext cx="10698480" cy="201168"/>
          </a:xfrm>
          <a:prstGeom prst="rect">
            <a:avLst/>
          </a:prstGeom>
          <a:noFill/>
        </p:spPr>
        <p:txBody>
          <a:bodyPr wrap="square" lIns="0" tIns="0" rIns="0" bIns="0" anchor="t">
            <a:spAutoFit/>
          </a:bodyPr>
          <a:lstStyle/>
          <a:p>
            <a:pPr algn="l"/>
            <a:r>
              <a:rPr sz="1000" b="1" i="0">
                <a:solidFill>
                  <a:srgbClr val="6C8EFF"/>
                </a:solidFill>
                <a:latin typeface="Consolas"/>
              </a:rPr>
              <a:t>gpt_5_4_new_york_type4_20260521_1779375371   </a:t>
            </a:r>
            <a:r>
              <a:rPr sz="900" b="0" i="0">
                <a:solidFill>
                  <a:srgbClr val="7878A0"/>
                </a:solidFill>
                <a:latin typeface="Consolas"/>
              </a:rPr>
              <a:t>$24/day · free-entry sights · no tourist traps · budget meals · 2-day Jul 4</a:t>
            </a:r>
            <a:endParaRPr sz="900" b="0" i="0">
              <a:solidFill>
                <a:srgbClr val="7878A0"/>
              </a:solidFill>
              <a:latin typeface="Consolas"/>
            </a:endParaRPr>
          </a:p>
        </p:txBody>
      </p:sp>
      <p:sp>
        <p:nvSpPr>
          <p:cNvPr id="7" name="TextBox 6"/>
          <p:cNvSpPr txBox="1"/>
          <p:nvPr/>
        </p:nvSpPr>
        <p:spPr>
          <a:xfrm>
            <a:off x="731520" y="1691640"/>
            <a:ext cx="10698480" cy="201168"/>
          </a:xfrm>
          <a:prstGeom prst="rect">
            <a:avLst/>
          </a:prstGeom>
          <a:noFill/>
        </p:spPr>
        <p:txBody>
          <a:bodyPr wrap="square" lIns="0" tIns="0" rIns="0" bIns="0" anchor="t">
            <a:spAutoFit/>
          </a:bodyPr>
          <a:lstStyle/>
          <a:p>
            <a:pPr algn="l"/>
            <a:r>
              <a:rPr sz="1000" b="1" i="0">
                <a:solidFill>
                  <a:srgbClr val="6CFFC8"/>
                </a:solidFill>
                <a:latin typeface="Consolas"/>
              </a:rPr>
              <a:t>●  gemini-3.1-pro-preview   </a:t>
            </a:r>
            <a:r>
              <a:rPr sz="1000" b="0" i="0">
                <a:solidFill>
                  <a:srgbClr val="6CFFC8"/>
                </a:solidFill>
                <a:latin typeface="Consolas"/>
              </a:rPr>
              <a:t>final  C 84%  F 63%  P 75%</a:t>
            </a:r>
            <a:endParaRPr sz="1000" b="0" i="0">
              <a:solidFill>
                <a:srgbClr val="6CFFC8"/>
              </a:solidFill>
              <a:latin typeface="Consolas"/>
            </a:endParaRPr>
          </a:p>
        </p:txBody>
      </p:sp>
      <p:sp>
        <p:nvSpPr>
          <p:cNvPr id="8" name="Rounded Rectangle 7"/>
          <p:cNvSpPr/>
          <p:nvPr/>
        </p:nvSpPr>
        <p:spPr>
          <a:xfrm>
            <a:off x="548640" y="2057400"/>
            <a:ext cx="11064240" cy="640080"/>
          </a:xfrm>
          <a:prstGeom prst="roundRect">
            <a:avLst>
              <a:gd name="adj" fmla="val 6000"/>
            </a:avLst>
          </a:prstGeom>
          <a:solidFill>
            <a:srgbClr val="122A22"/>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10698480" cy="457200"/>
          </a:xfrm>
          <a:prstGeom prst="rect">
            <a:avLst/>
          </a:prstGeom>
          <a:noFill/>
        </p:spPr>
        <p:txBody>
          <a:bodyPr wrap="square" lIns="0" tIns="0" rIns="0" bIns="0" anchor="t">
            <a:spAutoFit/>
          </a:bodyPr>
          <a:lstStyle/>
          <a:p>
            <a:pPr algn="l"/>
            <a:r>
              <a:rPr sz="1200" b="0" i="1">
                <a:solidFill>
                  <a:srgbClr val="E8E8F0"/>
                </a:solidFill>
                <a:latin typeface="Calibri"/>
              </a:rPr>
              <a:t>Called get_travel_time on every consecutive venue pair BEFORE finalising the schedule.</a:t>
            </a:r>
            <a:endParaRPr sz="1200" b="0" i="1">
              <a:solidFill>
                <a:srgbClr val="E8E8F0"/>
              </a:solidFill>
              <a:latin typeface="Calibri"/>
            </a:endParaRPr>
          </a:p>
        </p:txBody>
      </p:sp>
      <p:sp>
        <p:nvSpPr>
          <p:cNvPr id="10" name="Rounded Rectangle 9"/>
          <p:cNvSpPr/>
          <p:nvPr/>
        </p:nvSpPr>
        <p:spPr>
          <a:xfrm>
            <a:off x="548640" y="28346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07792"/>
            <a:ext cx="10698480" cy="228600"/>
          </a:xfrm>
          <a:prstGeom prst="rect">
            <a:avLst/>
          </a:prstGeom>
          <a:noFill/>
        </p:spPr>
        <p:txBody>
          <a:bodyPr wrap="square" lIns="0" tIns="0" rIns="0" bIns="0" anchor="t">
            <a:spAutoFit/>
          </a:bodyPr>
          <a:lstStyle/>
          <a:p>
            <a:pPr algn="l"/>
            <a:r>
              <a:rPr sz="1050" b="1" i="0">
                <a:solidFill>
                  <a:srgbClr val="FFA84A"/>
                </a:solidFill>
                <a:latin typeface="Consolas"/>
              </a:rPr>
              <a:t>get_travel_time   </a:t>
            </a:r>
            <a:r>
              <a:rPr sz="1050" b="0" i="0">
                <a:solidFill>
                  <a:srgbClr val="FFA84A"/>
                </a:solidFill>
                <a:latin typeface="Consolas"/>
              </a:rPr>
              <a:t>Central Park → Ess-a-Bagel</a:t>
            </a:r>
            <a:endParaRPr sz="1050" b="0" i="0">
              <a:solidFill>
                <a:srgbClr val="FFA84A"/>
              </a:solidFill>
              <a:latin typeface="Consolas"/>
            </a:endParaRPr>
          </a:p>
        </p:txBody>
      </p:sp>
      <p:sp>
        <p:nvSpPr>
          <p:cNvPr id="12" name="TextBox 11"/>
          <p:cNvSpPr txBox="1"/>
          <p:nvPr/>
        </p:nvSpPr>
        <p:spPr>
          <a:xfrm>
            <a:off x="731520" y="3154680"/>
            <a:ext cx="10698480" cy="256032"/>
          </a:xfrm>
          <a:prstGeom prst="rect">
            <a:avLst/>
          </a:prstGeom>
          <a:noFill/>
        </p:spPr>
        <p:txBody>
          <a:bodyPr wrap="square" lIns="0" tIns="0" rIns="0" bIns="0" anchor="t">
            <a:spAutoFit/>
          </a:bodyPr>
          <a:lstStyle/>
          <a:p>
            <a:pPr algn="l"/>
            <a:r>
              <a:rPr sz="1000" b="0" i="0">
                <a:solidFill>
                  <a:srgbClr val="7878A0"/>
                </a:solidFill>
                <a:latin typeface="Consolas"/>
              </a:rPr>
              <a:t>15 min transit · activity gap fits</a:t>
            </a:r>
            <a:endParaRPr sz="1000" b="0" i="0">
              <a:solidFill>
                <a:srgbClr val="7878A0"/>
              </a:solidFill>
              <a:latin typeface="Consolas"/>
            </a:endParaRPr>
          </a:p>
        </p:txBody>
      </p:sp>
      <p:sp>
        <p:nvSpPr>
          <p:cNvPr id="13" name="Rounded Rectangle 12"/>
          <p:cNvSpPr/>
          <p:nvPr/>
        </p:nvSpPr>
        <p:spPr>
          <a:xfrm>
            <a:off x="548640" y="35204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593592"/>
            <a:ext cx="10698480" cy="228600"/>
          </a:xfrm>
          <a:prstGeom prst="rect">
            <a:avLst/>
          </a:prstGeom>
          <a:noFill/>
        </p:spPr>
        <p:txBody>
          <a:bodyPr wrap="square" lIns="0" tIns="0" rIns="0" bIns="0" anchor="t">
            <a:spAutoFit/>
          </a:bodyPr>
          <a:lstStyle/>
          <a:p>
            <a:pPr algn="l"/>
            <a:r>
              <a:rPr sz="1050" b="1" i="0">
                <a:solidFill>
                  <a:srgbClr val="FFA84A"/>
                </a:solidFill>
                <a:latin typeface="Consolas"/>
              </a:rPr>
              <a:t>get_travel_time   </a:t>
            </a:r>
            <a:r>
              <a:rPr sz="1050" b="0" i="0">
                <a:solidFill>
                  <a:srgbClr val="FFA84A"/>
                </a:solidFill>
                <a:latin typeface="Consolas"/>
              </a:rPr>
              <a:t>Ess-a-Bagel → Rockefeller</a:t>
            </a:r>
            <a:endParaRPr sz="1050" b="0" i="0">
              <a:solidFill>
                <a:srgbClr val="FFA84A"/>
              </a:solidFill>
              <a:latin typeface="Consolas"/>
            </a:endParaRPr>
          </a:p>
        </p:txBody>
      </p:sp>
      <p:sp>
        <p:nvSpPr>
          <p:cNvPr id="15" name="TextBox 14"/>
          <p:cNvSpPr txBox="1"/>
          <p:nvPr/>
        </p:nvSpPr>
        <p:spPr>
          <a:xfrm>
            <a:off x="731520" y="3840480"/>
            <a:ext cx="10698480" cy="256032"/>
          </a:xfrm>
          <a:prstGeom prst="rect">
            <a:avLst/>
          </a:prstGeom>
          <a:noFill/>
        </p:spPr>
        <p:txBody>
          <a:bodyPr wrap="square" lIns="0" tIns="0" rIns="0" bIns="0" anchor="t">
            <a:spAutoFit/>
          </a:bodyPr>
          <a:lstStyle/>
          <a:p>
            <a:pPr algn="l"/>
            <a:r>
              <a:rPr sz="1000" b="0" i="0">
                <a:solidFill>
                  <a:srgbClr val="7878A0"/>
                </a:solidFill>
                <a:latin typeface="Consolas"/>
              </a:rPr>
              <a:t>15 min walk · fits</a:t>
            </a:r>
            <a:endParaRPr sz="1000" b="0" i="0">
              <a:solidFill>
                <a:srgbClr val="7878A0"/>
              </a:solidFill>
              <a:latin typeface="Consolas"/>
            </a:endParaRPr>
          </a:p>
        </p:txBody>
      </p:sp>
      <p:sp>
        <p:nvSpPr>
          <p:cNvPr id="16" name="Rounded Rectangle 15"/>
          <p:cNvSpPr/>
          <p:nvPr/>
        </p:nvSpPr>
        <p:spPr>
          <a:xfrm>
            <a:off x="548640" y="42062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79392"/>
            <a:ext cx="10698480" cy="228600"/>
          </a:xfrm>
          <a:prstGeom prst="rect">
            <a:avLst/>
          </a:prstGeom>
          <a:noFill/>
        </p:spPr>
        <p:txBody>
          <a:bodyPr wrap="square" lIns="0" tIns="0" rIns="0" bIns="0" anchor="t">
            <a:spAutoFit/>
          </a:bodyPr>
          <a:lstStyle/>
          <a:p>
            <a:pPr algn="l"/>
            <a:r>
              <a:rPr sz="1050" b="1" i="0">
                <a:solidFill>
                  <a:srgbClr val="FFA84A"/>
                </a:solidFill>
                <a:latin typeface="Consolas"/>
              </a:rPr>
              <a:t>get_travel_time   </a:t>
            </a:r>
            <a:r>
              <a:rPr sz="1050" b="0" i="0">
                <a:solidFill>
                  <a:srgbClr val="FFA84A"/>
                </a:solidFill>
                <a:latin typeface="Consolas"/>
              </a:rPr>
              <a:t>Rockefeller → The High Line</a:t>
            </a:r>
            <a:endParaRPr sz="1050" b="0" i="0">
              <a:solidFill>
                <a:srgbClr val="FFA84A"/>
              </a:solidFill>
              <a:latin typeface="Consolas"/>
            </a:endParaRPr>
          </a:p>
        </p:txBody>
      </p:sp>
      <p:sp>
        <p:nvSpPr>
          <p:cNvPr id="18" name="TextBox 17"/>
          <p:cNvSpPr txBox="1"/>
          <p:nvPr/>
        </p:nvSpPr>
        <p:spPr>
          <a:xfrm>
            <a:off x="731520" y="4526280"/>
            <a:ext cx="10698480" cy="256032"/>
          </a:xfrm>
          <a:prstGeom prst="rect">
            <a:avLst/>
          </a:prstGeom>
          <a:noFill/>
        </p:spPr>
        <p:txBody>
          <a:bodyPr wrap="square" lIns="0" tIns="0" rIns="0" bIns="0" anchor="t">
            <a:spAutoFit/>
          </a:bodyPr>
          <a:lstStyle/>
          <a:p>
            <a:pPr algn="l"/>
            <a:r>
              <a:rPr sz="1000" b="0" i="0">
                <a:solidFill>
                  <a:srgbClr val="7878A0"/>
                </a:solidFill>
                <a:latin typeface="Consolas"/>
              </a:rPr>
              <a:t>30 min transit · within buffer</a:t>
            </a:r>
            <a:endParaRPr sz="1000" b="0" i="0">
              <a:solidFill>
                <a:srgbClr val="7878A0"/>
              </a:solidFill>
              <a:latin typeface="Consolas"/>
            </a:endParaRPr>
          </a:p>
        </p:txBody>
      </p:sp>
      <p:sp>
        <p:nvSpPr>
          <p:cNvPr id="19" name="Rounded Rectangle 18"/>
          <p:cNvSpPr/>
          <p:nvPr/>
        </p:nvSpPr>
        <p:spPr>
          <a:xfrm>
            <a:off x="548640" y="48920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965192"/>
            <a:ext cx="10698480" cy="228600"/>
          </a:xfrm>
          <a:prstGeom prst="rect">
            <a:avLst/>
          </a:prstGeom>
          <a:noFill/>
        </p:spPr>
        <p:txBody>
          <a:bodyPr wrap="square" lIns="0" tIns="0" rIns="0" bIns="0" anchor="t">
            <a:spAutoFit/>
          </a:bodyPr>
          <a:lstStyle/>
          <a:p>
            <a:pPr algn="l"/>
            <a:r>
              <a:rPr sz="1050" b="1" i="0">
                <a:solidFill>
                  <a:srgbClr val="FFA84A"/>
                </a:solidFill>
                <a:latin typeface="Consolas"/>
              </a:rPr>
              <a:t>get_travel_time   </a:t>
            </a:r>
            <a:r>
              <a:rPr sz="1050" b="0" i="0">
                <a:solidFill>
                  <a:srgbClr val="FFA84A"/>
                </a:solidFill>
                <a:latin typeface="Consolas"/>
              </a:rPr>
              <a:t>Brooklyn Bridge → Ops pizza</a:t>
            </a:r>
            <a:endParaRPr sz="1050" b="0" i="0">
              <a:solidFill>
                <a:srgbClr val="FFA84A"/>
              </a:solidFill>
              <a:latin typeface="Consolas"/>
            </a:endParaRPr>
          </a:p>
        </p:txBody>
      </p:sp>
      <p:sp>
        <p:nvSpPr>
          <p:cNvPr id="21" name="TextBox 20"/>
          <p:cNvSpPr txBox="1"/>
          <p:nvPr/>
        </p:nvSpPr>
        <p:spPr>
          <a:xfrm>
            <a:off x="731520" y="5212080"/>
            <a:ext cx="10698480" cy="256032"/>
          </a:xfrm>
          <a:prstGeom prst="rect">
            <a:avLst/>
          </a:prstGeom>
          <a:noFill/>
        </p:spPr>
        <p:txBody>
          <a:bodyPr wrap="square" lIns="0" tIns="0" rIns="0" bIns="0" anchor="t">
            <a:spAutoFit/>
          </a:bodyPr>
          <a:lstStyle/>
          <a:p>
            <a:pPr algn="l"/>
            <a:r>
              <a:rPr sz="1000" b="0" i="0">
                <a:solidFill>
                  <a:srgbClr val="7878A0"/>
                </a:solidFill>
                <a:latin typeface="Consolas"/>
              </a:rPr>
              <a:t>complex routing — checked, fits</a:t>
            </a:r>
            <a:endParaRPr sz="1000" b="0" i="0">
              <a:solidFill>
                <a:srgbClr val="7878A0"/>
              </a:solidFill>
              <a:latin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12  —  SOLVING SANDBOX</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Strong-model walkthrough  ·  Gemini-3.1-Pro on NYC Type 4</a:t>
            </a:r>
            <a:endParaRPr sz="2200" b="0" i="0">
              <a:solidFill>
                <a:srgbClr val="E8E8F0"/>
              </a:solidFill>
              <a:latin typeface="Georgia" panose="02040502050405090303"/>
            </a:endParaRPr>
          </a:p>
        </p:txBody>
      </p:sp>
      <p:sp>
        <p:nvSpPr>
          <p:cNvPr id="4" name="TextBox 3"/>
          <p:cNvSpPr txBox="1"/>
          <p:nvPr/>
        </p:nvSpPr>
        <p:spPr>
          <a:xfrm>
            <a:off x="548640" y="960120"/>
            <a:ext cx="10972800" cy="457200"/>
          </a:xfrm>
          <a:prstGeom prst="rect">
            <a:avLst/>
          </a:prstGeom>
          <a:noFill/>
        </p:spPr>
        <p:txBody>
          <a:bodyPr wrap="square" lIns="0" tIns="0" rIns="0" bIns="0" anchor="t">
            <a:spAutoFit/>
          </a:bodyPr>
          <a:lstStyle/>
          <a:p>
            <a:pPr algn="l"/>
            <a:r>
              <a:rPr sz="1600" b="1" i="0">
                <a:solidFill>
                  <a:srgbClr val="E8E8F0"/>
                </a:solidFill>
                <a:latin typeface="Calibri"/>
              </a:rPr>
              <a:t>Phase 5 / 6  —  Assemble Plan — day-by-day budget allocation</a:t>
            </a:r>
            <a:endParaRPr sz="1600" b="1" i="0">
              <a:solidFill>
                <a:srgbClr val="E8E8F0"/>
              </a:solidFill>
              <a:latin typeface="Calibri"/>
            </a:endParaRPr>
          </a:p>
        </p:txBody>
      </p:sp>
      <p:sp>
        <p:nvSpPr>
          <p:cNvPr id="5" name="Rounded Rectangle 4"/>
          <p:cNvSpPr/>
          <p:nvPr/>
        </p:nvSpPr>
        <p:spPr>
          <a:xfrm>
            <a:off x="548640" y="1417320"/>
            <a:ext cx="1106424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90472"/>
            <a:ext cx="10698480" cy="201168"/>
          </a:xfrm>
          <a:prstGeom prst="rect">
            <a:avLst/>
          </a:prstGeom>
          <a:noFill/>
        </p:spPr>
        <p:txBody>
          <a:bodyPr wrap="square" lIns="0" tIns="0" rIns="0" bIns="0" anchor="t">
            <a:spAutoFit/>
          </a:bodyPr>
          <a:lstStyle/>
          <a:p>
            <a:pPr algn="l"/>
            <a:r>
              <a:rPr sz="1000" b="1" i="0">
                <a:solidFill>
                  <a:srgbClr val="6C8EFF"/>
                </a:solidFill>
                <a:latin typeface="Consolas"/>
              </a:rPr>
              <a:t>gpt_5_4_new_york_type4_20260521_1779375371   </a:t>
            </a:r>
            <a:r>
              <a:rPr sz="900" b="0" i="0">
                <a:solidFill>
                  <a:srgbClr val="7878A0"/>
                </a:solidFill>
                <a:latin typeface="Consolas"/>
              </a:rPr>
              <a:t>$24/day · free-entry sights · no tourist traps · budget meals · 2-day Jul 4</a:t>
            </a:r>
            <a:endParaRPr sz="900" b="0" i="0">
              <a:solidFill>
                <a:srgbClr val="7878A0"/>
              </a:solidFill>
              <a:latin typeface="Consolas"/>
            </a:endParaRPr>
          </a:p>
        </p:txBody>
      </p:sp>
      <p:sp>
        <p:nvSpPr>
          <p:cNvPr id="7" name="TextBox 6"/>
          <p:cNvSpPr txBox="1"/>
          <p:nvPr/>
        </p:nvSpPr>
        <p:spPr>
          <a:xfrm>
            <a:off x="731520" y="1691640"/>
            <a:ext cx="10698480" cy="201168"/>
          </a:xfrm>
          <a:prstGeom prst="rect">
            <a:avLst/>
          </a:prstGeom>
          <a:noFill/>
        </p:spPr>
        <p:txBody>
          <a:bodyPr wrap="square" lIns="0" tIns="0" rIns="0" bIns="0" anchor="t">
            <a:spAutoFit/>
          </a:bodyPr>
          <a:lstStyle/>
          <a:p>
            <a:pPr algn="l"/>
            <a:r>
              <a:rPr sz="1000" b="1" i="0">
                <a:solidFill>
                  <a:srgbClr val="6CFFC8"/>
                </a:solidFill>
                <a:latin typeface="Consolas"/>
              </a:rPr>
              <a:t>●  gemini-3.1-pro-preview   </a:t>
            </a:r>
            <a:r>
              <a:rPr sz="1000" b="0" i="0">
                <a:solidFill>
                  <a:srgbClr val="6CFFC8"/>
                </a:solidFill>
                <a:latin typeface="Consolas"/>
              </a:rPr>
              <a:t>final  C 84%  F 63%  P 75%</a:t>
            </a:r>
            <a:endParaRPr sz="1000" b="0" i="0">
              <a:solidFill>
                <a:srgbClr val="6CFFC8"/>
              </a:solidFill>
              <a:latin typeface="Consolas"/>
            </a:endParaRPr>
          </a:p>
        </p:txBody>
      </p:sp>
      <p:sp>
        <p:nvSpPr>
          <p:cNvPr id="8" name="Rounded Rectangle 7"/>
          <p:cNvSpPr/>
          <p:nvPr/>
        </p:nvSpPr>
        <p:spPr>
          <a:xfrm>
            <a:off x="548640" y="2057400"/>
            <a:ext cx="11064240" cy="640080"/>
          </a:xfrm>
          <a:prstGeom prst="roundRect">
            <a:avLst>
              <a:gd name="adj" fmla="val 6000"/>
            </a:avLst>
          </a:prstGeom>
          <a:solidFill>
            <a:srgbClr val="122A22"/>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10698480" cy="457200"/>
          </a:xfrm>
          <a:prstGeom prst="rect">
            <a:avLst/>
          </a:prstGeom>
          <a:noFill/>
        </p:spPr>
        <p:txBody>
          <a:bodyPr wrap="square" lIns="0" tIns="0" rIns="0" bIns="0" anchor="t">
            <a:spAutoFit/>
          </a:bodyPr>
          <a:lstStyle/>
          <a:p>
            <a:pPr algn="l"/>
            <a:r>
              <a:rPr sz="1200" b="0" i="1">
                <a:solidFill>
                  <a:srgbClr val="E8E8F0"/>
                </a:solidFill>
                <a:latin typeface="Calibri"/>
              </a:rPr>
              <a:t>Assembled the 2-day itinerary with explicit time blocks and per-day cost totals.</a:t>
            </a:r>
            <a:endParaRPr sz="1200" b="0" i="1">
              <a:solidFill>
                <a:srgbClr val="E8E8F0"/>
              </a:solidFill>
              <a:latin typeface="Calibri"/>
            </a:endParaRPr>
          </a:p>
        </p:txBody>
      </p:sp>
      <p:sp>
        <p:nvSpPr>
          <p:cNvPr id="10" name="Rounded Rectangle 9"/>
          <p:cNvSpPr/>
          <p:nvPr/>
        </p:nvSpPr>
        <p:spPr>
          <a:xfrm>
            <a:off x="548640" y="28346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07792"/>
            <a:ext cx="10698480" cy="228600"/>
          </a:xfrm>
          <a:prstGeom prst="rect">
            <a:avLst/>
          </a:prstGeom>
          <a:noFill/>
        </p:spPr>
        <p:txBody>
          <a:bodyPr wrap="square" lIns="0" tIns="0" rIns="0" bIns="0" anchor="t">
            <a:spAutoFit/>
          </a:bodyPr>
          <a:lstStyle/>
          <a:p>
            <a:pPr algn="l"/>
            <a:r>
              <a:rPr sz="1050" b="1" i="0">
                <a:solidFill>
                  <a:srgbClr val="6CFFC8"/>
                </a:solidFill>
                <a:latin typeface="Consolas"/>
              </a:rPr>
              <a:t>PLAN   </a:t>
            </a:r>
            <a:r>
              <a:rPr sz="1050" b="0" i="0">
                <a:solidFill>
                  <a:srgbClr val="6CFFC8"/>
                </a:solidFill>
                <a:latin typeface="Consolas"/>
              </a:rPr>
              <a:t>Day 1  —  Central Park · Ess-a-Bagel · Rockefeller · High Line · Halal Guys</a:t>
            </a:r>
            <a:endParaRPr sz="1050" b="0" i="0">
              <a:solidFill>
                <a:srgbClr val="6CFFC8"/>
              </a:solidFill>
              <a:latin typeface="Consolas"/>
            </a:endParaRPr>
          </a:p>
        </p:txBody>
      </p:sp>
      <p:sp>
        <p:nvSpPr>
          <p:cNvPr id="12" name="TextBox 11"/>
          <p:cNvSpPr txBox="1"/>
          <p:nvPr/>
        </p:nvSpPr>
        <p:spPr>
          <a:xfrm>
            <a:off x="731520" y="3154680"/>
            <a:ext cx="10698480" cy="256032"/>
          </a:xfrm>
          <a:prstGeom prst="rect">
            <a:avLst/>
          </a:prstGeom>
          <a:noFill/>
        </p:spPr>
        <p:txBody>
          <a:bodyPr wrap="square" lIns="0" tIns="0" rIns="0" bIns="0" anchor="t">
            <a:spAutoFit/>
          </a:bodyPr>
          <a:lstStyle/>
          <a:p>
            <a:pPr algn="l"/>
            <a:r>
              <a:rPr sz="1000" b="0" i="0">
                <a:solidFill>
                  <a:srgbClr val="7878A0"/>
                </a:solidFill>
                <a:latin typeface="Consolas"/>
              </a:rPr>
              <a:t>free + $8 + free + free + $10 + $6 transit = $24</a:t>
            </a:r>
            <a:endParaRPr sz="1000" b="0" i="0">
              <a:solidFill>
                <a:srgbClr val="7878A0"/>
              </a:solidFill>
              <a:latin typeface="Consolas"/>
            </a:endParaRPr>
          </a:p>
        </p:txBody>
      </p:sp>
      <p:sp>
        <p:nvSpPr>
          <p:cNvPr id="13" name="Rounded Rectangle 12"/>
          <p:cNvSpPr/>
          <p:nvPr/>
        </p:nvSpPr>
        <p:spPr>
          <a:xfrm>
            <a:off x="548640" y="35204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593592"/>
            <a:ext cx="10698480" cy="228600"/>
          </a:xfrm>
          <a:prstGeom prst="rect">
            <a:avLst/>
          </a:prstGeom>
          <a:noFill/>
        </p:spPr>
        <p:txBody>
          <a:bodyPr wrap="square" lIns="0" tIns="0" rIns="0" bIns="0" anchor="t">
            <a:spAutoFit/>
          </a:bodyPr>
          <a:lstStyle/>
          <a:p>
            <a:pPr algn="l"/>
            <a:r>
              <a:rPr sz="1050" b="1" i="0">
                <a:solidFill>
                  <a:srgbClr val="6CFFC8"/>
                </a:solidFill>
                <a:latin typeface="Consolas"/>
              </a:rPr>
              <a:t>PLAN   </a:t>
            </a:r>
            <a:r>
              <a:rPr sz="1050" b="0" i="0">
                <a:solidFill>
                  <a:srgbClr val="6CFFC8"/>
                </a:solidFill>
                <a:latin typeface="Consolas"/>
              </a:rPr>
              <a:t>Day 2  —  Brooklyn Bridge Park · Brooklyn Bridge · Ops · The Ramble · Ess-a-Bagel</a:t>
            </a:r>
            <a:endParaRPr sz="1050" b="0" i="0">
              <a:solidFill>
                <a:srgbClr val="6CFFC8"/>
              </a:solidFill>
              <a:latin typeface="Consolas"/>
            </a:endParaRPr>
          </a:p>
        </p:txBody>
      </p:sp>
      <p:sp>
        <p:nvSpPr>
          <p:cNvPr id="15" name="TextBox 14"/>
          <p:cNvSpPr txBox="1"/>
          <p:nvPr/>
        </p:nvSpPr>
        <p:spPr>
          <a:xfrm>
            <a:off x="731520" y="3840480"/>
            <a:ext cx="10698480" cy="256032"/>
          </a:xfrm>
          <a:prstGeom prst="rect">
            <a:avLst/>
          </a:prstGeom>
          <a:noFill/>
        </p:spPr>
        <p:txBody>
          <a:bodyPr wrap="square" lIns="0" tIns="0" rIns="0" bIns="0" anchor="t">
            <a:spAutoFit/>
          </a:bodyPr>
          <a:lstStyle/>
          <a:p>
            <a:pPr algn="l"/>
            <a:r>
              <a:rPr sz="1000" b="0" i="0">
                <a:solidFill>
                  <a:srgbClr val="7878A0"/>
                </a:solidFill>
                <a:latin typeface="Consolas"/>
              </a:rPr>
              <a:t>free + free + $6 + free + $8 + $6 transit = $20</a:t>
            </a:r>
            <a:endParaRPr sz="1000" b="0" i="0">
              <a:solidFill>
                <a:srgbClr val="7878A0"/>
              </a:solidFill>
              <a:latin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12  —  SOLVING SANDBOX</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200" b="0" i="0">
                <a:solidFill>
                  <a:srgbClr val="E8E8F0"/>
                </a:solidFill>
                <a:latin typeface="Georgia" panose="02040502050405090303"/>
              </a:rPr>
              <a:t>Strong-model walkthrough  ·  Gemini-3.1-Pro on NYC Type 4</a:t>
            </a:r>
            <a:endParaRPr sz="2200" b="0" i="0">
              <a:solidFill>
                <a:srgbClr val="E8E8F0"/>
              </a:solidFill>
              <a:latin typeface="Georgia" panose="02040502050405090303"/>
            </a:endParaRPr>
          </a:p>
        </p:txBody>
      </p:sp>
      <p:sp>
        <p:nvSpPr>
          <p:cNvPr id="4" name="TextBox 3"/>
          <p:cNvSpPr txBox="1"/>
          <p:nvPr/>
        </p:nvSpPr>
        <p:spPr>
          <a:xfrm>
            <a:off x="548640" y="960120"/>
            <a:ext cx="10972800" cy="457200"/>
          </a:xfrm>
          <a:prstGeom prst="rect">
            <a:avLst/>
          </a:prstGeom>
          <a:noFill/>
        </p:spPr>
        <p:txBody>
          <a:bodyPr wrap="square" lIns="0" tIns="0" rIns="0" bIns="0" anchor="t">
            <a:spAutoFit/>
          </a:bodyPr>
          <a:lstStyle/>
          <a:p>
            <a:pPr algn="l"/>
            <a:r>
              <a:rPr sz="1600" b="1" i="0">
                <a:solidFill>
                  <a:srgbClr val="E8E8F0"/>
                </a:solidFill>
                <a:latin typeface="Calibri"/>
              </a:rPr>
              <a:t>Phase 6 / 6  —  Submit &amp; Evaluation</a:t>
            </a:r>
            <a:endParaRPr sz="1600" b="1" i="0">
              <a:solidFill>
                <a:srgbClr val="E8E8F0"/>
              </a:solidFill>
              <a:latin typeface="Calibri"/>
            </a:endParaRPr>
          </a:p>
        </p:txBody>
      </p:sp>
      <p:sp>
        <p:nvSpPr>
          <p:cNvPr id="5" name="Rounded Rectangle 4"/>
          <p:cNvSpPr/>
          <p:nvPr/>
        </p:nvSpPr>
        <p:spPr>
          <a:xfrm>
            <a:off x="548640" y="1417320"/>
            <a:ext cx="1106424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90472"/>
            <a:ext cx="10698480" cy="201168"/>
          </a:xfrm>
          <a:prstGeom prst="rect">
            <a:avLst/>
          </a:prstGeom>
          <a:noFill/>
        </p:spPr>
        <p:txBody>
          <a:bodyPr wrap="square" lIns="0" tIns="0" rIns="0" bIns="0" anchor="t">
            <a:spAutoFit/>
          </a:bodyPr>
          <a:lstStyle/>
          <a:p>
            <a:pPr algn="l"/>
            <a:r>
              <a:rPr sz="1000" b="1" i="0">
                <a:solidFill>
                  <a:srgbClr val="6C8EFF"/>
                </a:solidFill>
                <a:latin typeface="Consolas"/>
              </a:rPr>
              <a:t>gpt_5_4_new_york_type4_20260521_1779375371   </a:t>
            </a:r>
            <a:r>
              <a:rPr sz="900" b="0" i="0">
                <a:solidFill>
                  <a:srgbClr val="7878A0"/>
                </a:solidFill>
                <a:latin typeface="Consolas"/>
              </a:rPr>
              <a:t>$24/day · free-entry sights · no tourist traps · budget meals · 2-day Jul 4</a:t>
            </a:r>
            <a:endParaRPr sz="900" b="0" i="0">
              <a:solidFill>
                <a:srgbClr val="7878A0"/>
              </a:solidFill>
              <a:latin typeface="Consolas"/>
            </a:endParaRPr>
          </a:p>
        </p:txBody>
      </p:sp>
      <p:sp>
        <p:nvSpPr>
          <p:cNvPr id="7" name="TextBox 6"/>
          <p:cNvSpPr txBox="1"/>
          <p:nvPr/>
        </p:nvSpPr>
        <p:spPr>
          <a:xfrm>
            <a:off x="731520" y="1691640"/>
            <a:ext cx="10698480" cy="201168"/>
          </a:xfrm>
          <a:prstGeom prst="rect">
            <a:avLst/>
          </a:prstGeom>
          <a:noFill/>
        </p:spPr>
        <p:txBody>
          <a:bodyPr wrap="square" lIns="0" tIns="0" rIns="0" bIns="0" anchor="t">
            <a:spAutoFit/>
          </a:bodyPr>
          <a:lstStyle/>
          <a:p>
            <a:pPr algn="l"/>
            <a:r>
              <a:rPr sz="1000" b="1" i="0">
                <a:solidFill>
                  <a:srgbClr val="6CFFC8"/>
                </a:solidFill>
                <a:latin typeface="Consolas"/>
              </a:rPr>
              <a:t>●  gemini-3.1-pro-preview   </a:t>
            </a:r>
            <a:r>
              <a:rPr sz="1000" b="0" i="0">
                <a:solidFill>
                  <a:srgbClr val="6CFFC8"/>
                </a:solidFill>
                <a:latin typeface="Consolas"/>
              </a:rPr>
              <a:t>final  C 84%  F 63%  P 75%</a:t>
            </a:r>
            <a:endParaRPr sz="1000" b="0" i="0">
              <a:solidFill>
                <a:srgbClr val="6CFFC8"/>
              </a:solidFill>
              <a:latin typeface="Consolas"/>
            </a:endParaRPr>
          </a:p>
        </p:txBody>
      </p:sp>
      <p:sp>
        <p:nvSpPr>
          <p:cNvPr id="8" name="Rounded Rectangle 7"/>
          <p:cNvSpPr/>
          <p:nvPr/>
        </p:nvSpPr>
        <p:spPr>
          <a:xfrm>
            <a:off x="548640" y="2057400"/>
            <a:ext cx="11064240" cy="640080"/>
          </a:xfrm>
          <a:prstGeom prst="roundRect">
            <a:avLst>
              <a:gd name="adj" fmla="val 6000"/>
            </a:avLst>
          </a:prstGeom>
          <a:solidFill>
            <a:srgbClr val="122A22"/>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10698480" cy="457200"/>
          </a:xfrm>
          <a:prstGeom prst="rect">
            <a:avLst/>
          </a:prstGeom>
          <a:noFill/>
        </p:spPr>
        <p:txBody>
          <a:bodyPr wrap="square" lIns="0" tIns="0" rIns="0" bIns="0" anchor="t">
            <a:spAutoFit/>
          </a:bodyPr>
          <a:lstStyle/>
          <a:p>
            <a:pPr algn="l"/>
            <a:r>
              <a:rPr sz="1200" b="0" i="1">
                <a:solidFill>
                  <a:srgbClr val="E8E8F0"/>
                </a:solidFill>
                <a:latin typeface="Calibri"/>
              </a:rPr>
              <a:t>Submitted as structured JSON; evaluator scored against all 4 P-constraints.</a:t>
            </a:r>
            <a:endParaRPr sz="1200" b="0" i="1">
              <a:solidFill>
                <a:srgbClr val="E8E8F0"/>
              </a:solidFill>
              <a:latin typeface="Calibri"/>
            </a:endParaRPr>
          </a:p>
        </p:txBody>
      </p:sp>
      <p:sp>
        <p:nvSpPr>
          <p:cNvPr id="10" name="Rounded Rectangle 9"/>
          <p:cNvSpPr/>
          <p:nvPr/>
        </p:nvSpPr>
        <p:spPr>
          <a:xfrm>
            <a:off x="548640" y="2834640"/>
            <a:ext cx="11064240" cy="59436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07792"/>
            <a:ext cx="10698480" cy="228600"/>
          </a:xfrm>
          <a:prstGeom prst="rect">
            <a:avLst/>
          </a:prstGeom>
          <a:noFill/>
        </p:spPr>
        <p:txBody>
          <a:bodyPr wrap="square" lIns="0" tIns="0" rIns="0" bIns="0" anchor="t">
            <a:spAutoFit/>
          </a:bodyPr>
          <a:lstStyle/>
          <a:p>
            <a:pPr algn="l"/>
            <a:r>
              <a:rPr sz="1050" b="1" i="0">
                <a:solidFill>
                  <a:srgbClr val="6CFFC8"/>
                </a:solidFill>
                <a:latin typeface="Consolas"/>
              </a:rPr>
              <a:t>PLAN   </a:t>
            </a:r>
            <a:r>
              <a:rPr sz="1050" b="0" i="0">
                <a:solidFill>
                  <a:srgbClr val="6CFFC8"/>
                </a:solidFill>
                <a:latin typeface="Consolas"/>
              </a:rPr>
              <a:t>submit_plan(...)</a:t>
            </a:r>
            <a:endParaRPr sz="1050" b="0" i="0">
              <a:solidFill>
                <a:srgbClr val="6CFFC8"/>
              </a:solidFill>
              <a:latin typeface="Consolas"/>
            </a:endParaRPr>
          </a:p>
        </p:txBody>
      </p:sp>
      <p:sp>
        <p:nvSpPr>
          <p:cNvPr id="12" name="TextBox 11"/>
          <p:cNvSpPr txBox="1"/>
          <p:nvPr/>
        </p:nvSpPr>
        <p:spPr>
          <a:xfrm>
            <a:off x="731520" y="3154680"/>
            <a:ext cx="10698480" cy="256032"/>
          </a:xfrm>
          <a:prstGeom prst="rect">
            <a:avLst/>
          </a:prstGeom>
          <a:noFill/>
        </p:spPr>
        <p:txBody>
          <a:bodyPr wrap="square" lIns="0" tIns="0" rIns="0" bIns="0" anchor="t">
            <a:spAutoFit/>
          </a:bodyPr>
          <a:lstStyle/>
          <a:p>
            <a:pPr algn="l"/>
            <a:r>
              <a:rPr sz="1000" b="0" i="0">
                <a:solidFill>
                  <a:srgbClr val="7878A0"/>
                </a:solidFill>
                <a:latin typeface="Consolas"/>
              </a:rPr>
              <a:t>Plan parsed ✓ · 2 days · 10 activities · $44 total</a:t>
            </a:r>
            <a:endParaRPr sz="1000" b="0" i="0">
              <a:solidFill>
                <a:srgbClr val="7878A0"/>
              </a:solidFill>
              <a:latin typeface="Consolas"/>
            </a:endParaRPr>
          </a:p>
        </p:txBody>
      </p:sp>
      <p:sp>
        <p:nvSpPr>
          <p:cNvPr id="13" name="Rounded Rectangle 12"/>
          <p:cNvSpPr/>
          <p:nvPr/>
        </p:nvSpPr>
        <p:spPr>
          <a:xfrm>
            <a:off x="548640" y="3611880"/>
            <a:ext cx="11064240" cy="502920"/>
          </a:xfrm>
          <a:prstGeom prst="roundRect">
            <a:avLst>
              <a:gd name="adj" fmla="val 6000"/>
            </a:avLst>
          </a:prstGeom>
          <a:solidFill>
            <a:srgbClr val="1A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721608"/>
            <a:ext cx="10698480" cy="320040"/>
          </a:xfrm>
          <a:prstGeom prst="rect">
            <a:avLst/>
          </a:prstGeom>
          <a:noFill/>
        </p:spPr>
        <p:txBody>
          <a:bodyPr wrap="square" lIns="0" tIns="0" rIns="0" bIns="0" anchor="t">
            <a:spAutoFit/>
          </a:bodyPr>
          <a:lstStyle/>
          <a:p>
            <a:pPr algn="ctr"/>
            <a:r>
              <a:rPr sz="1600" b="1" i="0">
                <a:solidFill>
                  <a:srgbClr val="6C8EFF"/>
                </a:solidFill>
                <a:latin typeface="Consolas"/>
              </a:rPr>
              <a:t>C: 84%     </a:t>
            </a:r>
            <a:r>
              <a:rPr sz="1600" b="1" i="0">
                <a:solidFill>
                  <a:srgbClr val="6CFFC8"/>
                </a:solidFill>
                <a:latin typeface="Consolas"/>
              </a:rPr>
              <a:t>F: 63%     </a:t>
            </a:r>
            <a:r>
              <a:rPr sz="1600" b="1" i="0">
                <a:solidFill>
                  <a:srgbClr val="FFA84A"/>
                </a:solidFill>
                <a:latin typeface="Consolas"/>
              </a:rPr>
              <a:t>P: 75%</a:t>
            </a:r>
            <a:endParaRPr sz="1600" b="1" i="0">
              <a:solidFill>
                <a:srgbClr val="FFA84A"/>
              </a:solidFill>
              <a:latin typeface="Consolas"/>
            </a:endParaRPr>
          </a:p>
        </p:txBody>
      </p:sp>
      <p:sp>
        <p:nvSpPr>
          <p:cNvPr id="15" name="Rounded Rectangle 14"/>
          <p:cNvSpPr/>
          <p:nvPr/>
        </p:nvSpPr>
        <p:spPr>
          <a:xfrm>
            <a:off x="548640" y="4206240"/>
            <a:ext cx="11064240" cy="502920"/>
          </a:xfrm>
          <a:prstGeom prst="roundRect">
            <a:avLst>
              <a:gd name="adj" fmla="val 6000"/>
            </a:avLst>
          </a:prstGeom>
          <a:solidFill>
            <a:srgbClr val="28141C"/>
          </a:solidFill>
          <a:ln w="9525">
            <a:solidFill>
              <a:srgbClr val="FF6C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79392"/>
            <a:ext cx="10698480" cy="182880"/>
          </a:xfrm>
          <a:prstGeom prst="rect">
            <a:avLst/>
          </a:prstGeom>
          <a:noFill/>
        </p:spPr>
        <p:txBody>
          <a:bodyPr wrap="square" lIns="0" tIns="0" rIns="0" bIns="0" anchor="t">
            <a:spAutoFit/>
          </a:bodyPr>
          <a:lstStyle/>
          <a:p>
            <a:pPr algn="l"/>
            <a:r>
              <a:rPr sz="900" b="1" i="0">
                <a:solidFill>
                  <a:srgbClr val="FF6C8E"/>
                </a:solidFill>
                <a:latin typeface="Consolas"/>
              </a:rPr>
              <a:t>WHAT IT MISSED</a:t>
            </a:r>
            <a:endParaRPr sz="900" b="1" i="0">
              <a:solidFill>
                <a:srgbClr val="FF6C8E"/>
              </a:solidFill>
              <a:latin typeface="Consolas"/>
            </a:endParaRPr>
          </a:p>
        </p:txBody>
      </p:sp>
      <p:sp>
        <p:nvSpPr>
          <p:cNvPr id="17" name="TextBox 16"/>
          <p:cNvSpPr txBox="1"/>
          <p:nvPr/>
        </p:nvSpPr>
        <p:spPr>
          <a:xfrm>
            <a:off x="731520" y="4462272"/>
            <a:ext cx="10698480" cy="274320"/>
          </a:xfrm>
          <a:prstGeom prst="rect">
            <a:avLst/>
          </a:prstGeom>
          <a:noFill/>
        </p:spPr>
        <p:txBody>
          <a:bodyPr wrap="square" lIns="0" tIns="0" rIns="0" bIns="0" anchor="t">
            <a:spAutoFit/>
          </a:bodyPr>
          <a:lstStyle/>
          <a:p>
            <a:pPr algn="l"/>
            <a:r>
              <a:rPr sz="1000" b="0" i="0">
                <a:solidFill>
                  <a:srgbClr val="7878A0"/>
                </a:solidFill>
                <a:latin typeface="Calibri"/>
              </a:rPr>
              <a:t>−16% on C (4 venue IDs were referenced via abbreviated names not full IDs).  −37% on F (5 wrong-info venues scheduled without retrieving their truth-carrier docs).</a:t>
            </a:r>
            <a:endParaRPr sz="1000" b="0" i="0">
              <a:solidFill>
                <a:srgbClr val="7878A0"/>
              </a:solidFill>
              <a:latin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13  —  SAME TASK, WEAK MODEL</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000" b="0" i="0">
                <a:solidFill>
                  <a:srgbClr val="E8E8F0"/>
                </a:solidFill>
                <a:latin typeface="Georgia" panose="02040502050405090303"/>
              </a:rPr>
              <a:t>Where the weak model diverged  ·  GLM-4-7 on the same Type 4 task</a:t>
            </a:r>
            <a:endParaRPr sz="2000" b="0" i="0">
              <a:solidFill>
                <a:srgbClr val="E8E8F0"/>
              </a:solidFill>
              <a:latin typeface="Georgia" panose="02040502050405090303"/>
            </a:endParaRPr>
          </a:p>
        </p:txBody>
      </p:sp>
      <p:sp>
        <p:nvSpPr>
          <p:cNvPr id="4" name="Rounded Rectangle 3"/>
          <p:cNvSpPr/>
          <p:nvPr/>
        </p:nvSpPr>
        <p:spPr>
          <a:xfrm>
            <a:off x="548640" y="1051560"/>
            <a:ext cx="11064240" cy="50292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43000"/>
            <a:ext cx="5212080" cy="320040"/>
          </a:xfrm>
          <a:prstGeom prst="rect">
            <a:avLst/>
          </a:prstGeom>
          <a:noFill/>
        </p:spPr>
        <p:txBody>
          <a:bodyPr wrap="square" lIns="0" tIns="0" rIns="0" bIns="0" anchor="t">
            <a:spAutoFit/>
          </a:bodyPr>
          <a:lstStyle/>
          <a:p>
            <a:pPr algn="l"/>
            <a:r>
              <a:rPr sz="1100" b="1" i="0">
                <a:solidFill>
                  <a:srgbClr val="6CFFC8"/>
                </a:solidFill>
                <a:latin typeface="Consolas"/>
              </a:rPr>
              <a:t>● gemini-3.1-pro   </a:t>
            </a:r>
            <a:r>
              <a:rPr sz="1100" b="0" i="0">
                <a:solidFill>
                  <a:srgbClr val="6CFFC8"/>
                </a:solidFill>
                <a:latin typeface="Consolas"/>
              </a:rPr>
              <a:t>C 84   F 63   P 75</a:t>
            </a:r>
            <a:endParaRPr sz="1100" b="0" i="0">
              <a:solidFill>
                <a:srgbClr val="6CFFC8"/>
              </a:solidFill>
              <a:latin typeface="Consolas"/>
            </a:endParaRPr>
          </a:p>
        </p:txBody>
      </p:sp>
      <p:sp>
        <p:nvSpPr>
          <p:cNvPr id="6" name="TextBox 5"/>
          <p:cNvSpPr txBox="1"/>
          <p:nvPr/>
        </p:nvSpPr>
        <p:spPr>
          <a:xfrm>
            <a:off x="6400800" y="1143000"/>
            <a:ext cx="5212080" cy="320040"/>
          </a:xfrm>
          <a:prstGeom prst="rect">
            <a:avLst/>
          </a:prstGeom>
          <a:noFill/>
        </p:spPr>
        <p:txBody>
          <a:bodyPr wrap="square" lIns="0" tIns="0" rIns="0" bIns="0" anchor="t">
            <a:spAutoFit/>
          </a:bodyPr>
          <a:lstStyle/>
          <a:p>
            <a:pPr algn="l"/>
            <a:r>
              <a:rPr sz="1100" b="1" i="0">
                <a:solidFill>
                  <a:srgbClr val="FF6C8E"/>
                </a:solidFill>
                <a:latin typeface="Consolas"/>
              </a:rPr>
              <a:t>● glm-4-7-251222   </a:t>
            </a:r>
            <a:r>
              <a:rPr sz="1100" b="0" i="0">
                <a:solidFill>
                  <a:srgbClr val="FF6C8E"/>
                </a:solidFill>
                <a:latin typeface="Consolas"/>
              </a:rPr>
              <a:t>C 64   F 63   P 50</a:t>
            </a:r>
            <a:endParaRPr sz="1100" b="0" i="0">
              <a:solidFill>
                <a:srgbClr val="FF6C8E"/>
              </a:solidFill>
              <a:latin typeface="Consolas"/>
            </a:endParaRPr>
          </a:p>
        </p:txBody>
      </p:sp>
      <p:sp>
        <p:nvSpPr>
          <p:cNvPr id="7" name="Rounded Rectangle 6"/>
          <p:cNvSpPr/>
          <p:nvPr/>
        </p:nvSpPr>
        <p:spPr>
          <a:xfrm>
            <a:off x="548640" y="1783080"/>
            <a:ext cx="11064240" cy="11430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74520"/>
            <a:ext cx="10698480" cy="228600"/>
          </a:xfrm>
          <a:prstGeom prst="rect">
            <a:avLst/>
          </a:prstGeom>
          <a:noFill/>
        </p:spPr>
        <p:txBody>
          <a:bodyPr wrap="square" lIns="0" tIns="0" rIns="0" bIns="0" anchor="t">
            <a:spAutoFit/>
          </a:bodyPr>
          <a:lstStyle/>
          <a:p>
            <a:pPr algn="l"/>
            <a:r>
              <a:rPr sz="1150" b="1" i="0">
                <a:solidFill>
                  <a:srgbClr val="E8E8F0"/>
                </a:solidFill>
                <a:latin typeface="Calibri"/>
              </a:rPr>
              <a:t>1.  No pre-vetting blog search</a:t>
            </a:r>
            <a:endParaRPr sz="1150" b="1" i="0">
              <a:solidFill>
                <a:srgbClr val="E8E8F0"/>
              </a:solidFill>
              <a:latin typeface="Calibri"/>
            </a:endParaRPr>
          </a:p>
        </p:txBody>
      </p:sp>
      <p:sp>
        <p:nvSpPr>
          <p:cNvPr id="9" name="TextBox 8"/>
          <p:cNvSpPr txBox="1"/>
          <p:nvPr/>
        </p:nvSpPr>
        <p:spPr>
          <a:xfrm>
            <a:off x="731520" y="2130552"/>
            <a:ext cx="640080" cy="201168"/>
          </a:xfrm>
          <a:prstGeom prst="rect">
            <a:avLst/>
          </a:prstGeom>
          <a:noFill/>
        </p:spPr>
        <p:txBody>
          <a:bodyPr wrap="square" lIns="0" tIns="0" rIns="0" bIns="0" anchor="t">
            <a:spAutoFit/>
          </a:bodyPr>
          <a:lstStyle/>
          <a:p>
            <a:pPr algn="l"/>
            <a:r>
              <a:rPr sz="900" b="1" i="0">
                <a:solidFill>
                  <a:srgbClr val="6CFFC8"/>
                </a:solidFill>
                <a:latin typeface="Consolas"/>
              </a:rPr>
              <a:t>gemini:</a:t>
            </a:r>
            <a:endParaRPr sz="900" b="1" i="0">
              <a:solidFill>
                <a:srgbClr val="6CFFC8"/>
              </a:solidFill>
              <a:latin typeface="Consolas"/>
            </a:endParaRPr>
          </a:p>
        </p:txBody>
      </p:sp>
      <p:sp>
        <p:nvSpPr>
          <p:cNvPr id="10" name="TextBox 9"/>
          <p:cNvSpPr txBox="1"/>
          <p:nvPr/>
        </p:nvSpPr>
        <p:spPr>
          <a:xfrm>
            <a:off x="1417320" y="2130552"/>
            <a:ext cx="6400800" cy="274320"/>
          </a:xfrm>
          <a:prstGeom prst="rect">
            <a:avLst/>
          </a:prstGeom>
          <a:noFill/>
        </p:spPr>
        <p:txBody>
          <a:bodyPr wrap="square" lIns="0" tIns="0" rIns="0" bIns="0" anchor="t">
            <a:spAutoFit/>
          </a:bodyPr>
          <a:lstStyle/>
          <a:p>
            <a:pPr algn="l"/>
            <a:r>
              <a:rPr sz="950" b="0" i="0">
                <a:solidFill>
                  <a:srgbClr val="7878A0"/>
                </a:solidFill>
                <a:latin typeface="Calibri"/>
              </a:rPr>
              <a:t>Searched "avoid tourist traps" + cuisine-specific blogs BEFORE picking venues. 5 blog calls.</a:t>
            </a:r>
            <a:endParaRPr sz="950" b="0" i="0">
              <a:solidFill>
                <a:srgbClr val="7878A0"/>
              </a:solidFill>
              <a:latin typeface="Calibri"/>
            </a:endParaRPr>
          </a:p>
        </p:txBody>
      </p:sp>
      <p:sp>
        <p:nvSpPr>
          <p:cNvPr id="11" name="TextBox 10"/>
          <p:cNvSpPr txBox="1"/>
          <p:nvPr/>
        </p:nvSpPr>
        <p:spPr>
          <a:xfrm>
            <a:off x="731520" y="2404872"/>
            <a:ext cx="640080" cy="201168"/>
          </a:xfrm>
          <a:prstGeom prst="rect">
            <a:avLst/>
          </a:prstGeom>
          <a:noFill/>
        </p:spPr>
        <p:txBody>
          <a:bodyPr wrap="square" lIns="0" tIns="0" rIns="0" bIns="0" anchor="t">
            <a:spAutoFit/>
          </a:bodyPr>
          <a:lstStyle/>
          <a:p>
            <a:pPr algn="l"/>
            <a:r>
              <a:rPr sz="900" b="1" i="0">
                <a:solidFill>
                  <a:srgbClr val="FF6C8E"/>
                </a:solidFill>
                <a:latin typeface="Consolas"/>
              </a:rPr>
              <a:t>glm:</a:t>
            </a:r>
            <a:endParaRPr sz="900" b="1" i="0">
              <a:solidFill>
                <a:srgbClr val="FF6C8E"/>
              </a:solidFill>
              <a:latin typeface="Consolas"/>
            </a:endParaRPr>
          </a:p>
        </p:txBody>
      </p:sp>
      <p:sp>
        <p:nvSpPr>
          <p:cNvPr id="12" name="TextBox 11"/>
          <p:cNvSpPr txBox="1"/>
          <p:nvPr/>
        </p:nvSpPr>
        <p:spPr>
          <a:xfrm>
            <a:off x="1417320" y="2404872"/>
            <a:ext cx="6400800" cy="274320"/>
          </a:xfrm>
          <a:prstGeom prst="rect">
            <a:avLst/>
          </a:prstGeom>
          <a:noFill/>
        </p:spPr>
        <p:txBody>
          <a:bodyPr wrap="square" lIns="0" tIns="0" rIns="0" bIns="0" anchor="t">
            <a:spAutoFit/>
          </a:bodyPr>
          <a:lstStyle/>
          <a:p>
            <a:pPr algn="l"/>
            <a:r>
              <a:rPr sz="950" b="0" i="0">
                <a:solidFill>
                  <a:srgbClr val="7878A0"/>
                </a:solidFill>
                <a:latin typeface="Calibri"/>
              </a:rPr>
              <a:t>3 blog calls total, all AFTER venue selection. Picked Grimaldi's (a famous tourist-trap pizzeria) where Gemini picked Ops.</a:t>
            </a:r>
            <a:endParaRPr sz="950" b="0" i="0">
              <a:solidFill>
                <a:srgbClr val="7878A0"/>
              </a:solidFill>
              <a:latin typeface="Calibri"/>
            </a:endParaRPr>
          </a:p>
        </p:txBody>
      </p:sp>
      <p:sp>
        <p:nvSpPr>
          <p:cNvPr id="13" name="TextBox 12"/>
          <p:cNvSpPr txBox="1"/>
          <p:nvPr/>
        </p:nvSpPr>
        <p:spPr>
          <a:xfrm>
            <a:off x="7955279" y="2240280"/>
            <a:ext cx="3657600" cy="457200"/>
          </a:xfrm>
          <a:prstGeom prst="rect">
            <a:avLst/>
          </a:prstGeom>
          <a:noFill/>
        </p:spPr>
        <p:txBody>
          <a:bodyPr wrap="square" lIns="0" tIns="0" rIns="0" bIns="0" anchor="t">
            <a:spAutoFit/>
          </a:bodyPr>
          <a:lstStyle/>
          <a:p>
            <a:pPr algn="l"/>
            <a:r>
              <a:rPr sz="1000" b="0" i="1">
                <a:solidFill>
                  <a:srgbClr val="FFA84A"/>
                </a:solidFill>
                <a:latin typeface="Consolas"/>
              </a:rPr>
              <a:t>→  Tourist-trap exposure  ·  hurt P-score</a:t>
            </a:r>
            <a:endParaRPr sz="1000" b="0" i="1">
              <a:solidFill>
                <a:srgbClr val="FFA84A"/>
              </a:solidFill>
              <a:latin typeface="Consolas"/>
            </a:endParaRPr>
          </a:p>
        </p:txBody>
      </p:sp>
      <p:sp>
        <p:nvSpPr>
          <p:cNvPr id="14" name="Rounded Rectangle 13"/>
          <p:cNvSpPr/>
          <p:nvPr/>
        </p:nvSpPr>
        <p:spPr>
          <a:xfrm>
            <a:off x="548640" y="3017520"/>
            <a:ext cx="11064240" cy="11430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108960"/>
            <a:ext cx="10698480" cy="228600"/>
          </a:xfrm>
          <a:prstGeom prst="rect">
            <a:avLst/>
          </a:prstGeom>
          <a:noFill/>
        </p:spPr>
        <p:txBody>
          <a:bodyPr wrap="square" lIns="0" tIns="0" rIns="0" bIns="0" anchor="t">
            <a:spAutoFit/>
          </a:bodyPr>
          <a:lstStyle/>
          <a:p>
            <a:pPr algn="l"/>
            <a:r>
              <a:rPr sz="1150" b="1" i="0">
                <a:solidFill>
                  <a:srgbClr val="E8E8F0"/>
                </a:solidFill>
                <a:latin typeface="Calibri"/>
              </a:rPr>
              <a:t>2.  Meal budget overrun</a:t>
            </a:r>
            <a:endParaRPr sz="1150" b="1" i="0">
              <a:solidFill>
                <a:srgbClr val="E8E8F0"/>
              </a:solidFill>
              <a:latin typeface="Calibri"/>
            </a:endParaRPr>
          </a:p>
        </p:txBody>
      </p:sp>
      <p:sp>
        <p:nvSpPr>
          <p:cNvPr id="16" name="TextBox 15"/>
          <p:cNvSpPr txBox="1"/>
          <p:nvPr/>
        </p:nvSpPr>
        <p:spPr>
          <a:xfrm>
            <a:off x="731520" y="3364992"/>
            <a:ext cx="640080" cy="201168"/>
          </a:xfrm>
          <a:prstGeom prst="rect">
            <a:avLst/>
          </a:prstGeom>
          <a:noFill/>
        </p:spPr>
        <p:txBody>
          <a:bodyPr wrap="square" lIns="0" tIns="0" rIns="0" bIns="0" anchor="t">
            <a:spAutoFit/>
          </a:bodyPr>
          <a:lstStyle/>
          <a:p>
            <a:pPr algn="l"/>
            <a:r>
              <a:rPr sz="900" b="1" i="0">
                <a:solidFill>
                  <a:srgbClr val="6CFFC8"/>
                </a:solidFill>
                <a:latin typeface="Consolas"/>
              </a:rPr>
              <a:t>gemini:</a:t>
            </a:r>
            <a:endParaRPr sz="900" b="1" i="0">
              <a:solidFill>
                <a:srgbClr val="6CFFC8"/>
              </a:solidFill>
              <a:latin typeface="Consolas"/>
            </a:endParaRPr>
          </a:p>
        </p:txBody>
      </p:sp>
      <p:sp>
        <p:nvSpPr>
          <p:cNvPr id="17" name="TextBox 16"/>
          <p:cNvSpPr txBox="1"/>
          <p:nvPr/>
        </p:nvSpPr>
        <p:spPr>
          <a:xfrm>
            <a:off x="1417320" y="3364992"/>
            <a:ext cx="6400800" cy="274320"/>
          </a:xfrm>
          <a:prstGeom prst="rect">
            <a:avLst/>
          </a:prstGeom>
          <a:noFill/>
        </p:spPr>
        <p:txBody>
          <a:bodyPr wrap="square" lIns="0" tIns="0" rIns="0" bIns="0" anchor="t">
            <a:spAutoFit/>
          </a:bodyPr>
          <a:lstStyle/>
          <a:p>
            <a:pPr algn="l"/>
            <a:r>
              <a:rPr sz="950" b="0" i="0">
                <a:solidFill>
                  <a:srgbClr val="7878A0"/>
                </a:solidFill>
                <a:latin typeface="Calibri"/>
              </a:rPr>
              <a:t>Day 2 meals: $6 + $8 = $14 of the $24 budget.</a:t>
            </a:r>
            <a:endParaRPr sz="950" b="0" i="0">
              <a:solidFill>
                <a:srgbClr val="7878A0"/>
              </a:solidFill>
              <a:latin typeface="Calibri"/>
            </a:endParaRPr>
          </a:p>
        </p:txBody>
      </p:sp>
      <p:sp>
        <p:nvSpPr>
          <p:cNvPr id="18" name="TextBox 17"/>
          <p:cNvSpPr txBox="1"/>
          <p:nvPr/>
        </p:nvSpPr>
        <p:spPr>
          <a:xfrm>
            <a:off x="731520" y="3639312"/>
            <a:ext cx="640080" cy="201168"/>
          </a:xfrm>
          <a:prstGeom prst="rect">
            <a:avLst/>
          </a:prstGeom>
          <a:noFill/>
        </p:spPr>
        <p:txBody>
          <a:bodyPr wrap="square" lIns="0" tIns="0" rIns="0" bIns="0" anchor="t">
            <a:spAutoFit/>
          </a:bodyPr>
          <a:lstStyle/>
          <a:p>
            <a:pPr algn="l"/>
            <a:r>
              <a:rPr sz="900" b="1" i="0">
                <a:solidFill>
                  <a:srgbClr val="FF6C8E"/>
                </a:solidFill>
                <a:latin typeface="Consolas"/>
              </a:rPr>
              <a:t>glm:</a:t>
            </a:r>
            <a:endParaRPr sz="900" b="1" i="0">
              <a:solidFill>
                <a:srgbClr val="FF6C8E"/>
              </a:solidFill>
              <a:latin typeface="Consolas"/>
            </a:endParaRPr>
          </a:p>
        </p:txBody>
      </p:sp>
      <p:sp>
        <p:nvSpPr>
          <p:cNvPr id="19" name="TextBox 18"/>
          <p:cNvSpPr txBox="1"/>
          <p:nvPr/>
        </p:nvSpPr>
        <p:spPr>
          <a:xfrm>
            <a:off x="1417320" y="3639312"/>
            <a:ext cx="6400800" cy="274320"/>
          </a:xfrm>
          <a:prstGeom prst="rect">
            <a:avLst/>
          </a:prstGeom>
          <a:noFill/>
        </p:spPr>
        <p:txBody>
          <a:bodyPr wrap="square" lIns="0" tIns="0" rIns="0" bIns="0" anchor="t">
            <a:spAutoFit/>
          </a:bodyPr>
          <a:lstStyle/>
          <a:p>
            <a:pPr algn="l"/>
            <a:r>
              <a:rPr sz="950" b="0" i="0">
                <a:solidFill>
                  <a:srgbClr val="7878A0"/>
                </a:solidFill>
                <a:latin typeface="Calibri"/>
              </a:rPr>
              <a:t>Day 2 meals: $10 + $10 = $20.  Plus transit blew the daily cap to $24.20.</a:t>
            </a:r>
            <a:endParaRPr sz="950" b="0" i="0">
              <a:solidFill>
                <a:srgbClr val="7878A0"/>
              </a:solidFill>
              <a:latin typeface="Calibri"/>
            </a:endParaRPr>
          </a:p>
        </p:txBody>
      </p:sp>
      <p:sp>
        <p:nvSpPr>
          <p:cNvPr id="20" name="TextBox 19"/>
          <p:cNvSpPr txBox="1"/>
          <p:nvPr/>
        </p:nvSpPr>
        <p:spPr>
          <a:xfrm>
            <a:off x="7955279" y="3474720"/>
            <a:ext cx="3657600" cy="457200"/>
          </a:xfrm>
          <a:prstGeom prst="rect">
            <a:avLst/>
          </a:prstGeom>
          <a:noFill/>
        </p:spPr>
        <p:txBody>
          <a:bodyPr wrap="square" lIns="0" tIns="0" rIns="0" bIns="0" anchor="t">
            <a:spAutoFit/>
          </a:bodyPr>
          <a:lstStyle/>
          <a:p>
            <a:pPr algn="l"/>
            <a:r>
              <a:rPr sz="1000" b="0" i="1">
                <a:solidFill>
                  <a:srgbClr val="FFA84A"/>
                </a:solidFill>
                <a:latin typeface="Consolas"/>
              </a:rPr>
              <a:t>→  Sum constraint violated  ·  P deduction</a:t>
            </a:r>
            <a:endParaRPr sz="1000" b="0" i="1">
              <a:solidFill>
                <a:srgbClr val="FFA84A"/>
              </a:solidFill>
              <a:latin typeface="Consolas"/>
            </a:endParaRPr>
          </a:p>
        </p:txBody>
      </p:sp>
      <p:sp>
        <p:nvSpPr>
          <p:cNvPr id="21" name="Rounded Rectangle 20"/>
          <p:cNvSpPr/>
          <p:nvPr/>
        </p:nvSpPr>
        <p:spPr>
          <a:xfrm>
            <a:off x="548640" y="4251960"/>
            <a:ext cx="11064240" cy="11430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343400"/>
            <a:ext cx="10698480" cy="228600"/>
          </a:xfrm>
          <a:prstGeom prst="rect">
            <a:avLst/>
          </a:prstGeom>
          <a:noFill/>
        </p:spPr>
        <p:txBody>
          <a:bodyPr wrap="square" lIns="0" tIns="0" rIns="0" bIns="0" anchor="t">
            <a:spAutoFit/>
          </a:bodyPr>
          <a:lstStyle/>
          <a:p>
            <a:pPr algn="l"/>
            <a:r>
              <a:rPr sz="1150" b="1" i="0">
                <a:solidFill>
                  <a:srgbClr val="E8E8F0"/>
                </a:solidFill>
                <a:latin typeface="Calibri"/>
              </a:rPr>
              <a:t>3.  Trusted official site read but ignored content</a:t>
            </a:r>
            <a:endParaRPr sz="1150" b="1" i="0">
              <a:solidFill>
                <a:srgbClr val="E8E8F0"/>
              </a:solidFill>
              <a:latin typeface="Calibri"/>
            </a:endParaRPr>
          </a:p>
        </p:txBody>
      </p:sp>
      <p:sp>
        <p:nvSpPr>
          <p:cNvPr id="23" name="TextBox 22"/>
          <p:cNvSpPr txBox="1"/>
          <p:nvPr/>
        </p:nvSpPr>
        <p:spPr>
          <a:xfrm>
            <a:off x="731520" y="4599432"/>
            <a:ext cx="640080" cy="201168"/>
          </a:xfrm>
          <a:prstGeom prst="rect">
            <a:avLst/>
          </a:prstGeom>
          <a:noFill/>
        </p:spPr>
        <p:txBody>
          <a:bodyPr wrap="square" lIns="0" tIns="0" rIns="0" bIns="0" anchor="t">
            <a:spAutoFit/>
          </a:bodyPr>
          <a:lstStyle/>
          <a:p>
            <a:pPr algn="l"/>
            <a:r>
              <a:rPr sz="900" b="1" i="0">
                <a:solidFill>
                  <a:srgbClr val="6CFFC8"/>
                </a:solidFill>
                <a:latin typeface="Consolas"/>
              </a:rPr>
              <a:t>gemini:</a:t>
            </a:r>
            <a:endParaRPr sz="900" b="1" i="0">
              <a:solidFill>
                <a:srgbClr val="6CFFC8"/>
              </a:solidFill>
              <a:latin typeface="Consolas"/>
            </a:endParaRPr>
          </a:p>
        </p:txBody>
      </p:sp>
      <p:sp>
        <p:nvSpPr>
          <p:cNvPr id="24" name="TextBox 23"/>
          <p:cNvSpPr txBox="1"/>
          <p:nvPr/>
        </p:nvSpPr>
        <p:spPr>
          <a:xfrm>
            <a:off x="1417320" y="4599432"/>
            <a:ext cx="6400800" cy="274320"/>
          </a:xfrm>
          <a:prstGeom prst="rect">
            <a:avLst/>
          </a:prstGeom>
          <a:noFill/>
        </p:spPr>
        <p:txBody>
          <a:bodyPr wrap="square" lIns="0" tIns="0" rIns="0" bIns="0" anchor="t">
            <a:spAutoFit/>
          </a:bodyPr>
          <a:lstStyle/>
          <a:p>
            <a:pPr algn="l"/>
            <a:r>
              <a:rPr sz="950" b="0" i="0">
                <a:solidFill>
                  <a:srgbClr val="7878A0"/>
                </a:solidFill>
                <a:latin typeface="Calibri"/>
              </a:rPr>
              <a:t>Read official-site hours before scheduling each venue.</a:t>
            </a:r>
            <a:endParaRPr sz="950" b="0" i="0">
              <a:solidFill>
                <a:srgbClr val="7878A0"/>
              </a:solidFill>
              <a:latin typeface="Calibri"/>
            </a:endParaRPr>
          </a:p>
        </p:txBody>
      </p:sp>
      <p:sp>
        <p:nvSpPr>
          <p:cNvPr id="25" name="TextBox 24"/>
          <p:cNvSpPr txBox="1"/>
          <p:nvPr/>
        </p:nvSpPr>
        <p:spPr>
          <a:xfrm>
            <a:off x="731520" y="4873752"/>
            <a:ext cx="640080" cy="201168"/>
          </a:xfrm>
          <a:prstGeom prst="rect">
            <a:avLst/>
          </a:prstGeom>
          <a:noFill/>
        </p:spPr>
        <p:txBody>
          <a:bodyPr wrap="square" lIns="0" tIns="0" rIns="0" bIns="0" anchor="t">
            <a:spAutoFit/>
          </a:bodyPr>
          <a:lstStyle/>
          <a:p>
            <a:pPr algn="l"/>
            <a:r>
              <a:rPr sz="900" b="1" i="0">
                <a:solidFill>
                  <a:srgbClr val="FF6C8E"/>
                </a:solidFill>
                <a:latin typeface="Consolas"/>
              </a:rPr>
              <a:t>glm:</a:t>
            </a:r>
            <a:endParaRPr sz="900" b="1" i="0">
              <a:solidFill>
                <a:srgbClr val="FF6C8E"/>
              </a:solidFill>
              <a:latin typeface="Consolas"/>
            </a:endParaRPr>
          </a:p>
        </p:txBody>
      </p:sp>
      <p:sp>
        <p:nvSpPr>
          <p:cNvPr id="26" name="TextBox 25"/>
          <p:cNvSpPr txBox="1"/>
          <p:nvPr/>
        </p:nvSpPr>
        <p:spPr>
          <a:xfrm>
            <a:off x="1417320" y="4873752"/>
            <a:ext cx="6400800" cy="274320"/>
          </a:xfrm>
          <a:prstGeom prst="rect">
            <a:avLst/>
          </a:prstGeom>
          <a:noFill/>
        </p:spPr>
        <p:txBody>
          <a:bodyPr wrap="square" lIns="0" tIns="0" rIns="0" bIns="0" anchor="t">
            <a:spAutoFit/>
          </a:bodyPr>
          <a:lstStyle/>
          <a:p>
            <a:pPr algn="l"/>
            <a:r>
              <a:rPr sz="950" b="0" i="0">
                <a:solidFill>
                  <a:srgbClr val="7878A0"/>
                </a:solidFill>
                <a:latin typeface="Calibri"/>
              </a:rPr>
              <a:t>Called get_official_site(Nom Wah) → got "opens 10:30am".  Still scheduled it at 9:30am.</a:t>
            </a:r>
            <a:endParaRPr sz="950" b="0" i="0">
              <a:solidFill>
                <a:srgbClr val="7878A0"/>
              </a:solidFill>
              <a:latin typeface="Calibri"/>
            </a:endParaRPr>
          </a:p>
        </p:txBody>
      </p:sp>
      <p:sp>
        <p:nvSpPr>
          <p:cNvPr id="27" name="TextBox 26"/>
          <p:cNvSpPr txBox="1"/>
          <p:nvPr/>
        </p:nvSpPr>
        <p:spPr>
          <a:xfrm>
            <a:off x="7955279" y="4709160"/>
            <a:ext cx="3657600" cy="457200"/>
          </a:xfrm>
          <a:prstGeom prst="rect">
            <a:avLst/>
          </a:prstGeom>
          <a:noFill/>
        </p:spPr>
        <p:txBody>
          <a:bodyPr wrap="square" lIns="0" tIns="0" rIns="0" bIns="0" anchor="t">
            <a:spAutoFit/>
          </a:bodyPr>
          <a:lstStyle/>
          <a:p>
            <a:pPr algn="l"/>
            <a:r>
              <a:rPr sz="1000" b="0" i="1">
                <a:solidFill>
                  <a:srgbClr val="FFA84A"/>
                </a:solidFill>
                <a:latin typeface="Consolas"/>
              </a:rPr>
              <a:t>→  F2a hours violation  ·  truth-carrier retrieved but not applied</a:t>
            </a:r>
            <a:endParaRPr sz="1000" b="0" i="1">
              <a:solidFill>
                <a:srgbClr val="FFA84A"/>
              </a:solidFill>
              <a:latin typeface="Consolas"/>
            </a:endParaRPr>
          </a:p>
        </p:txBody>
      </p:sp>
      <p:sp>
        <p:nvSpPr>
          <p:cNvPr id="28" name="Rounded Rectangle 27"/>
          <p:cNvSpPr/>
          <p:nvPr/>
        </p:nvSpPr>
        <p:spPr>
          <a:xfrm>
            <a:off x="548640" y="5486400"/>
            <a:ext cx="11064240" cy="1143000"/>
          </a:xfrm>
          <a:prstGeom prst="roundRect">
            <a:avLst>
              <a:gd name="adj" fmla="val 6000"/>
            </a:avLst>
          </a:prstGeom>
          <a:solidFill>
            <a:srgbClr val="13131A"/>
          </a:solidFill>
          <a:ln w="9525">
            <a:solidFill>
              <a:srgbClr val="2A2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577840"/>
            <a:ext cx="10698480" cy="228600"/>
          </a:xfrm>
          <a:prstGeom prst="rect">
            <a:avLst/>
          </a:prstGeom>
          <a:noFill/>
        </p:spPr>
        <p:txBody>
          <a:bodyPr wrap="square" lIns="0" tIns="0" rIns="0" bIns="0" anchor="t">
            <a:spAutoFit/>
          </a:bodyPr>
          <a:lstStyle/>
          <a:p>
            <a:pPr algn="l"/>
            <a:r>
              <a:rPr sz="1150" b="1" i="0">
                <a:solidFill>
                  <a:srgbClr val="E8E8F0"/>
                </a:solidFill>
                <a:latin typeface="Calibri"/>
              </a:rPr>
              <a:t>4.  Tool-call brittleness</a:t>
            </a:r>
            <a:endParaRPr sz="1150" b="1" i="0">
              <a:solidFill>
                <a:srgbClr val="E8E8F0"/>
              </a:solidFill>
              <a:latin typeface="Calibri"/>
            </a:endParaRPr>
          </a:p>
        </p:txBody>
      </p:sp>
      <p:sp>
        <p:nvSpPr>
          <p:cNvPr id="30" name="TextBox 29"/>
          <p:cNvSpPr txBox="1"/>
          <p:nvPr/>
        </p:nvSpPr>
        <p:spPr>
          <a:xfrm>
            <a:off x="731520" y="5833872"/>
            <a:ext cx="640080" cy="201168"/>
          </a:xfrm>
          <a:prstGeom prst="rect">
            <a:avLst/>
          </a:prstGeom>
          <a:noFill/>
        </p:spPr>
        <p:txBody>
          <a:bodyPr wrap="square" lIns="0" tIns="0" rIns="0" bIns="0" anchor="t">
            <a:spAutoFit/>
          </a:bodyPr>
          <a:lstStyle/>
          <a:p>
            <a:pPr algn="l"/>
            <a:r>
              <a:rPr sz="900" b="1" i="0">
                <a:solidFill>
                  <a:srgbClr val="6CFFC8"/>
                </a:solidFill>
                <a:latin typeface="Consolas"/>
              </a:rPr>
              <a:t>gemini:</a:t>
            </a:r>
            <a:endParaRPr sz="900" b="1" i="0">
              <a:solidFill>
                <a:srgbClr val="6CFFC8"/>
              </a:solidFill>
              <a:latin typeface="Consolas"/>
            </a:endParaRPr>
          </a:p>
        </p:txBody>
      </p:sp>
      <p:sp>
        <p:nvSpPr>
          <p:cNvPr id="31" name="TextBox 30"/>
          <p:cNvSpPr txBox="1"/>
          <p:nvPr/>
        </p:nvSpPr>
        <p:spPr>
          <a:xfrm>
            <a:off x="1417320" y="5833872"/>
            <a:ext cx="6400800" cy="274320"/>
          </a:xfrm>
          <a:prstGeom prst="rect">
            <a:avLst/>
          </a:prstGeom>
          <a:noFill/>
        </p:spPr>
        <p:txBody>
          <a:bodyPr wrap="square" lIns="0" tIns="0" rIns="0" bIns="0" anchor="t">
            <a:spAutoFit/>
          </a:bodyPr>
          <a:lstStyle/>
          <a:p>
            <a:pPr algn="l"/>
            <a:r>
              <a:rPr sz="950" b="0" i="0">
                <a:solidFill>
                  <a:srgbClr val="7878A0"/>
                </a:solidFill>
                <a:latin typeface="Calibri"/>
              </a:rPr>
              <a:t>Zero hallucinated venue IDs.  All tool args well-formed.</a:t>
            </a:r>
            <a:endParaRPr sz="950" b="0" i="0">
              <a:solidFill>
                <a:srgbClr val="7878A0"/>
              </a:solidFill>
              <a:latin typeface="Calibri"/>
            </a:endParaRPr>
          </a:p>
        </p:txBody>
      </p:sp>
      <p:sp>
        <p:nvSpPr>
          <p:cNvPr id="32" name="TextBox 31"/>
          <p:cNvSpPr txBox="1"/>
          <p:nvPr/>
        </p:nvSpPr>
        <p:spPr>
          <a:xfrm>
            <a:off x="731520" y="6108192"/>
            <a:ext cx="640080" cy="201168"/>
          </a:xfrm>
          <a:prstGeom prst="rect">
            <a:avLst/>
          </a:prstGeom>
          <a:noFill/>
        </p:spPr>
        <p:txBody>
          <a:bodyPr wrap="square" lIns="0" tIns="0" rIns="0" bIns="0" anchor="t">
            <a:spAutoFit/>
          </a:bodyPr>
          <a:lstStyle/>
          <a:p>
            <a:pPr algn="l"/>
            <a:r>
              <a:rPr sz="900" b="1" i="0">
                <a:solidFill>
                  <a:srgbClr val="FF6C8E"/>
                </a:solidFill>
                <a:latin typeface="Consolas"/>
              </a:rPr>
              <a:t>glm:</a:t>
            </a:r>
            <a:endParaRPr sz="900" b="1" i="0">
              <a:solidFill>
                <a:srgbClr val="FF6C8E"/>
              </a:solidFill>
              <a:latin typeface="Consolas"/>
            </a:endParaRPr>
          </a:p>
        </p:txBody>
      </p:sp>
      <p:sp>
        <p:nvSpPr>
          <p:cNvPr id="33" name="TextBox 32"/>
          <p:cNvSpPr txBox="1"/>
          <p:nvPr/>
        </p:nvSpPr>
        <p:spPr>
          <a:xfrm>
            <a:off x="1417320" y="6108192"/>
            <a:ext cx="6400800" cy="274320"/>
          </a:xfrm>
          <a:prstGeom prst="rect">
            <a:avLst/>
          </a:prstGeom>
          <a:noFill/>
        </p:spPr>
        <p:txBody>
          <a:bodyPr wrap="square" lIns="0" tIns="0" rIns="0" bIns="0" anchor="t">
            <a:spAutoFit/>
          </a:bodyPr>
          <a:lstStyle/>
          <a:p>
            <a:pPr algn="l"/>
            <a:r>
              <a:rPr sz="950" b="0" i="0">
                <a:solidFill>
                  <a:srgbClr val="7878A0"/>
                </a:solidFill>
                <a:latin typeface="Calibri"/>
              </a:rPr>
              <a:t>4 hallucinated venue IDs + 6 malformed search calls (embedded XML in 'city' param).</a:t>
            </a:r>
            <a:endParaRPr sz="950" b="0" i="0">
              <a:solidFill>
                <a:srgbClr val="7878A0"/>
              </a:solidFill>
              <a:latin typeface="Calibri"/>
            </a:endParaRPr>
          </a:p>
        </p:txBody>
      </p:sp>
      <p:sp>
        <p:nvSpPr>
          <p:cNvPr id="34" name="TextBox 33"/>
          <p:cNvSpPr txBox="1"/>
          <p:nvPr/>
        </p:nvSpPr>
        <p:spPr>
          <a:xfrm>
            <a:off x="7955279" y="5943600"/>
            <a:ext cx="3657600" cy="457200"/>
          </a:xfrm>
          <a:prstGeom prst="rect">
            <a:avLst/>
          </a:prstGeom>
          <a:noFill/>
        </p:spPr>
        <p:txBody>
          <a:bodyPr wrap="square" lIns="0" tIns="0" rIns="0" bIns="0" anchor="t">
            <a:spAutoFit/>
          </a:bodyPr>
          <a:lstStyle/>
          <a:p>
            <a:pPr algn="l"/>
            <a:r>
              <a:rPr sz="1000" b="0" i="1">
                <a:solidFill>
                  <a:srgbClr val="FFA84A"/>
                </a:solidFill>
                <a:latin typeface="Consolas"/>
              </a:rPr>
              <a:t>→  C-score: 84% → 64%  ·  the bulk of the gap</a:t>
            </a:r>
            <a:endParaRPr sz="1000" b="0" i="1">
              <a:solidFill>
                <a:srgbClr val="FFA84A"/>
              </a:solidFill>
              <a:latin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274320"/>
            <a:ext cx="3657600" cy="274320"/>
          </a:xfrm>
          <a:prstGeom prst="rect">
            <a:avLst/>
          </a:prstGeom>
          <a:noFill/>
        </p:spPr>
        <p:txBody>
          <a:bodyPr wrap="square" lIns="0" tIns="0" rIns="0" bIns="0" anchor="t">
            <a:spAutoFit/>
          </a:bodyPr>
          <a:lstStyle/>
          <a:p>
            <a:pPr algn="l"/>
            <a:r>
              <a:rPr sz="1000" b="0" i="0">
                <a:solidFill>
                  <a:srgbClr val="6C8EFF"/>
                </a:solidFill>
                <a:latin typeface="Consolas"/>
              </a:rPr>
              <a:t>—  14  —  RESULTS</a:t>
            </a:r>
            <a:endParaRPr sz="1000" b="0" i="0">
              <a:solidFill>
                <a:srgbClr val="6C8EFF"/>
              </a:solidFill>
              <a:latin typeface="Consolas"/>
            </a:endParaRPr>
          </a:p>
        </p:txBody>
      </p:sp>
      <p:sp>
        <p:nvSpPr>
          <p:cNvPr id="3" name="TextBox 2"/>
          <p:cNvSpPr txBox="1"/>
          <p:nvPr/>
        </p:nvSpPr>
        <p:spPr>
          <a:xfrm>
            <a:off x="548640" y="502920"/>
            <a:ext cx="10972800" cy="822960"/>
          </a:xfrm>
          <a:prstGeom prst="rect">
            <a:avLst/>
          </a:prstGeom>
          <a:noFill/>
        </p:spPr>
        <p:txBody>
          <a:bodyPr wrap="square" lIns="0" tIns="0" rIns="0" bIns="0" anchor="t">
            <a:spAutoFit/>
          </a:bodyPr>
          <a:lstStyle/>
          <a:p>
            <a:pPr algn="l"/>
            <a:r>
              <a:rPr sz="2600" b="0" i="0">
                <a:solidFill>
                  <a:srgbClr val="E8E8F0"/>
                </a:solidFill>
                <a:latin typeface="Georgia" panose="02040502050405090303"/>
              </a:rPr>
              <a:t>Leaderboard</a:t>
            </a:r>
            <a:endParaRPr sz="2600" b="0" i="0">
              <a:solidFill>
                <a:srgbClr val="E8E8F0"/>
              </a:solidFill>
              <a:latin typeface="Georgia" panose="02040502050405090303"/>
            </a:endParaRPr>
          </a:p>
        </p:txBody>
      </p:sp>
      <p:sp>
        <p:nvSpPr>
          <p:cNvPr id="4" name="TextBox 3"/>
          <p:cNvSpPr txBox="1"/>
          <p:nvPr/>
        </p:nvSpPr>
        <p:spPr>
          <a:xfrm>
            <a:off x="548640" y="960120"/>
            <a:ext cx="11430000" cy="457200"/>
          </a:xfrm>
          <a:prstGeom prst="rect">
            <a:avLst/>
          </a:prstGeom>
          <a:noFill/>
        </p:spPr>
        <p:txBody>
          <a:bodyPr wrap="square" lIns="0" tIns="0" rIns="0" bIns="0" anchor="t">
            <a:spAutoFit/>
          </a:bodyPr>
          <a:lstStyle/>
          <a:p>
            <a:pPr algn="l"/>
            <a:r>
              <a:rPr sz="1600" b="1" i="0">
                <a:solidFill>
                  <a:srgbClr val="E8E8F0"/>
                </a:solidFill>
                <a:latin typeface="Calibri"/>
              </a:rPr>
              <a:t>9 models  ·  6 latest NYC tasks  ·  test_70  ·  post-F2c-fix evaluator  ·  2026-06-06/07 sweep</a:t>
            </a:r>
            <a:endParaRPr sz="1600" b="1" i="0">
              <a:solidFill>
                <a:srgbClr val="E8E8F0"/>
              </a:solidFill>
              <a:latin typeface="Calibri"/>
            </a:endParaRPr>
          </a:p>
        </p:txBody>
      </p:sp>
      <p:graphicFrame>
        <p:nvGraphicFramePr>
          <p:cNvPr id="5" name="Table 4"/>
          <p:cNvGraphicFramePr>
            <a:graphicFrameLocks noGrp="1"/>
          </p:cNvGraphicFramePr>
          <p:nvPr/>
        </p:nvGraphicFramePr>
        <p:xfrm>
          <a:off x="548640" y="1463040"/>
          <a:ext cx="6857997" cy="3776472"/>
        </p:xfrm>
        <a:graphic>
          <a:graphicData uri="http://schemas.openxmlformats.org/drawingml/2006/table">
            <a:tbl>
              <a:tblPr firstRow="1" bandRow="1">
                <a:tableStyleId>{5C22544A-7EE6-4342-B048-85BDC9FD1C3A}</a:tableStyleId>
              </a:tblPr>
              <a:tblGrid>
                <a:gridCol w="3379304"/>
                <a:gridCol w="795130"/>
                <a:gridCol w="894521"/>
                <a:gridCol w="894521"/>
                <a:gridCol w="894521"/>
              </a:tblGrid>
              <a:tr h="320040">
                <a:tc>
                  <a:txBody>
                    <a:bodyPr/>
                    <a:lstStyle/>
                    <a:p>
                      <a:pPr algn="l"/>
                      <a:r>
                        <a:rPr sz="900" b="1">
                          <a:solidFill>
                            <a:srgbClr val="7878A0"/>
                          </a:solidFill>
                          <a:latin typeface="Consolas"/>
                        </a:rPr>
                        <a:t>Model</a:t>
                      </a:r>
                      <a:endParaRPr sz="900" b="1">
                        <a:solidFill>
                          <a:srgbClr val="7878A0"/>
                        </a:solidFill>
                        <a:latin typeface="Consolas"/>
                      </a:endParaRPr>
                    </a:p>
                  </a:txBody>
                  <a:tcPr marL="54864" marR="54864" marT="36576" marB="36576">
                    <a:solidFill>
                      <a:srgbClr val="1A1A24"/>
                    </a:solidFill>
                  </a:tcPr>
                </a:tc>
                <a:tc>
                  <a:txBody>
                    <a:bodyPr/>
                    <a:lstStyle/>
                    <a:p>
                      <a:pPr algn="r"/>
                      <a:r>
                        <a:rPr sz="900" b="1">
                          <a:solidFill>
                            <a:srgbClr val="7878A0"/>
                          </a:solidFill>
                          <a:latin typeface="Consolas"/>
                        </a:rPr>
                        <a:t>pass</a:t>
                      </a:r>
                      <a:endParaRPr sz="900" b="1">
                        <a:solidFill>
                          <a:srgbClr val="7878A0"/>
                        </a:solidFill>
                        <a:latin typeface="Consolas"/>
                      </a:endParaRPr>
                    </a:p>
                  </a:txBody>
                  <a:tcPr marL="54864" marR="54864" marT="36576" marB="36576">
                    <a:solidFill>
                      <a:srgbClr val="1A1A24"/>
                    </a:solidFill>
                  </a:tcPr>
                </a:tc>
                <a:tc>
                  <a:txBody>
                    <a:bodyPr/>
                    <a:lstStyle/>
                    <a:p>
                      <a:pPr algn="r"/>
                      <a:r>
                        <a:rPr sz="900" b="1">
                          <a:solidFill>
                            <a:srgbClr val="6C8EFF"/>
                          </a:solidFill>
                          <a:latin typeface="Consolas"/>
                        </a:rPr>
                        <a:t> C</a:t>
                      </a:r>
                      <a:endParaRPr sz="900" b="1">
                        <a:solidFill>
                          <a:srgbClr val="6C8EFF"/>
                        </a:solidFill>
                        <a:latin typeface="Consolas"/>
                      </a:endParaRPr>
                    </a:p>
                  </a:txBody>
                  <a:tcPr marL="54864" marR="54864" marT="36576" marB="36576">
                    <a:solidFill>
                      <a:srgbClr val="1A1A24"/>
                    </a:solidFill>
                  </a:tcPr>
                </a:tc>
                <a:tc>
                  <a:txBody>
                    <a:bodyPr/>
                    <a:lstStyle/>
                    <a:p>
                      <a:pPr algn="r"/>
                      <a:r>
                        <a:rPr sz="900" b="1">
                          <a:solidFill>
                            <a:srgbClr val="6CFFC8"/>
                          </a:solidFill>
                          <a:latin typeface="Consolas"/>
                        </a:rPr>
                        <a:t> F</a:t>
                      </a:r>
                      <a:endParaRPr sz="900" b="1">
                        <a:solidFill>
                          <a:srgbClr val="6CFFC8"/>
                        </a:solidFill>
                        <a:latin typeface="Consolas"/>
                      </a:endParaRPr>
                    </a:p>
                  </a:txBody>
                  <a:tcPr marL="54864" marR="54864" marT="36576" marB="36576">
                    <a:solidFill>
                      <a:srgbClr val="1A1A24"/>
                    </a:solidFill>
                  </a:tcPr>
                </a:tc>
                <a:tc>
                  <a:txBody>
                    <a:bodyPr/>
                    <a:lstStyle/>
                    <a:p>
                      <a:pPr algn="r"/>
                      <a:r>
                        <a:rPr sz="900" b="1">
                          <a:solidFill>
                            <a:srgbClr val="FFA84A"/>
                          </a:solidFill>
                          <a:latin typeface="Consolas"/>
                        </a:rPr>
                        <a:t> P</a:t>
                      </a:r>
                      <a:endParaRPr sz="900" b="1">
                        <a:solidFill>
                          <a:srgbClr val="FFA84A"/>
                        </a:solidFill>
                        <a:latin typeface="Consolas"/>
                      </a:endParaRPr>
                    </a:p>
                  </a:txBody>
                  <a:tcPr marL="54864" marR="54864" marT="36576" marB="36576">
                    <a:solidFill>
                      <a:srgbClr val="1A1A24"/>
                    </a:solidFill>
                  </a:tcPr>
                </a:tc>
              </a:tr>
              <a:tr h="384048">
                <a:tc>
                  <a:txBody>
                    <a:bodyPr/>
                    <a:lstStyle/>
                    <a:p>
                      <a:pPr algn="l"/>
                      <a:r>
                        <a:rPr sz="1050" b="1">
                          <a:solidFill>
                            <a:srgbClr val="E8E8F0"/>
                          </a:solidFill>
                          <a:latin typeface="Calibri"/>
                        </a:rPr>
                        <a:t>Claude Opus 4-8</a:t>
                      </a:r>
                      <a:endParaRPr sz="1050" b="1">
                        <a:solidFill>
                          <a:srgbClr val="E8E8F0"/>
                        </a:solidFill>
                        <a:latin typeface="Calibri"/>
                      </a:endParaRPr>
                    </a:p>
                  </a:txBody>
                  <a:tcPr marL="54864" marR="54864" marT="36576" marB="36576">
                    <a:solidFill>
                      <a:srgbClr val="12182E"/>
                    </a:solidFill>
                  </a:tcPr>
                </a:tc>
                <a:tc>
                  <a:txBody>
                    <a:bodyPr/>
                    <a:lstStyle/>
                    <a:p>
                      <a:pPr algn="r"/>
                      <a:r>
                        <a:rPr sz="1000" b="0">
                          <a:solidFill>
                            <a:srgbClr val="7878A0"/>
                          </a:solidFill>
                          <a:latin typeface="Consolas"/>
                        </a:rPr>
                        <a:t>6/6</a:t>
                      </a:r>
                      <a:endParaRPr sz="1000" b="0">
                        <a:solidFill>
                          <a:srgbClr val="7878A0"/>
                        </a:solidFill>
                        <a:latin typeface="Consolas"/>
                      </a:endParaRPr>
                    </a:p>
                  </a:txBody>
                  <a:tcPr marL="54864" marR="54864" marT="36576" marB="36576">
                    <a:solidFill>
                      <a:srgbClr val="12182E"/>
                    </a:solidFill>
                  </a:tcPr>
                </a:tc>
                <a:tc>
                  <a:txBody>
                    <a:bodyPr/>
                    <a:lstStyle/>
                    <a:p>
                      <a:pPr algn="r"/>
                      <a:r>
                        <a:rPr sz="1000" b="0">
                          <a:solidFill>
                            <a:srgbClr val="6C8EFF"/>
                          </a:solidFill>
                          <a:latin typeface="Consolas"/>
                        </a:rPr>
                        <a:t> 91</a:t>
                      </a:r>
                      <a:endParaRPr sz="1000" b="0">
                        <a:solidFill>
                          <a:srgbClr val="6C8EFF"/>
                        </a:solidFill>
                        <a:latin typeface="Consolas"/>
                      </a:endParaRPr>
                    </a:p>
                  </a:txBody>
                  <a:tcPr marL="54864" marR="54864" marT="36576" marB="36576">
                    <a:solidFill>
                      <a:srgbClr val="12182E"/>
                    </a:solidFill>
                  </a:tcPr>
                </a:tc>
                <a:tc>
                  <a:txBody>
                    <a:bodyPr/>
                    <a:lstStyle/>
                    <a:p>
                      <a:pPr algn="r"/>
                      <a:r>
                        <a:rPr sz="1000" b="1">
                          <a:solidFill>
                            <a:srgbClr val="6CFFC8"/>
                          </a:solidFill>
                          <a:latin typeface="Consolas"/>
                        </a:rPr>
                        <a:t> 85  ▲</a:t>
                      </a:r>
                      <a:endParaRPr sz="1000" b="1">
                        <a:solidFill>
                          <a:srgbClr val="6CFFC8"/>
                        </a:solidFill>
                        <a:latin typeface="Consolas"/>
                      </a:endParaRPr>
                    </a:p>
                  </a:txBody>
                  <a:tcPr marL="54864" marR="54864" marT="36576" marB="36576">
                    <a:solidFill>
                      <a:srgbClr val="142D22"/>
                    </a:solidFill>
                  </a:tcPr>
                </a:tc>
                <a:tc>
                  <a:txBody>
                    <a:bodyPr/>
                    <a:lstStyle/>
                    <a:p>
                      <a:pPr algn="r"/>
                      <a:r>
                        <a:rPr sz="1000" b="0">
                          <a:solidFill>
                            <a:srgbClr val="FFA84A"/>
                          </a:solidFill>
                          <a:latin typeface="Consolas"/>
                        </a:rPr>
                        <a:t> 82</a:t>
                      </a:r>
                      <a:endParaRPr sz="1000" b="0">
                        <a:solidFill>
                          <a:srgbClr val="FFA84A"/>
                        </a:solidFill>
                        <a:latin typeface="Consolas"/>
                      </a:endParaRPr>
                    </a:p>
                  </a:txBody>
                  <a:tcPr marL="54864" marR="54864" marT="36576" marB="36576">
                    <a:solidFill>
                      <a:srgbClr val="12182E"/>
                    </a:solidFill>
                  </a:tcPr>
                </a:tc>
              </a:tr>
              <a:tr h="384048">
                <a:tc>
                  <a:txBody>
                    <a:bodyPr/>
                    <a:lstStyle/>
                    <a:p>
                      <a:pPr algn="l"/>
                      <a:r>
                        <a:rPr sz="1050" b="1">
                          <a:solidFill>
                            <a:srgbClr val="E8E8F0"/>
                          </a:solidFill>
                          <a:latin typeface="Calibri"/>
                        </a:rPr>
                        <a:t>Kimi K2.6</a:t>
                      </a:r>
                      <a:endParaRPr sz="1050" b="1">
                        <a:solidFill>
                          <a:srgbClr val="E8E8F0"/>
                        </a:solidFill>
                        <a:latin typeface="Calibri"/>
                      </a:endParaRPr>
                    </a:p>
                  </a:txBody>
                  <a:tcPr marL="54864" marR="54864" marT="36576" marB="36576">
                    <a:solidFill>
                      <a:srgbClr val="13131A"/>
                    </a:solidFill>
                  </a:tcPr>
                </a:tc>
                <a:tc>
                  <a:txBody>
                    <a:bodyPr/>
                    <a:lstStyle/>
                    <a:p>
                      <a:pPr algn="r"/>
                      <a:r>
                        <a:rPr sz="1000" b="0">
                          <a:solidFill>
                            <a:srgbClr val="7878A0"/>
                          </a:solidFill>
                          <a:latin typeface="Consolas"/>
                        </a:rPr>
                        <a:t>6/6</a:t>
                      </a:r>
                      <a:endParaRPr sz="1000" b="0">
                        <a:solidFill>
                          <a:srgbClr val="7878A0"/>
                        </a:solidFill>
                        <a:latin typeface="Consolas"/>
                      </a:endParaRPr>
                    </a:p>
                  </a:txBody>
                  <a:tcPr marL="54864" marR="54864" marT="36576" marB="36576">
                    <a:solidFill>
                      <a:srgbClr val="13131A"/>
                    </a:solidFill>
                  </a:tcPr>
                </a:tc>
                <a:tc>
                  <a:txBody>
                    <a:bodyPr/>
                    <a:lstStyle/>
                    <a:p>
                      <a:pPr algn="r"/>
                      <a:r>
                        <a:rPr sz="1000" b="0">
                          <a:solidFill>
                            <a:srgbClr val="6C8EFF"/>
                          </a:solidFill>
                          <a:latin typeface="Consolas"/>
                        </a:rPr>
                        <a:t> 91</a:t>
                      </a:r>
                      <a:endParaRPr sz="1000" b="0">
                        <a:solidFill>
                          <a:srgbClr val="6C8EFF"/>
                        </a:solidFill>
                        <a:latin typeface="Consolas"/>
                      </a:endParaRPr>
                    </a:p>
                  </a:txBody>
                  <a:tcPr marL="54864" marR="54864" marT="36576" marB="36576">
                    <a:solidFill>
                      <a:srgbClr val="13131A"/>
                    </a:solidFill>
                  </a:tcPr>
                </a:tc>
                <a:tc>
                  <a:txBody>
                    <a:bodyPr/>
                    <a:lstStyle/>
                    <a:p>
                      <a:pPr algn="r"/>
                      <a:r>
                        <a:rPr sz="1000" b="0">
                          <a:solidFill>
                            <a:srgbClr val="6CFFC8"/>
                          </a:solidFill>
                          <a:latin typeface="Consolas"/>
                        </a:rPr>
                        <a:t> 45</a:t>
                      </a:r>
                      <a:endParaRPr sz="1000" b="0">
                        <a:solidFill>
                          <a:srgbClr val="6CFFC8"/>
                        </a:solidFill>
                        <a:latin typeface="Consolas"/>
                      </a:endParaRPr>
                    </a:p>
                  </a:txBody>
                  <a:tcPr marL="54864" marR="54864" marT="36576" marB="36576">
                    <a:solidFill>
                      <a:srgbClr val="13131A"/>
                    </a:solidFill>
                  </a:tcPr>
                </a:tc>
                <a:tc>
                  <a:txBody>
                    <a:bodyPr/>
                    <a:lstStyle/>
                    <a:p>
                      <a:pPr algn="r"/>
                      <a:r>
                        <a:rPr sz="1000" b="0">
                          <a:solidFill>
                            <a:srgbClr val="FFA84A"/>
                          </a:solidFill>
                          <a:latin typeface="Consolas"/>
                        </a:rPr>
                        <a:t> 77</a:t>
                      </a:r>
                      <a:endParaRPr sz="1000" b="0">
                        <a:solidFill>
                          <a:srgbClr val="FFA84A"/>
                        </a:solidFill>
                        <a:latin typeface="Consolas"/>
                      </a:endParaRPr>
                    </a:p>
                  </a:txBody>
                  <a:tcPr marL="54864" marR="54864" marT="36576" marB="36576">
                    <a:solidFill>
                      <a:srgbClr val="13131A"/>
                    </a:solidFill>
                  </a:tcPr>
                </a:tc>
              </a:tr>
              <a:tr h="384048">
                <a:tc>
                  <a:txBody>
                    <a:bodyPr/>
                    <a:lstStyle/>
                    <a:p>
                      <a:pPr algn="l"/>
                      <a:r>
                        <a:rPr sz="1050" b="1">
                          <a:solidFill>
                            <a:srgbClr val="E8E8F0"/>
                          </a:solidFill>
                          <a:latin typeface="Calibri"/>
                        </a:rPr>
                        <a:t>Gemini 3.1 Pro †</a:t>
                      </a:r>
                      <a:endParaRPr sz="1050" b="1">
                        <a:solidFill>
                          <a:srgbClr val="E8E8F0"/>
                        </a:solidFill>
                        <a:latin typeface="Calibri"/>
                      </a:endParaRPr>
                    </a:p>
                  </a:txBody>
                  <a:tcPr marL="54864" marR="54864" marT="36576" marB="36576">
                    <a:solidFill>
                      <a:srgbClr val="13131A"/>
                    </a:solidFill>
                  </a:tcPr>
                </a:tc>
                <a:tc>
                  <a:txBody>
                    <a:bodyPr/>
                    <a:lstStyle/>
                    <a:p>
                      <a:pPr algn="r"/>
                      <a:r>
                        <a:rPr sz="1000" b="0">
                          <a:solidFill>
                            <a:srgbClr val="7878A0"/>
                          </a:solidFill>
                          <a:latin typeface="Consolas"/>
                        </a:rPr>
                        <a:t>5/6</a:t>
                      </a:r>
                      <a:endParaRPr sz="1000" b="0">
                        <a:solidFill>
                          <a:srgbClr val="7878A0"/>
                        </a:solidFill>
                        <a:latin typeface="Consolas"/>
                      </a:endParaRPr>
                    </a:p>
                  </a:txBody>
                  <a:tcPr marL="54864" marR="54864" marT="36576" marB="36576">
                    <a:solidFill>
                      <a:srgbClr val="13131A"/>
                    </a:solidFill>
                  </a:tcPr>
                </a:tc>
                <a:tc>
                  <a:txBody>
                    <a:bodyPr/>
                    <a:lstStyle/>
                    <a:p>
                      <a:pPr algn="r"/>
                      <a:r>
                        <a:rPr sz="1000" b="0">
                          <a:solidFill>
                            <a:srgbClr val="6C8EFF"/>
                          </a:solidFill>
                          <a:latin typeface="Consolas"/>
                        </a:rPr>
                        <a:t> 90</a:t>
                      </a:r>
                      <a:endParaRPr sz="1000" b="0">
                        <a:solidFill>
                          <a:srgbClr val="6C8EFF"/>
                        </a:solidFill>
                        <a:latin typeface="Consolas"/>
                      </a:endParaRPr>
                    </a:p>
                  </a:txBody>
                  <a:tcPr marL="54864" marR="54864" marT="36576" marB="36576">
                    <a:solidFill>
                      <a:srgbClr val="13131A"/>
                    </a:solidFill>
                  </a:tcPr>
                </a:tc>
                <a:tc>
                  <a:txBody>
                    <a:bodyPr/>
                    <a:lstStyle/>
                    <a:p>
                      <a:pPr algn="r"/>
                      <a:r>
                        <a:rPr sz="1000" b="0">
                          <a:solidFill>
                            <a:srgbClr val="6CFFC8"/>
                          </a:solidFill>
                          <a:latin typeface="Consolas"/>
                        </a:rPr>
                        <a:t> 76</a:t>
                      </a:r>
                      <a:endParaRPr sz="1000" b="0">
                        <a:solidFill>
                          <a:srgbClr val="6CFFC8"/>
                        </a:solidFill>
                        <a:latin typeface="Consolas"/>
                      </a:endParaRPr>
                    </a:p>
                  </a:txBody>
                  <a:tcPr marL="54864" marR="54864" marT="36576" marB="36576">
                    <a:solidFill>
                      <a:srgbClr val="13131A"/>
                    </a:solidFill>
                  </a:tcPr>
                </a:tc>
                <a:tc>
                  <a:txBody>
                    <a:bodyPr/>
                    <a:lstStyle/>
                    <a:p>
                      <a:pPr algn="r"/>
                      <a:r>
                        <a:rPr sz="1000" b="0">
                          <a:solidFill>
                            <a:srgbClr val="FFA84A"/>
                          </a:solidFill>
                          <a:latin typeface="Consolas"/>
                        </a:rPr>
                        <a:t> 73</a:t>
                      </a:r>
                      <a:endParaRPr sz="1000" b="0">
                        <a:solidFill>
                          <a:srgbClr val="FFA84A"/>
                        </a:solidFill>
                        <a:latin typeface="Consolas"/>
                      </a:endParaRPr>
                    </a:p>
                  </a:txBody>
                  <a:tcPr marL="54864" marR="54864" marT="36576" marB="36576">
                    <a:solidFill>
                      <a:srgbClr val="13131A"/>
                    </a:solidFill>
                  </a:tcPr>
                </a:tc>
              </a:tr>
              <a:tr h="384048">
                <a:tc>
                  <a:txBody>
                    <a:bodyPr/>
                    <a:lstStyle/>
                    <a:p>
                      <a:pPr algn="l"/>
                      <a:r>
                        <a:rPr sz="1050" b="1">
                          <a:solidFill>
                            <a:srgbClr val="E8E8F0"/>
                          </a:solidFill>
                          <a:latin typeface="Calibri"/>
                        </a:rPr>
                        <a:t>Doubao Seed-2.0 Pro</a:t>
                      </a:r>
                      <a:endParaRPr sz="1050" b="1">
                        <a:solidFill>
                          <a:srgbClr val="E8E8F0"/>
                        </a:solidFill>
                        <a:latin typeface="Calibri"/>
                      </a:endParaRPr>
                    </a:p>
                  </a:txBody>
                  <a:tcPr marL="54864" marR="54864" marT="36576" marB="36576">
                    <a:solidFill>
                      <a:srgbClr val="13131A"/>
                    </a:solidFill>
                  </a:tcPr>
                </a:tc>
                <a:tc>
                  <a:txBody>
                    <a:bodyPr/>
                    <a:lstStyle/>
                    <a:p>
                      <a:pPr algn="r"/>
                      <a:r>
                        <a:rPr sz="1000" b="0">
                          <a:solidFill>
                            <a:srgbClr val="7878A0"/>
                          </a:solidFill>
                          <a:latin typeface="Consolas"/>
                        </a:rPr>
                        <a:t>5/6</a:t>
                      </a:r>
                      <a:endParaRPr sz="1000" b="0">
                        <a:solidFill>
                          <a:srgbClr val="7878A0"/>
                        </a:solidFill>
                        <a:latin typeface="Consolas"/>
                      </a:endParaRPr>
                    </a:p>
                  </a:txBody>
                  <a:tcPr marL="54864" marR="54864" marT="36576" marB="36576">
                    <a:solidFill>
                      <a:srgbClr val="13131A"/>
                    </a:solidFill>
                  </a:tcPr>
                </a:tc>
                <a:tc>
                  <a:txBody>
                    <a:bodyPr/>
                    <a:lstStyle/>
                    <a:p>
                      <a:pPr algn="r"/>
                      <a:r>
                        <a:rPr sz="1000" b="0">
                          <a:solidFill>
                            <a:srgbClr val="6C8EFF"/>
                          </a:solidFill>
                          <a:latin typeface="Consolas"/>
                        </a:rPr>
                        <a:t> 94</a:t>
                      </a:r>
                      <a:endParaRPr sz="1000" b="0">
                        <a:solidFill>
                          <a:srgbClr val="6C8EFF"/>
                        </a:solidFill>
                        <a:latin typeface="Consolas"/>
                      </a:endParaRPr>
                    </a:p>
                  </a:txBody>
                  <a:tcPr marL="54864" marR="54864" marT="36576" marB="36576">
                    <a:solidFill>
                      <a:srgbClr val="13131A"/>
                    </a:solidFill>
                  </a:tcPr>
                </a:tc>
                <a:tc>
                  <a:txBody>
                    <a:bodyPr/>
                    <a:lstStyle/>
                    <a:p>
                      <a:pPr algn="r"/>
                      <a:r>
                        <a:rPr sz="1000" b="0">
                          <a:solidFill>
                            <a:srgbClr val="6CFFC8"/>
                          </a:solidFill>
                          <a:latin typeface="Consolas"/>
                        </a:rPr>
                        <a:t> 48</a:t>
                      </a:r>
                      <a:endParaRPr sz="1000" b="0">
                        <a:solidFill>
                          <a:srgbClr val="6CFFC8"/>
                        </a:solidFill>
                        <a:latin typeface="Consolas"/>
                      </a:endParaRPr>
                    </a:p>
                  </a:txBody>
                  <a:tcPr marL="54864" marR="54864" marT="36576" marB="36576">
                    <a:solidFill>
                      <a:srgbClr val="13131A"/>
                    </a:solidFill>
                  </a:tcPr>
                </a:tc>
                <a:tc>
                  <a:txBody>
                    <a:bodyPr/>
                    <a:lstStyle/>
                    <a:p>
                      <a:pPr algn="r"/>
                      <a:r>
                        <a:rPr sz="1000" b="0">
                          <a:solidFill>
                            <a:srgbClr val="FFA84A"/>
                          </a:solidFill>
                          <a:latin typeface="Consolas"/>
                        </a:rPr>
                        <a:t> 68</a:t>
                      </a:r>
                      <a:endParaRPr sz="1000" b="0">
                        <a:solidFill>
                          <a:srgbClr val="FFA84A"/>
                        </a:solidFill>
                        <a:latin typeface="Consolas"/>
                      </a:endParaRPr>
                    </a:p>
                  </a:txBody>
                  <a:tcPr marL="54864" marR="54864" marT="36576" marB="36576">
                    <a:solidFill>
                      <a:srgbClr val="13131A"/>
                    </a:solidFill>
                  </a:tcPr>
                </a:tc>
              </a:tr>
              <a:tr h="384048">
                <a:tc>
                  <a:txBody>
                    <a:bodyPr/>
                    <a:lstStyle/>
                    <a:p>
                      <a:pPr algn="l"/>
                      <a:r>
                        <a:rPr sz="1050" b="1">
                          <a:solidFill>
                            <a:srgbClr val="E8E8F0"/>
                          </a:solidFill>
                          <a:latin typeface="Calibri"/>
                        </a:rPr>
                        <a:t>GLM-4-7-251222</a:t>
                      </a:r>
                      <a:endParaRPr sz="1050" b="1">
                        <a:solidFill>
                          <a:srgbClr val="E8E8F0"/>
                        </a:solidFill>
                        <a:latin typeface="Calibri"/>
                      </a:endParaRPr>
                    </a:p>
                  </a:txBody>
                  <a:tcPr marL="54864" marR="54864" marT="36576" marB="36576">
                    <a:solidFill>
                      <a:srgbClr val="13131A"/>
                    </a:solidFill>
                  </a:tcPr>
                </a:tc>
                <a:tc>
                  <a:txBody>
                    <a:bodyPr/>
                    <a:lstStyle/>
                    <a:p>
                      <a:pPr algn="r"/>
                      <a:r>
                        <a:rPr sz="1000" b="0">
                          <a:solidFill>
                            <a:srgbClr val="7878A0"/>
                          </a:solidFill>
                          <a:latin typeface="Consolas"/>
                        </a:rPr>
                        <a:t>5/6</a:t>
                      </a:r>
                      <a:endParaRPr sz="1000" b="0">
                        <a:solidFill>
                          <a:srgbClr val="7878A0"/>
                        </a:solidFill>
                        <a:latin typeface="Consolas"/>
                      </a:endParaRPr>
                    </a:p>
                  </a:txBody>
                  <a:tcPr marL="54864" marR="54864" marT="36576" marB="36576">
                    <a:solidFill>
                      <a:srgbClr val="13131A"/>
                    </a:solidFill>
                  </a:tcPr>
                </a:tc>
                <a:tc>
                  <a:txBody>
                    <a:bodyPr/>
                    <a:lstStyle/>
                    <a:p>
                      <a:pPr algn="r"/>
                      <a:r>
                        <a:rPr sz="1000" b="1">
                          <a:solidFill>
                            <a:srgbClr val="FF6C8E"/>
                          </a:solidFill>
                          <a:latin typeface="Consolas"/>
                        </a:rPr>
                        <a:t> 86  ▼</a:t>
                      </a:r>
                      <a:endParaRPr sz="1000" b="1">
                        <a:solidFill>
                          <a:srgbClr val="FF6C8E"/>
                        </a:solidFill>
                        <a:latin typeface="Consolas"/>
                      </a:endParaRPr>
                    </a:p>
                  </a:txBody>
                  <a:tcPr marL="54864" marR="54864" marT="36576" marB="36576">
                    <a:solidFill>
                      <a:srgbClr val="2D141C"/>
                    </a:solidFill>
                  </a:tcPr>
                </a:tc>
                <a:tc>
                  <a:txBody>
                    <a:bodyPr/>
                    <a:lstStyle/>
                    <a:p>
                      <a:pPr algn="r"/>
                      <a:r>
                        <a:rPr sz="1000" b="0">
                          <a:solidFill>
                            <a:srgbClr val="6CFFC8"/>
                          </a:solidFill>
                          <a:latin typeface="Consolas"/>
                        </a:rPr>
                        <a:t> 64</a:t>
                      </a:r>
                      <a:endParaRPr sz="1000" b="0">
                        <a:solidFill>
                          <a:srgbClr val="6CFFC8"/>
                        </a:solidFill>
                        <a:latin typeface="Consolas"/>
                      </a:endParaRPr>
                    </a:p>
                  </a:txBody>
                  <a:tcPr marL="54864" marR="54864" marT="36576" marB="36576">
                    <a:solidFill>
                      <a:srgbClr val="13131A"/>
                    </a:solidFill>
                  </a:tcPr>
                </a:tc>
                <a:tc>
                  <a:txBody>
                    <a:bodyPr/>
                    <a:lstStyle/>
                    <a:p>
                      <a:pPr algn="r"/>
                      <a:r>
                        <a:rPr sz="1000" b="0">
                          <a:solidFill>
                            <a:srgbClr val="FFA84A"/>
                          </a:solidFill>
                          <a:latin typeface="Consolas"/>
                        </a:rPr>
                        <a:t> 66</a:t>
                      </a:r>
                      <a:endParaRPr sz="1000" b="0">
                        <a:solidFill>
                          <a:srgbClr val="FFA84A"/>
                        </a:solidFill>
                        <a:latin typeface="Consolas"/>
                      </a:endParaRPr>
                    </a:p>
                  </a:txBody>
                  <a:tcPr marL="54864" marR="54864" marT="36576" marB="36576">
                    <a:solidFill>
                      <a:srgbClr val="13131A"/>
                    </a:solidFill>
                  </a:tcPr>
                </a:tc>
              </a:tr>
              <a:tr h="384048">
                <a:tc>
                  <a:txBody>
                    <a:bodyPr/>
                    <a:lstStyle/>
                    <a:p>
                      <a:pPr algn="l"/>
                      <a:r>
                        <a:rPr sz="1050" b="1">
                          <a:solidFill>
                            <a:srgbClr val="E8E8F0"/>
                          </a:solidFill>
                          <a:latin typeface="Calibri"/>
                        </a:rPr>
                        <a:t>DeepSeek-Chat †</a:t>
                      </a:r>
                      <a:endParaRPr sz="1050" b="1">
                        <a:solidFill>
                          <a:srgbClr val="E8E8F0"/>
                        </a:solidFill>
                        <a:latin typeface="Calibri"/>
                      </a:endParaRPr>
                    </a:p>
                  </a:txBody>
                  <a:tcPr marL="54864" marR="54864" marT="36576" marB="36576">
                    <a:solidFill>
                      <a:srgbClr val="13131A"/>
                    </a:solidFill>
                  </a:tcPr>
                </a:tc>
                <a:tc>
                  <a:txBody>
                    <a:bodyPr/>
                    <a:lstStyle/>
                    <a:p>
                      <a:pPr algn="r"/>
                      <a:r>
                        <a:rPr sz="1000" b="0">
                          <a:solidFill>
                            <a:srgbClr val="7878A0"/>
                          </a:solidFill>
                          <a:latin typeface="Consolas"/>
                        </a:rPr>
                        <a:t>4/6</a:t>
                      </a:r>
                      <a:endParaRPr sz="1000" b="0">
                        <a:solidFill>
                          <a:srgbClr val="7878A0"/>
                        </a:solidFill>
                        <a:latin typeface="Consolas"/>
                      </a:endParaRPr>
                    </a:p>
                  </a:txBody>
                  <a:tcPr marL="54864" marR="54864" marT="36576" marB="36576">
                    <a:solidFill>
                      <a:srgbClr val="13131A"/>
                    </a:solidFill>
                  </a:tcPr>
                </a:tc>
                <a:tc>
                  <a:txBody>
                    <a:bodyPr/>
                    <a:lstStyle/>
                    <a:p>
                      <a:pPr algn="r"/>
                      <a:r>
                        <a:rPr sz="1000" b="1">
                          <a:solidFill>
                            <a:srgbClr val="6CFFC8"/>
                          </a:solidFill>
                          <a:latin typeface="Consolas"/>
                        </a:rPr>
                        <a:t> 96  ▲</a:t>
                      </a:r>
                      <a:endParaRPr sz="1000" b="1">
                        <a:solidFill>
                          <a:srgbClr val="6CFFC8"/>
                        </a:solidFill>
                        <a:latin typeface="Consolas"/>
                      </a:endParaRPr>
                    </a:p>
                  </a:txBody>
                  <a:tcPr marL="54864" marR="54864" marT="36576" marB="36576">
                    <a:solidFill>
                      <a:srgbClr val="142D22"/>
                    </a:solidFill>
                  </a:tcPr>
                </a:tc>
                <a:tc>
                  <a:txBody>
                    <a:bodyPr/>
                    <a:lstStyle/>
                    <a:p>
                      <a:pPr algn="r"/>
                      <a:r>
                        <a:rPr sz="1000" b="1">
                          <a:solidFill>
                            <a:srgbClr val="FF6C8E"/>
                          </a:solidFill>
                          <a:latin typeface="Consolas"/>
                        </a:rPr>
                        <a:t> 21  ▼</a:t>
                      </a:r>
                      <a:endParaRPr sz="1000" b="1">
                        <a:solidFill>
                          <a:srgbClr val="FF6C8E"/>
                        </a:solidFill>
                        <a:latin typeface="Consolas"/>
                      </a:endParaRPr>
                    </a:p>
                  </a:txBody>
                  <a:tcPr marL="54864" marR="54864" marT="36576" marB="36576">
                    <a:solidFill>
                      <a:srgbClr val="2D141C"/>
                    </a:solidFill>
                  </a:tcPr>
                </a:tc>
                <a:tc>
                  <a:txBody>
                    <a:bodyPr/>
                    <a:lstStyle/>
                    <a:p>
                      <a:pPr algn="r"/>
                      <a:r>
                        <a:rPr sz="1000" b="1">
                          <a:solidFill>
                            <a:srgbClr val="6CFFC8"/>
                          </a:solidFill>
                          <a:latin typeface="Consolas"/>
                        </a:rPr>
                        <a:t> 86  ▲</a:t>
                      </a:r>
                      <a:endParaRPr sz="1000" b="1">
                        <a:solidFill>
                          <a:srgbClr val="6CFFC8"/>
                        </a:solidFill>
                        <a:latin typeface="Consolas"/>
                      </a:endParaRPr>
                    </a:p>
                  </a:txBody>
                  <a:tcPr marL="54864" marR="54864" marT="36576" marB="36576">
                    <a:solidFill>
                      <a:srgbClr val="142D22"/>
                    </a:solidFill>
                  </a:tcPr>
                </a:tc>
              </a:tr>
              <a:tr h="384048">
                <a:tc>
                  <a:txBody>
                    <a:bodyPr/>
                    <a:lstStyle/>
                    <a:p>
                      <a:pPr algn="l"/>
                      <a:r>
                        <a:rPr sz="1050" b="1">
                          <a:solidFill>
                            <a:srgbClr val="E8E8F0"/>
                          </a:solidFill>
                          <a:latin typeface="Calibri"/>
                        </a:rPr>
                        <a:t>GPT-5.4 †</a:t>
                      </a:r>
                      <a:endParaRPr sz="1050" b="1">
                        <a:solidFill>
                          <a:srgbClr val="E8E8F0"/>
                        </a:solidFill>
                        <a:latin typeface="Calibri"/>
                      </a:endParaRPr>
                    </a:p>
                  </a:txBody>
                  <a:tcPr marL="54864" marR="54864" marT="36576" marB="36576">
                    <a:solidFill>
                      <a:srgbClr val="13131A"/>
                    </a:solidFill>
                  </a:tcPr>
                </a:tc>
                <a:tc>
                  <a:txBody>
                    <a:bodyPr/>
                    <a:lstStyle/>
                    <a:p>
                      <a:pPr algn="r"/>
                      <a:r>
                        <a:rPr sz="1000" b="0">
                          <a:solidFill>
                            <a:srgbClr val="7878A0"/>
                          </a:solidFill>
                          <a:latin typeface="Consolas"/>
                        </a:rPr>
                        <a:t>4/6</a:t>
                      </a:r>
                      <a:endParaRPr sz="1000" b="0">
                        <a:solidFill>
                          <a:srgbClr val="7878A0"/>
                        </a:solidFill>
                        <a:latin typeface="Consolas"/>
                      </a:endParaRPr>
                    </a:p>
                  </a:txBody>
                  <a:tcPr marL="54864" marR="54864" marT="36576" marB="36576">
                    <a:solidFill>
                      <a:srgbClr val="13131A"/>
                    </a:solidFill>
                  </a:tcPr>
                </a:tc>
                <a:tc>
                  <a:txBody>
                    <a:bodyPr/>
                    <a:lstStyle/>
                    <a:p>
                      <a:pPr algn="r"/>
                      <a:r>
                        <a:rPr sz="1000" b="0">
                          <a:solidFill>
                            <a:srgbClr val="6C8EFF"/>
                          </a:solidFill>
                          <a:latin typeface="Consolas"/>
                        </a:rPr>
                        <a:t> 93</a:t>
                      </a:r>
                      <a:endParaRPr sz="1000" b="0">
                        <a:solidFill>
                          <a:srgbClr val="6C8EFF"/>
                        </a:solidFill>
                        <a:latin typeface="Consolas"/>
                      </a:endParaRPr>
                    </a:p>
                  </a:txBody>
                  <a:tcPr marL="54864" marR="54864" marT="36576" marB="36576">
                    <a:solidFill>
                      <a:srgbClr val="13131A"/>
                    </a:solidFill>
                  </a:tcPr>
                </a:tc>
                <a:tc>
                  <a:txBody>
                    <a:bodyPr/>
                    <a:lstStyle/>
                    <a:p>
                      <a:pPr algn="r"/>
                      <a:r>
                        <a:rPr sz="1000" b="0">
                          <a:solidFill>
                            <a:srgbClr val="6CFFC8"/>
                          </a:solidFill>
                          <a:latin typeface="Consolas"/>
                        </a:rPr>
                        <a:t> 58</a:t>
                      </a:r>
                      <a:endParaRPr sz="1000" b="0">
                        <a:solidFill>
                          <a:srgbClr val="6CFFC8"/>
                        </a:solidFill>
                        <a:latin typeface="Consolas"/>
                      </a:endParaRPr>
                    </a:p>
                  </a:txBody>
                  <a:tcPr marL="54864" marR="54864" marT="36576" marB="36576">
                    <a:solidFill>
                      <a:srgbClr val="13131A"/>
                    </a:solidFill>
                  </a:tcPr>
                </a:tc>
                <a:tc>
                  <a:txBody>
                    <a:bodyPr/>
                    <a:lstStyle/>
                    <a:p>
                      <a:pPr algn="r"/>
                      <a:r>
                        <a:rPr sz="1000" b="0">
                          <a:solidFill>
                            <a:srgbClr val="FFA84A"/>
                          </a:solidFill>
                          <a:latin typeface="Consolas"/>
                        </a:rPr>
                        <a:t> 84</a:t>
                      </a:r>
                      <a:endParaRPr sz="1000" b="0">
                        <a:solidFill>
                          <a:srgbClr val="FFA84A"/>
                        </a:solidFill>
                        <a:latin typeface="Consolas"/>
                      </a:endParaRPr>
                    </a:p>
                  </a:txBody>
                  <a:tcPr marL="54864" marR="54864" marT="36576" marB="36576">
                    <a:solidFill>
                      <a:srgbClr val="13131A"/>
                    </a:solidFill>
                  </a:tcPr>
                </a:tc>
              </a:tr>
              <a:tr h="384048">
                <a:tc>
                  <a:txBody>
                    <a:bodyPr/>
                    <a:lstStyle/>
                    <a:p>
                      <a:pPr algn="l"/>
                      <a:r>
                        <a:rPr sz="1050" b="1">
                          <a:solidFill>
                            <a:srgbClr val="E8E8F0"/>
                          </a:solidFill>
                          <a:latin typeface="Calibri"/>
                        </a:rPr>
                        <a:t>Claude Sonnet 4-5 †</a:t>
                      </a:r>
                      <a:endParaRPr sz="1050" b="1">
                        <a:solidFill>
                          <a:srgbClr val="E8E8F0"/>
                        </a:solidFill>
                        <a:latin typeface="Calibri"/>
                      </a:endParaRPr>
                    </a:p>
                  </a:txBody>
                  <a:tcPr marL="54864" marR="54864" marT="36576" marB="36576">
                    <a:solidFill>
                      <a:srgbClr val="13131A"/>
                    </a:solidFill>
                  </a:tcPr>
                </a:tc>
                <a:tc>
                  <a:txBody>
                    <a:bodyPr/>
                    <a:lstStyle/>
                    <a:p>
                      <a:pPr algn="r"/>
                      <a:r>
                        <a:rPr sz="1000" b="0">
                          <a:solidFill>
                            <a:srgbClr val="7878A0"/>
                          </a:solidFill>
                          <a:latin typeface="Consolas"/>
                        </a:rPr>
                        <a:t>3/6</a:t>
                      </a:r>
                      <a:endParaRPr sz="1000" b="0">
                        <a:solidFill>
                          <a:srgbClr val="7878A0"/>
                        </a:solidFill>
                        <a:latin typeface="Consolas"/>
                      </a:endParaRPr>
                    </a:p>
                  </a:txBody>
                  <a:tcPr marL="54864" marR="54864" marT="36576" marB="36576">
                    <a:solidFill>
                      <a:srgbClr val="13131A"/>
                    </a:solidFill>
                  </a:tcPr>
                </a:tc>
                <a:tc>
                  <a:txBody>
                    <a:bodyPr/>
                    <a:lstStyle/>
                    <a:p>
                      <a:pPr algn="r"/>
                      <a:r>
                        <a:rPr sz="1000" b="1">
                          <a:solidFill>
                            <a:srgbClr val="6CFFC8"/>
                          </a:solidFill>
                          <a:latin typeface="Consolas"/>
                        </a:rPr>
                        <a:t> 96  ▲</a:t>
                      </a:r>
                      <a:endParaRPr sz="1000" b="1">
                        <a:solidFill>
                          <a:srgbClr val="6CFFC8"/>
                        </a:solidFill>
                        <a:latin typeface="Consolas"/>
                      </a:endParaRPr>
                    </a:p>
                  </a:txBody>
                  <a:tcPr marL="54864" marR="54864" marT="36576" marB="36576">
                    <a:solidFill>
                      <a:srgbClr val="142D22"/>
                    </a:solidFill>
                  </a:tcPr>
                </a:tc>
                <a:tc>
                  <a:txBody>
                    <a:bodyPr/>
                    <a:lstStyle/>
                    <a:p>
                      <a:pPr algn="r"/>
                      <a:r>
                        <a:rPr sz="1000" b="0">
                          <a:solidFill>
                            <a:srgbClr val="6CFFC8"/>
                          </a:solidFill>
                          <a:latin typeface="Consolas"/>
                        </a:rPr>
                        <a:t> 39</a:t>
                      </a:r>
                      <a:endParaRPr sz="1000" b="0">
                        <a:solidFill>
                          <a:srgbClr val="6CFFC8"/>
                        </a:solidFill>
                        <a:latin typeface="Consolas"/>
                      </a:endParaRPr>
                    </a:p>
                  </a:txBody>
                  <a:tcPr marL="54864" marR="54864" marT="36576" marB="36576">
                    <a:solidFill>
                      <a:srgbClr val="13131A"/>
                    </a:solidFill>
                  </a:tcPr>
                </a:tc>
                <a:tc>
                  <a:txBody>
                    <a:bodyPr/>
                    <a:lstStyle/>
                    <a:p>
                      <a:pPr algn="r"/>
                      <a:r>
                        <a:rPr sz="1000" b="1">
                          <a:solidFill>
                            <a:srgbClr val="FF6C8E"/>
                          </a:solidFill>
                          <a:latin typeface="Consolas"/>
                        </a:rPr>
                        <a:t> 54  ▼</a:t>
                      </a:r>
                      <a:endParaRPr sz="1000" b="1">
                        <a:solidFill>
                          <a:srgbClr val="FF6C8E"/>
                        </a:solidFill>
                        <a:latin typeface="Consolas"/>
                      </a:endParaRPr>
                    </a:p>
                  </a:txBody>
                  <a:tcPr marL="54864" marR="54864" marT="36576" marB="36576">
                    <a:solidFill>
                      <a:srgbClr val="2D141C"/>
                    </a:solidFill>
                  </a:tcPr>
                </a:tc>
              </a:tr>
              <a:tr h="384048">
                <a:tc>
                  <a:txBody>
                    <a:bodyPr/>
                    <a:lstStyle/>
                    <a:p>
                      <a:pPr algn="l"/>
                      <a:r>
                        <a:rPr sz="1050" b="1">
                          <a:solidFill>
                            <a:srgbClr val="E8E8F0"/>
                          </a:solidFill>
                          <a:latin typeface="Calibri"/>
                        </a:rPr>
                        <a:t>GPT-5.5</a:t>
                      </a:r>
                      <a:endParaRPr sz="1050" b="1">
                        <a:solidFill>
                          <a:srgbClr val="E8E8F0"/>
                        </a:solidFill>
                        <a:latin typeface="Calibri"/>
                      </a:endParaRPr>
                    </a:p>
                  </a:txBody>
                  <a:tcPr marL="54864" marR="54864" marT="36576" marB="36576">
                    <a:solidFill>
                      <a:srgbClr val="28141C"/>
                    </a:solidFill>
                  </a:tcPr>
                </a:tc>
                <a:tc>
                  <a:txBody>
                    <a:bodyPr/>
                    <a:lstStyle/>
                    <a:p>
                      <a:pPr algn="r"/>
                      <a:r>
                        <a:rPr sz="1000" b="0">
                          <a:solidFill>
                            <a:srgbClr val="7878A0"/>
                          </a:solidFill>
                          <a:latin typeface="Consolas"/>
                        </a:rPr>
                        <a:t>1/6</a:t>
                      </a:r>
                      <a:endParaRPr sz="1000" b="0">
                        <a:solidFill>
                          <a:srgbClr val="7878A0"/>
                        </a:solidFill>
                        <a:latin typeface="Consolas"/>
                      </a:endParaRPr>
                    </a:p>
                  </a:txBody>
                  <a:tcPr marL="54864" marR="54864" marT="36576" marB="36576">
                    <a:solidFill>
                      <a:srgbClr val="28141C"/>
                    </a:solidFill>
                  </a:tcPr>
                </a:tc>
                <a:tc>
                  <a:txBody>
                    <a:bodyPr/>
                    <a:lstStyle/>
                    <a:p>
                      <a:pPr algn="r"/>
                      <a:r>
                        <a:rPr sz="1000" b="1">
                          <a:solidFill>
                            <a:srgbClr val="6CFFC8"/>
                          </a:solidFill>
                          <a:latin typeface="Consolas"/>
                        </a:rPr>
                        <a:t> 96  ▲</a:t>
                      </a:r>
                      <a:endParaRPr sz="1000" b="1">
                        <a:solidFill>
                          <a:srgbClr val="6CFFC8"/>
                        </a:solidFill>
                        <a:latin typeface="Consolas"/>
                      </a:endParaRPr>
                    </a:p>
                  </a:txBody>
                  <a:tcPr marL="54864" marR="54864" marT="36576" marB="36576">
                    <a:solidFill>
                      <a:srgbClr val="142D22"/>
                    </a:solidFill>
                  </a:tcPr>
                </a:tc>
                <a:tc>
                  <a:txBody>
                    <a:bodyPr/>
                    <a:lstStyle/>
                    <a:p>
                      <a:pPr algn="r"/>
                      <a:r>
                        <a:rPr sz="1000" b="0">
                          <a:solidFill>
                            <a:srgbClr val="7878A0"/>
                          </a:solidFill>
                          <a:latin typeface="Consolas"/>
                        </a:rPr>
                        <a:t> 40</a:t>
                      </a:r>
                      <a:endParaRPr sz="1000" b="0">
                        <a:solidFill>
                          <a:srgbClr val="7878A0"/>
                        </a:solidFill>
                        <a:latin typeface="Consolas"/>
                      </a:endParaRPr>
                    </a:p>
                  </a:txBody>
                  <a:tcPr marL="54864" marR="54864" marT="36576" marB="36576">
                    <a:solidFill>
                      <a:srgbClr val="28141C"/>
                    </a:solidFill>
                  </a:tcPr>
                </a:tc>
                <a:tc>
                  <a:txBody>
                    <a:bodyPr/>
                    <a:lstStyle/>
                    <a:p>
                      <a:pPr algn="r"/>
                      <a:r>
                        <a:rPr sz="1000" b="0">
                          <a:solidFill>
                            <a:srgbClr val="7878A0"/>
                          </a:solidFill>
                          <a:latin typeface="Consolas"/>
                        </a:rPr>
                        <a:t> 67</a:t>
                      </a:r>
                      <a:endParaRPr sz="1000" b="0">
                        <a:solidFill>
                          <a:srgbClr val="7878A0"/>
                        </a:solidFill>
                        <a:latin typeface="Consolas"/>
                      </a:endParaRPr>
                    </a:p>
                  </a:txBody>
                  <a:tcPr marL="54864" marR="54864" marT="36576" marB="36576">
                    <a:solidFill>
                      <a:srgbClr val="28141C"/>
                    </a:solidFill>
                  </a:tcPr>
                </a:tc>
              </a:tr>
            </a:tbl>
          </a:graphicData>
        </a:graphic>
      </p:graphicFrame>
      <p:sp>
        <p:nvSpPr>
          <p:cNvPr id="6" name="Rounded Rectangle 5"/>
          <p:cNvSpPr/>
          <p:nvPr/>
        </p:nvSpPr>
        <p:spPr>
          <a:xfrm>
            <a:off x="7589520" y="1463040"/>
            <a:ext cx="4023360" cy="1234440"/>
          </a:xfrm>
          <a:prstGeom prst="roundRect">
            <a:avLst>
              <a:gd name="adj" fmla="val 6000"/>
            </a:avLst>
          </a:prstGeom>
          <a:solidFill>
            <a:srgbClr val="13131A"/>
          </a:solidFill>
          <a:ln w="9525">
            <a:solidFill>
              <a:srgbClr val="FF6C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80" y="1554480"/>
            <a:ext cx="3749040" cy="228600"/>
          </a:xfrm>
          <a:prstGeom prst="rect">
            <a:avLst/>
          </a:prstGeom>
          <a:noFill/>
        </p:spPr>
        <p:txBody>
          <a:bodyPr wrap="square" lIns="0" tIns="0" rIns="0" bIns="0" anchor="t">
            <a:spAutoFit/>
          </a:bodyPr>
          <a:lstStyle/>
          <a:p>
            <a:pPr algn="l"/>
            <a:r>
              <a:rPr sz="900" b="1" i="0">
                <a:solidFill>
                  <a:srgbClr val="FF6C8E"/>
                </a:solidFill>
                <a:latin typeface="Consolas"/>
              </a:rPr>
              <a:t>P-BIAS IS ALMOST UNIVERSAL</a:t>
            </a:r>
            <a:endParaRPr sz="900" b="1" i="0">
              <a:solidFill>
                <a:srgbClr val="FF6C8E"/>
              </a:solidFill>
              <a:latin typeface="Consolas"/>
            </a:endParaRPr>
          </a:p>
        </p:txBody>
      </p:sp>
      <p:sp>
        <p:nvSpPr>
          <p:cNvPr id="8" name="TextBox 7"/>
          <p:cNvSpPr txBox="1"/>
          <p:nvPr/>
        </p:nvSpPr>
        <p:spPr>
          <a:xfrm>
            <a:off x="7726680" y="1810512"/>
            <a:ext cx="3749040" cy="822960"/>
          </a:xfrm>
          <a:prstGeom prst="rect">
            <a:avLst/>
          </a:prstGeom>
          <a:noFill/>
        </p:spPr>
        <p:txBody>
          <a:bodyPr wrap="square" lIns="0" tIns="0" rIns="0" bIns="0" anchor="t">
            <a:spAutoFit/>
          </a:bodyPr>
          <a:lstStyle/>
          <a:p>
            <a:pPr algn="l"/>
            <a:r>
              <a:rPr sz="950" b="0" i="0">
                <a:solidFill>
                  <a:srgbClr val="7878A0"/>
                </a:solidFill>
                <a:latin typeface="Calibri"/>
              </a:rPr>
              <a:t>7 of 9 models score P &gt; F by 15–65 points. Models pick venues humans would like — they just can't fit those venues into a feasible schedule. Only Opus and Gemini Pro keep F and P within 3pt of each other.</a:t>
            </a:r>
            <a:endParaRPr sz="950" b="0" i="0">
              <a:solidFill>
                <a:srgbClr val="7878A0"/>
              </a:solidFill>
              <a:latin typeface="Calibri"/>
            </a:endParaRPr>
          </a:p>
        </p:txBody>
      </p:sp>
      <p:sp>
        <p:nvSpPr>
          <p:cNvPr id="9" name="Rounded Rectangle 8"/>
          <p:cNvSpPr/>
          <p:nvPr/>
        </p:nvSpPr>
        <p:spPr>
          <a:xfrm>
            <a:off x="7589520" y="2752344"/>
            <a:ext cx="4023360" cy="1234440"/>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80" y="2843784"/>
            <a:ext cx="3749040" cy="228600"/>
          </a:xfrm>
          <a:prstGeom prst="rect">
            <a:avLst/>
          </a:prstGeom>
          <a:noFill/>
        </p:spPr>
        <p:txBody>
          <a:bodyPr wrap="square" lIns="0" tIns="0" rIns="0" bIns="0" anchor="t">
            <a:spAutoFit/>
          </a:bodyPr>
          <a:lstStyle/>
          <a:p>
            <a:pPr algn="l"/>
            <a:r>
              <a:rPr sz="900" b="1" i="0">
                <a:solidFill>
                  <a:srgbClr val="FFA84A"/>
                </a:solidFill>
                <a:latin typeface="Consolas"/>
              </a:rPr>
              <a:t>DEEPSEEK-CHAT — KNOWS WHAT, NOT HOW</a:t>
            </a:r>
            <a:endParaRPr sz="900" b="1" i="0">
              <a:solidFill>
                <a:srgbClr val="FFA84A"/>
              </a:solidFill>
              <a:latin typeface="Consolas"/>
            </a:endParaRPr>
          </a:p>
        </p:txBody>
      </p:sp>
      <p:sp>
        <p:nvSpPr>
          <p:cNvPr id="11" name="TextBox 10"/>
          <p:cNvSpPr txBox="1"/>
          <p:nvPr/>
        </p:nvSpPr>
        <p:spPr>
          <a:xfrm>
            <a:off x="7726680" y="3099816"/>
            <a:ext cx="3749040" cy="822960"/>
          </a:xfrm>
          <a:prstGeom prst="rect">
            <a:avLst/>
          </a:prstGeom>
          <a:noFill/>
        </p:spPr>
        <p:txBody>
          <a:bodyPr wrap="square" lIns="0" tIns="0" rIns="0" bIns="0" anchor="t">
            <a:spAutoFit/>
          </a:bodyPr>
          <a:lstStyle/>
          <a:p>
            <a:pPr algn="l"/>
            <a:r>
              <a:rPr sz="950" b="0" i="0">
                <a:solidFill>
                  <a:srgbClr val="7878A0"/>
                </a:solidFill>
                <a:latin typeface="Calibri"/>
              </a:rPr>
              <a:t>P = 86 (the table's TOP ▲) but F = 21 (the table's BOTTOM ▼). The 65pt gap is the widest in the panel: it consistently picks venues a human would love, then schedules them in ways that break hours, overlap, or travel feasibility.</a:t>
            </a:r>
            <a:endParaRPr sz="950" b="0" i="0">
              <a:solidFill>
                <a:srgbClr val="7878A0"/>
              </a:solidFill>
              <a:latin typeface="Calibri"/>
            </a:endParaRPr>
          </a:p>
        </p:txBody>
      </p:sp>
      <p:sp>
        <p:nvSpPr>
          <p:cNvPr id="12" name="Rounded Rectangle 11"/>
          <p:cNvSpPr/>
          <p:nvPr/>
        </p:nvSpPr>
        <p:spPr>
          <a:xfrm>
            <a:off x="7589520" y="4041648"/>
            <a:ext cx="4023360" cy="123444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80" y="4133088"/>
            <a:ext cx="3749040" cy="228600"/>
          </a:xfrm>
          <a:prstGeom prst="rect">
            <a:avLst/>
          </a:prstGeom>
          <a:noFill/>
        </p:spPr>
        <p:txBody>
          <a:bodyPr wrap="square" lIns="0" tIns="0" rIns="0" bIns="0" anchor="t">
            <a:spAutoFit/>
          </a:bodyPr>
          <a:lstStyle/>
          <a:p>
            <a:pPr algn="l"/>
            <a:r>
              <a:rPr sz="900" b="1" i="0">
                <a:solidFill>
                  <a:srgbClr val="6C8EFF"/>
                </a:solidFill>
                <a:latin typeface="Consolas"/>
              </a:rPr>
              <a:t>OPUS 4-8 — THE ONLY BALANCED PREMIUM</a:t>
            </a:r>
            <a:endParaRPr sz="900" b="1" i="0">
              <a:solidFill>
                <a:srgbClr val="6C8EFF"/>
              </a:solidFill>
              <a:latin typeface="Consolas"/>
            </a:endParaRPr>
          </a:p>
        </p:txBody>
      </p:sp>
      <p:sp>
        <p:nvSpPr>
          <p:cNvPr id="14" name="TextBox 13"/>
          <p:cNvSpPr txBox="1"/>
          <p:nvPr/>
        </p:nvSpPr>
        <p:spPr>
          <a:xfrm>
            <a:off x="7726680" y="4389120"/>
            <a:ext cx="3749040" cy="822960"/>
          </a:xfrm>
          <a:prstGeom prst="rect">
            <a:avLst/>
          </a:prstGeom>
          <a:noFill/>
        </p:spPr>
        <p:txBody>
          <a:bodyPr wrap="square" lIns="0" tIns="0" rIns="0" bIns="0" anchor="t">
            <a:spAutoFit/>
          </a:bodyPr>
          <a:lstStyle/>
          <a:p>
            <a:pPr algn="l"/>
            <a:r>
              <a:rPr sz="950" b="0" i="0">
                <a:solidFill>
                  <a:srgbClr val="7878A0"/>
                </a:solidFill>
                <a:latin typeface="Calibri"/>
              </a:rPr>
              <a:t>F = 85 ▲ and P = 82 (top-2). The only model where feasibility doesn't get sacrificed for preference. Gemini Pro is the runner-up balanced reasoner (F 76 / P 73).</a:t>
            </a:r>
            <a:endParaRPr sz="950" b="0" i="0">
              <a:solidFill>
                <a:srgbClr val="7878A0"/>
              </a:solidFill>
              <a:latin typeface="Calibri"/>
            </a:endParaRPr>
          </a:p>
        </p:txBody>
      </p:sp>
      <p:sp>
        <p:nvSpPr>
          <p:cNvPr id="15" name="Rounded Rectangle 14"/>
          <p:cNvSpPr/>
          <p:nvPr/>
        </p:nvSpPr>
        <p:spPr>
          <a:xfrm>
            <a:off x="7589520" y="5330952"/>
            <a:ext cx="4023360" cy="123444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80" y="5422392"/>
            <a:ext cx="3749040" cy="228600"/>
          </a:xfrm>
          <a:prstGeom prst="rect">
            <a:avLst/>
          </a:prstGeom>
          <a:noFill/>
        </p:spPr>
        <p:txBody>
          <a:bodyPr wrap="square" lIns="0" tIns="0" rIns="0" bIns="0" anchor="t">
            <a:spAutoFit/>
          </a:bodyPr>
          <a:lstStyle/>
          <a:p>
            <a:pPr algn="l"/>
            <a:r>
              <a:rPr sz="900" b="1" i="0">
                <a:solidFill>
                  <a:srgbClr val="6CFFC8"/>
                </a:solidFill>
                <a:latin typeface="Consolas"/>
              </a:rPr>
              <a:t>GPT-5.5 — STRUCTURED-OUTPUT REGRESSION</a:t>
            </a:r>
            <a:endParaRPr sz="900" b="1" i="0">
              <a:solidFill>
                <a:srgbClr val="6CFFC8"/>
              </a:solidFill>
              <a:latin typeface="Consolas"/>
            </a:endParaRPr>
          </a:p>
        </p:txBody>
      </p:sp>
      <p:sp>
        <p:nvSpPr>
          <p:cNvPr id="17" name="TextBox 16"/>
          <p:cNvSpPr txBox="1"/>
          <p:nvPr/>
        </p:nvSpPr>
        <p:spPr>
          <a:xfrm>
            <a:off x="7726680" y="5678424"/>
            <a:ext cx="3749040" cy="822960"/>
          </a:xfrm>
          <a:prstGeom prst="rect">
            <a:avLst/>
          </a:prstGeom>
          <a:noFill/>
        </p:spPr>
        <p:txBody>
          <a:bodyPr wrap="square" lIns="0" tIns="0" rIns="0" bIns="0" anchor="t">
            <a:spAutoFit/>
          </a:bodyPr>
          <a:lstStyle/>
          <a:p>
            <a:pPr algn="l"/>
            <a:r>
              <a:rPr sz="950" b="0" i="0">
                <a:solidFill>
                  <a:srgbClr val="7878A0"/>
                </a:solidFill>
                <a:latin typeface="Calibri"/>
              </a:rPr>
              <a:t>5/6 tasks hard-failed with "no &lt;final_plan&gt; produced." 30+ well-formed tool calls per task but no JSON terminator. The one task it completed scored mid-pack. This is a format regression vs gpt-5.4, not a reasoning one.</a:t>
            </a:r>
            <a:endParaRPr sz="950" b="0" i="0">
              <a:solidFill>
                <a:srgbClr val="7878A0"/>
              </a:solidFill>
              <a:latin typeface="Calibri"/>
            </a:endParaRPr>
          </a:p>
        </p:txBody>
      </p:sp>
      <p:sp>
        <p:nvSpPr>
          <p:cNvPr id="18" name="TextBox 17"/>
          <p:cNvSpPr txBox="1"/>
          <p:nvPr/>
        </p:nvSpPr>
        <p:spPr>
          <a:xfrm>
            <a:off x="548640" y="5623560"/>
            <a:ext cx="6858000" cy="640080"/>
          </a:xfrm>
          <a:prstGeom prst="rect">
            <a:avLst/>
          </a:prstGeom>
          <a:noFill/>
        </p:spPr>
        <p:txBody>
          <a:bodyPr wrap="square" lIns="0" tIns="0" rIns="0" bIns="0" anchor="t">
            <a:spAutoFit/>
          </a:bodyPr>
          <a:lstStyle/>
          <a:p>
            <a:pPr algn="l"/>
            <a:r>
              <a:rPr sz="900" b="1" i="0">
                <a:solidFill>
                  <a:srgbClr val="6CFFC8"/>
                </a:solidFill>
                <a:latin typeface="Consolas"/>
              </a:rPr>
              <a:t>▲ </a:t>
            </a:r>
            <a:r>
              <a:rPr sz="900" b="0" i="1">
                <a:solidFill>
                  <a:srgbClr val="7878A0"/>
                </a:solidFill>
                <a:latin typeface="Consolas"/>
              </a:rPr>
              <a:t>col max  ·  </a:t>
            </a:r>
            <a:r>
              <a:rPr sz="900" b="1" i="0">
                <a:solidFill>
                  <a:srgbClr val="FF6C8E"/>
                </a:solidFill>
                <a:latin typeface="Consolas"/>
              </a:rPr>
              <a:t>▼ </a:t>
            </a:r>
            <a:r>
              <a:rPr sz="900" b="0" i="1">
                <a:solidFill>
                  <a:srgbClr val="7878A0"/>
                </a:solidFill>
                <a:latin typeface="Consolas"/>
              </a:rPr>
              <a:t>col min  ·  pass = c-passed / 6 NYC tasks  ·  means over c-passed runs only.</a:t>
            </a:r>
            <a:endParaRPr sz="900" b="0" i="1">
              <a:solidFill>
                <a:srgbClr val="7878A0"/>
              </a:solidFill>
              <a:latin typeface="Consolas"/>
            </a:endParaRPr>
          </a:p>
          <a:p>
            <a:pPr algn="l"/>
            <a:r>
              <a:rPr sz="900" b="1" i="0">
                <a:solidFill>
                  <a:srgbClr val="FF6C8E"/>
                </a:solidFill>
                <a:latin typeface="Consolas"/>
              </a:rPr>
              <a:t>†  </a:t>
            </a:r>
            <a:r>
              <a:rPr sz="900" b="0" i="1">
                <a:solidFill>
                  <a:srgbClr val="7878A0"/>
                </a:solidFill>
                <a:latin typeface="Consolas"/>
              </a:rPr>
              <a:t>ran before the 2026-05-27 F2c-dedup fix — those F-scores may be 5–15pt understated where the plan revisits a wrong-info venue.</a:t>
            </a:r>
            <a:endParaRPr sz="900" b="0" i="1">
              <a:solidFill>
                <a:srgbClr val="7878A0"/>
              </a:solidFill>
              <a:latin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D0D12"/>
        </a:solidFill>
        <a:effectLst/>
      </p:bgPr>
    </p:bg>
    <p:spTree>
      <p:nvGrpSpPr>
        <p:cNvPr id="1" name=""/>
        <p:cNvGrpSpPr/>
        <p:nvPr/>
      </p:nvGrpSpPr>
      <p:grpSpPr/>
      <p:sp>
        <p:nvSpPr>
          <p:cNvPr id="2" name="TextBox 1"/>
          <p:cNvSpPr txBox="1"/>
          <p:nvPr/>
        </p:nvSpPr>
        <p:spPr>
          <a:xfrm>
            <a:off x="548640" y="365760"/>
            <a:ext cx="3657600" cy="274320"/>
          </a:xfrm>
          <a:prstGeom prst="rect">
            <a:avLst/>
          </a:prstGeom>
          <a:noFill/>
        </p:spPr>
        <p:txBody>
          <a:bodyPr wrap="square" lIns="0" tIns="0" rIns="0" bIns="0" anchor="t">
            <a:spAutoFit/>
          </a:bodyPr>
          <a:lstStyle/>
          <a:p>
            <a:pPr algn="l"/>
            <a:r>
              <a:rPr sz="1000" b="0" i="0">
                <a:solidFill>
                  <a:srgbClr val="6C8EFF"/>
                </a:solidFill>
                <a:latin typeface="Consolas"/>
              </a:rPr>
              <a:t>—  18  —  FUTURE DIRECTIONS</a:t>
            </a:r>
            <a:endParaRPr sz="1000" b="0" i="0">
              <a:solidFill>
                <a:srgbClr val="6C8EFF"/>
              </a:solidFill>
              <a:latin typeface="Consolas"/>
            </a:endParaRPr>
          </a:p>
        </p:txBody>
      </p:sp>
      <p:sp>
        <p:nvSpPr>
          <p:cNvPr id="3" name="TextBox 2"/>
          <p:cNvSpPr txBox="1"/>
          <p:nvPr/>
        </p:nvSpPr>
        <p:spPr>
          <a:xfrm>
            <a:off x="548640" y="685800"/>
            <a:ext cx="10972800" cy="822960"/>
          </a:xfrm>
          <a:prstGeom prst="rect">
            <a:avLst/>
          </a:prstGeom>
          <a:noFill/>
        </p:spPr>
        <p:txBody>
          <a:bodyPr wrap="square" lIns="0" tIns="0" rIns="0" bIns="0" anchor="t">
            <a:spAutoFit/>
          </a:bodyPr>
          <a:lstStyle/>
          <a:p>
            <a:pPr algn="l"/>
            <a:r>
              <a:rPr sz="3200" b="0" i="0">
                <a:solidFill>
                  <a:srgbClr val="E8E8F0"/>
                </a:solidFill>
                <a:latin typeface="Georgia" panose="02040502050405090303"/>
              </a:rPr>
              <a:t>Where TravelBench Goes Next</a:t>
            </a:r>
            <a:endParaRPr sz="3200" b="0" i="0">
              <a:solidFill>
                <a:srgbClr val="E8E8F0"/>
              </a:solidFill>
              <a:latin typeface="Georgia" panose="02040502050405090303"/>
            </a:endParaRPr>
          </a:p>
        </p:txBody>
      </p:sp>
      <p:sp>
        <p:nvSpPr>
          <p:cNvPr id="4" name="TextBox 3"/>
          <p:cNvSpPr txBox="1"/>
          <p:nvPr/>
        </p:nvSpPr>
        <p:spPr>
          <a:xfrm>
            <a:off x="548640" y="1280160"/>
            <a:ext cx="10972800" cy="457200"/>
          </a:xfrm>
          <a:prstGeom prst="rect">
            <a:avLst/>
          </a:prstGeom>
          <a:noFill/>
        </p:spPr>
        <p:txBody>
          <a:bodyPr wrap="square" lIns="0" tIns="0" rIns="0" bIns="0" anchor="t">
            <a:spAutoFit/>
          </a:bodyPr>
          <a:lstStyle/>
          <a:p>
            <a:pPr algn="l"/>
            <a:r>
              <a:rPr sz="1600" b="1" i="0">
                <a:solidFill>
                  <a:srgbClr val="E8E8F0"/>
                </a:solidFill>
                <a:latin typeface="Calibri"/>
              </a:rPr>
              <a:t>Three directions, each opening a different research problem</a:t>
            </a:r>
            <a:endParaRPr sz="1600" b="1" i="0">
              <a:solidFill>
                <a:srgbClr val="E8E8F0"/>
              </a:solidFill>
              <a:latin typeface="Calibri"/>
            </a:endParaRPr>
          </a:p>
        </p:txBody>
      </p:sp>
      <p:sp>
        <p:nvSpPr>
          <p:cNvPr id="5" name="Rounded Rectangle 4"/>
          <p:cNvSpPr/>
          <p:nvPr/>
        </p:nvSpPr>
        <p:spPr>
          <a:xfrm>
            <a:off x="548640" y="1828800"/>
            <a:ext cx="11064240" cy="1554480"/>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93392"/>
            <a:ext cx="1280160" cy="292608"/>
          </a:xfrm>
          <a:prstGeom prst="roundRect">
            <a:avLst>
              <a:gd name="adj" fmla="val 6000"/>
            </a:avLst>
          </a:prstGeom>
          <a:solidFill>
            <a:srgbClr val="13131A"/>
          </a:solidFill>
          <a:ln w="9525">
            <a:solidFill>
              <a:srgbClr val="6C8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39112"/>
            <a:ext cx="1280160" cy="228600"/>
          </a:xfrm>
          <a:prstGeom prst="rect">
            <a:avLst/>
          </a:prstGeom>
          <a:noFill/>
        </p:spPr>
        <p:txBody>
          <a:bodyPr wrap="square" lIns="0" tIns="0" rIns="0" bIns="0" anchor="t">
            <a:spAutoFit/>
          </a:bodyPr>
          <a:lstStyle/>
          <a:p>
            <a:pPr algn="ctr"/>
            <a:r>
              <a:rPr sz="900" b="1" i="0">
                <a:solidFill>
                  <a:srgbClr val="6C8EFF"/>
                </a:solidFill>
                <a:latin typeface="Consolas"/>
              </a:rPr>
              <a:t>DIRECTION 1</a:t>
            </a:r>
            <a:endParaRPr sz="900" b="1" i="0">
              <a:solidFill>
                <a:srgbClr val="6C8EFF"/>
              </a:solidFill>
              <a:latin typeface="Consolas"/>
            </a:endParaRPr>
          </a:p>
        </p:txBody>
      </p:sp>
      <p:sp>
        <p:nvSpPr>
          <p:cNvPr id="8" name="TextBox 7"/>
          <p:cNvSpPr txBox="1"/>
          <p:nvPr/>
        </p:nvSpPr>
        <p:spPr>
          <a:xfrm>
            <a:off x="2148840" y="1993392"/>
            <a:ext cx="9418320" cy="292608"/>
          </a:xfrm>
          <a:prstGeom prst="rect">
            <a:avLst/>
          </a:prstGeom>
          <a:noFill/>
        </p:spPr>
        <p:txBody>
          <a:bodyPr wrap="square" lIns="0" tIns="0" rIns="0" bIns="0" anchor="t">
            <a:spAutoFit/>
          </a:bodyPr>
          <a:lstStyle/>
          <a:p>
            <a:pPr algn="l"/>
            <a:r>
              <a:rPr sz="1400" b="1" i="0">
                <a:solidFill>
                  <a:srgbClr val="E8E8F0"/>
                </a:solidFill>
                <a:latin typeface="Calibri"/>
              </a:rPr>
              <a:t>Long-horizon  ·  workflow agency</a:t>
            </a:r>
            <a:endParaRPr sz="1400" b="1" i="0">
              <a:solidFill>
                <a:srgbClr val="E8E8F0"/>
              </a:solidFill>
              <a:latin typeface="Calibri"/>
            </a:endParaRPr>
          </a:p>
        </p:txBody>
      </p:sp>
      <p:sp>
        <p:nvSpPr>
          <p:cNvPr id="9" name="TextBox 8"/>
          <p:cNvSpPr txBox="1"/>
          <p:nvPr/>
        </p:nvSpPr>
        <p:spPr>
          <a:xfrm>
            <a:off x="2148840" y="2331720"/>
            <a:ext cx="9418320" cy="713232"/>
          </a:xfrm>
          <a:prstGeom prst="rect">
            <a:avLst/>
          </a:prstGeom>
          <a:noFill/>
        </p:spPr>
        <p:txBody>
          <a:bodyPr wrap="square" lIns="0" tIns="0" rIns="0" bIns="0" anchor="t">
            <a:spAutoFit/>
          </a:bodyPr>
          <a:lstStyle/>
          <a:p>
            <a:pPr algn="l"/>
            <a:r>
              <a:rPr sz="1000" b="0" i="0">
                <a:solidFill>
                  <a:srgbClr val="7878A0"/>
                </a:solidFill>
                <a:latin typeface="Calibri"/>
              </a:rPr>
              <a:t>Test the agent's ability to build, maintain, and refine its own workflow across many tasks. Does it remember which sources it learned to trust? Does it save useful intermediate results — a venue's verified hours, a district's wheelchair patterns — and reach for them later? The instinct to preserve useful resources is the metric, not raw per-task accuracy.</a:t>
            </a:r>
            <a:endParaRPr sz="1000" b="0" i="0">
              <a:solidFill>
                <a:srgbClr val="7878A0"/>
              </a:solidFill>
              <a:latin typeface="Calibri"/>
            </a:endParaRPr>
          </a:p>
        </p:txBody>
      </p:sp>
      <p:sp>
        <p:nvSpPr>
          <p:cNvPr id="10" name="TextBox 9"/>
          <p:cNvSpPr txBox="1"/>
          <p:nvPr/>
        </p:nvSpPr>
        <p:spPr>
          <a:xfrm>
            <a:off x="2148840" y="3090672"/>
            <a:ext cx="9418320" cy="274320"/>
          </a:xfrm>
          <a:prstGeom prst="rect">
            <a:avLst/>
          </a:prstGeom>
          <a:noFill/>
        </p:spPr>
        <p:txBody>
          <a:bodyPr wrap="square" lIns="0" tIns="0" rIns="0" bIns="0" anchor="t">
            <a:spAutoFit/>
          </a:bodyPr>
          <a:lstStyle/>
          <a:p>
            <a:pPr algn="l"/>
            <a:r>
              <a:rPr sz="900" b="0" i="0">
                <a:solidFill>
                  <a:srgbClr val="6C8EFF"/>
                </a:solidFill>
                <a:latin typeface="Consolas"/>
              </a:rPr>
              <a:t>Tests:  workflow construction  ·  memory hygiene  ·  resource maintenance</a:t>
            </a:r>
            <a:endParaRPr sz="900" b="0" i="0">
              <a:solidFill>
                <a:srgbClr val="6C8EFF"/>
              </a:solidFill>
              <a:latin typeface="Consolas"/>
            </a:endParaRPr>
          </a:p>
        </p:txBody>
      </p:sp>
      <p:sp>
        <p:nvSpPr>
          <p:cNvPr id="11" name="Rounded Rectangle 10"/>
          <p:cNvSpPr/>
          <p:nvPr/>
        </p:nvSpPr>
        <p:spPr>
          <a:xfrm>
            <a:off x="548640" y="3547872"/>
            <a:ext cx="11064240" cy="1554480"/>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3712464"/>
            <a:ext cx="1280160" cy="292608"/>
          </a:xfrm>
          <a:prstGeom prst="roundRect">
            <a:avLst>
              <a:gd name="adj" fmla="val 6000"/>
            </a:avLst>
          </a:prstGeom>
          <a:solidFill>
            <a:srgbClr val="13131A"/>
          </a:solidFill>
          <a:ln w="9525">
            <a:solidFill>
              <a:srgbClr val="6CF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758184"/>
            <a:ext cx="1280160" cy="228600"/>
          </a:xfrm>
          <a:prstGeom prst="rect">
            <a:avLst/>
          </a:prstGeom>
          <a:noFill/>
        </p:spPr>
        <p:txBody>
          <a:bodyPr wrap="square" lIns="0" tIns="0" rIns="0" bIns="0" anchor="t">
            <a:spAutoFit/>
          </a:bodyPr>
          <a:lstStyle/>
          <a:p>
            <a:pPr algn="ctr"/>
            <a:r>
              <a:rPr sz="900" b="1" i="0">
                <a:solidFill>
                  <a:srgbClr val="6CFFC8"/>
                </a:solidFill>
                <a:latin typeface="Consolas"/>
              </a:rPr>
              <a:t>DIRECTION 2</a:t>
            </a:r>
            <a:endParaRPr sz="900" b="1" i="0">
              <a:solidFill>
                <a:srgbClr val="6CFFC8"/>
              </a:solidFill>
              <a:latin typeface="Consolas"/>
            </a:endParaRPr>
          </a:p>
        </p:txBody>
      </p:sp>
      <p:sp>
        <p:nvSpPr>
          <p:cNvPr id="14" name="TextBox 13"/>
          <p:cNvSpPr txBox="1"/>
          <p:nvPr/>
        </p:nvSpPr>
        <p:spPr>
          <a:xfrm>
            <a:off x="2148840" y="3712464"/>
            <a:ext cx="9418320" cy="215265"/>
          </a:xfrm>
          <a:prstGeom prst="rect">
            <a:avLst/>
          </a:prstGeom>
          <a:noFill/>
        </p:spPr>
        <p:txBody>
          <a:bodyPr wrap="square" lIns="0" tIns="0" rIns="0" bIns="0" anchor="t">
            <a:spAutoFit/>
          </a:bodyPr>
          <a:lstStyle/>
          <a:p>
            <a:pPr algn="l"/>
            <a:r>
              <a:rPr sz="1400" b="1" i="0">
                <a:solidFill>
                  <a:srgbClr val="E8E8F0"/>
                </a:solidFill>
                <a:latin typeface="Calibri"/>
              </a:rPr>
              <a:t>Real-API transfer </a:t>
            </a:r>
            <a:endParaRPr sz="1400" b="1" i="0">
              <a:solidFill>
                <a:srgbClr val="E8E8F0"/>
              </a:solidFill>
              <a:latin typeface="Calibri"/>
            </a:endParaRPr>
          </a:p>
        </p:txBody>
      </p:sp>
      <p:sp>
        <p:nvSpPr>
          <p:cNvPr id="15" name="TextBox 14"/>
          <p:cNvSpPr txBox="1"/>
          <p:nvPr/>
        </p:nvSpPr>
        <p:spPr>
          <a:xfrm>
            <a:off x="2148840" y="4050792"/>
            <a:ext cx="9418320" cy="713232"/>
          </a:xfrm>
          <a:prstGeom prst="rect">
            <a:avLst/>
          </a:prstGeom>
          <a:noFill/>
        </p:spPr>
        <p:txBody>
          <a:bodyPr wrap="square" lIns="0" tIns="0" rIns="0" bIns="0" anchor="t">
            <a:spAutoFit/>
          </a:bodyPr>
          <a:lstStyle/>
          <a:p>
            <a:pPr algn="l"/>
            <a:r>
              <a:rPr sz="1000" b="0" i="0">
                <a:solidFill>
                  <a:srgbClr val="7878A0"/>
                </a:solidFill>
                <a:latin typeface="Calibri"/>
              </a:rPr>
              <a:t>Same methodology, real web/API environment (Google Places, Yelp public, Foursquare, OpenStreetMap). Open problem: how do we obtain ground truth in a live setting? Three paths — (i) cross-source agreement majority vote; (ii) curated authoritative source like municipal open data; (iii) human-in-the-loop verification on a subset, then propagated trust.</a:t>
            </a:r>
            <a:endParaRPr sz="1000" b="0" i="0">
              <a:solidFill>
                <a:srgbClr val="7878A0"/>
              </a:solidFill>
              <a:latin typeface="Calibri"/>
            </a:endParaRPr>
          </a:p>
        </p:txBody>
      </p:sp>
      <p:sp>
        <p:nvSpPr>
          <p:cNvPr id="16" name="TextBox 15"/>
          <p:cNvSpPr txBox="1"/>
          <p:nvPr/>
        </p:nvSpPr>
        <p:spPr>
          <a:xfrm>
            <a:off x="2148840" y="4809744"/>
            <a:ext cx="9418320" cy="274320"/>
          </a:xfrm>
          <a:prstGeom prst="rect">
            <a:avLst/>
          </a:prstGeom>
          <a:noFill/>
        </p:spPr>
        <p:txBody>
          <a:bodyPr wrap="square" lIns="0" tIns="0" rIns="0" bIns="0" anchor="t">
            <a:spAutoFit/>
          </a:bodyPr>
          <a:lstStyle/>
          <a:p>
            <a:pPr algn="l"/>
            <a:r>
              <a:rPr sz="900" b="0" i="0">
                <a:solidFill>
                  <a:srgbClr val="6CFFC8"/>
                </a:solidFill>
                <a:latin typeface="Consolas"/>
              </a:rPr>
              <a:t>Open question:  ground-truth acquisition in a live environment is the hard part, not the planning</a:t>
            </a:r>
            <a:endParaRPr sz="900" b="0" i="0">
              <a:solidFill>
                <a:srgbClr val="6CFFC8"/>
              </a:solidFill>
              <a:latin typeface="Consolas"/>
            </a:endParaRPr>
          </a:p>
        </p:txBody>
      </p:sp>
      <p:sp>
        <p:nvSpPr>
          <p:cNvPr id="17" name="Rounded Rectangle 16"/>
          <p:cNvSpPr/>
          <p:nvPr/>
        </p:nvSpPr>
        <p:spPr>
          <a:xfrm>
            <a:off x="548640" y="5266944"/>
            <a:ext cx="11064240" cy="1554480"/>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431536"/>
            <a:ext cx="1280160" cy="292608"/>
          </a:xfrm>
          <a:prstGeom prst="roundRect">
            <a:avLst>
              <a:gd name="adj" fmla="val 6000"/>
            </a:avLst>
          </a:prstGeom>
          <a:solidFill>
            <a:srgbClr val="13131A"/>
          </a:solidFill>
          <a:ln w="9525">
            <a:solidFill>
              <a:srgbClr val="FFA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477256"/>
            <a:ext cx="1280160" cy="228600"/>
          </a:xfrm>
          <a:prstGeom prst="rect">
            <a:avLst/>
          </a:prstGeom>
          <a:noFill/>
        </p:spPr>
        <p:txBody>
          <a:bodyPr wrap="square" lIns="0" tIns="0" rIns="0" bIns="0" anchor="t">
            <a:spAutoFit/>
          </a:bodyPr>
          <a:lstStyle/>
          <a:p>
            <a:pPr algn="ctr"/>
            <a:r>
              <a:rPr sz="900" b="1" i="0">
                <a:solidFill>
                  <a:srgbClr val="FFA84A"/>
                </a:solidFill>
                <a:latin typeface="Consolas"/>
              </a:rPr>
              <a:t>DIRECTION 3</a:t>
            </a:r>
            <a:endParaRPr sz="900" b="1" i="0">
              <a:solidFill>
                <a:srgbClr val="FFA84A"/>
              </a:solidFill>
              <a:latin typeface="Consolas"/>
            </a:endParaRPr>
          </a:p>
        </p:txBody>
      </p:sp>
      <p:sp>
        <p:nvSpPr>
          <p:cNvPr id="20" name="TextBox 19"/>
          <p:cNvSpPr txBox="1"/>
          <p:nvPr/>
        </p:nvSpPr>
        <p:spPr>
          <a:xfrm>
            <a:off x="2148840" y="5431536"/>
            <a:ext cx="9418320" cy="292608"/>
          </a:xfrm>
          <a:prstGeom prst="rect">
            <a:avLst/>
          </a:prstGeom>
          <a:noFill/>
        </p:spPr>
        <p:txBody>
          <a:bodyPr wrap="square" lIns="0" tIns="0" rIns="0" bIns="0" anchor="t">
            <a:spAutoFit/>
          </a:bodyPr>
          <a:lstStyle/>
          <a:p>
            <a:pPr algn="l"/>
            <a:r>
              <a:rPr sz="1400" b="1" i="0">
                <a:solidFill>
                  <a:srgbClr val="E8E8F0"/>
                </a:solidFill>
                <a:latin typeface="Calibri"/>
              </a:rPr>
              <a:t>Generalize beyond travel</a:t>
            </a:r>
            <a:endParaRPr sz="1400" b="1" i="0">
              <a:solidFill>
                <a:srgbClr val="E8E8F0"/>
              </a:solidFill>
              <a:latin typeface="Calibri"/>
            </a:endParaRPr>
          </a:p>
        </p:txBody>
      </p:sp>
      <p:sp>
        <p:nvSpPr>
          <p:cNvPr id="21" name="TextBox 20"/>
          <p:cNvSpPr txBox="1"/>
          <p:nvPr/>
        </p:nvSpPr>
        <p:spPr>
          <a:xfrm>
            <a:off x="2148840" y="5769864"/>
            <a:ext cx="9418320" cy="713232"/>
          </a:xfrm>
          <a:prstGeom prst="rect">
            <a:avLst/>
          </a:prstGeom>
          <a:noFill/>
        </p:spPr>
        <p:txBody>
          <a:bodyPr wrap="square" lIns="0" tIns="0" rIns="0" bIns="0" anchor="t">
            <a:spAutoFit/>
          </a:bodyPr>
          <a:lstStyle/>
          <a:p>
            <a:pPr algn="l"/>
            <a:r>
              <a:rPr sz="1000" b="0" i="0">
                <a:solidFill>
                  <a:srgbClr val="7878A0"/>
                </a:solidFill>
                <a:latin typeface="Calibri"/>
              </a:rPr>
              <a:t>Same mechanism — hidden ground truth + faulty source corpus + structured constraint engine + multi-tier scoring — applies to any consumer decision under noisy information.  Small: which shampoo, weekly schedule layout.  Medium: which laptop, which doctor.  Large: which school, which job.  The travel domain is a test bed; the framework is a decision-evaluation pattern.</a:t>
            </a:r>
            <a:endParaRPr sz="1000" b="0" i="0">
              <a:solidFill>
                <a:srgbClr val="7878A0"/>
              </a:solidFill>
              <a:latin typeface="Calibri"/>
            </a:endParaRPr>
          </a:p>
        </p:txBody>
      </p:sp>
      <p:sp>
        <p:nvSpPr>
          <p:cNvPr id="22" name="TextBox 21"/>
          <p:cNvSpPr txBox="1"/>
          <p:nvPr/>
        </p:nvSpPr>
        <p:spPr>
          <a:xfrm>
            <a:off x="2148840" y="6528816"/>
            <a:ext cx="9418320" cy="274320"/>
          </a:xfrm>
          <a:prstGeom prst="rect">
            <a:avLst/>
          </a:prstGeom>
          <a:noFill/>
        </p:spPr>
        <p:txBody>
          <a:bodyPr wrap="square" lIns="0" tIns="0" rIns="0" bIns="0" anchor="t">
            <a:spAutoFit/>
          </a:bodyPr>
          <a:lstStyle/>
          <a:p>
            <a:pPr algn="l"/>
            <a:r>
              <a:rPr sz="900" b="0" i="0">
                <a:solidFill>
                  <a:srgbClr val="FFA84A"/>
                </a:solidFill>
                <a:latin typeface="Consolas"/>
              </a:rPr>
              <a:t>TravelBench is one instance of a more general benchmark family</a:t>
            </a:r>
            <a:endParaRPr sz="900" b="0" i="0">
              <a:solidFill>
                <a:srgbClr val="FFA84A"/>
              </a:solidFill>
              <a:latin typeface="Consola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41017</Words>
  <Application>WPS Presentation</Application>
  <PresentationFormat>On-screen Show (4:3)</PresentationFormat>
  <Paragraphs>1687</Paragraphs>
  <Slides>36</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36</vt:i4>
      </vt:variant>
    </vt:vector>
  </HeadingPairs>
  <TitlesOfParts>
    <vt:vector size="55" baseType="lpstr">
      <vt:lpstr>Arial</vt:lpstr>
      <vt:lpstr>SimSun</vt:lpstr>
      <vt:lpstr>Wingdings</vt:lpstr>
      <vt:lpstr>Arial</vt:lpstr>
      <vt:lpstr>Consolas</vt:lpstr>
      <vt:lpstr>Thonburi</vt:lpstr>
      <vt:lpstr>Georgia</vt:lpstr>
      <vt:lpstr>Calibri</vt:lpstr>
      <vt:lpstr>Helvetica Neue</vt:lpstr>
      <vt:lpstr>Microsoft YaHei</vt:lpstr>
      <vt:lpstr>汉仪旗黑</vt:lpstr>
      <vt:lpstr>Arial Unicode MS</vt:lpstr>
      <vt:lpstr>汉仪书宋二KW</vt:lpstr>
      <vt:lpstr>Apple Color Emoji</vt:lpstr>
      <vt:lpstr>MS PGothic</vt:lpstr>
      <vt:lpstr>苹方-简</vt:lpstr>
      <vt:lpstr>宋体-简</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victoriajin</cp:lastModifiedBy>
  <cp:revision>5</cp:revision>
  <dcterms:created xsi:type="dcterms:W3CDTF">2026-06-14T14:01:52Z</dcterms:created>
  <dcterms:modified xsi:type="dcterms:W3CDTF">2026-06-14T14:01:52Z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BB6249C9E51E1FDF2C09276A28ACEF72_42</vt:lpwstr>
  </property>
  <property fmtid="{D5CDD505-2E9C-101B-9397-08002B2CF9AE}" pid="3" name="KSOProductBuildVer">
    <vt:lpwstr>1033-12.1.25897.25897</vt:lpwstr>
  </property>
</Properties>
</file>